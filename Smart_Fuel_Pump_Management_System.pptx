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1" d="100"/>
          <a:sy n="141" d="100"/>
        </p:scale>
        <p:origin x="74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0858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Our project is the Smart Fuel Pump Management System, a Java desktop application built with OOP and Java Swing. Replace the bracketed placeholders (team names, IDs, department, university)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in your own words: the system lets users find pumps, check queues and book fuel; admins can add or remove pumps and read feedback. OOP is used through the classes Pump, Vehicle, Feedback and the abstract class FuelStation. Swing is used for every screen and dialog.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eight groups come directly from the buttons and methods in the code. The User Panel also has Search Pump and Nearest Pump. The Admin Panel also has Price List.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item here appears in our source code. JList, JCheckBox or file handling are NOT used, so we do not claim them. The layouts BorderLayout and GridLayout are also used inside the panels.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 one-sentence definition of each pillar. Then say that in the next four slides we show a real example of each one from our code.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the data (fields) and the methods (getters) live together in class Pump. The word private is what protects the data. In our project the GUI code in class main reads pump data only through getName(), isOpen(), getOil() and so on. Note: Vehicle and Feedback are simple data holders and their fields are not private, so the strongest encapsulation example is the Pump class.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Parent = FuelStation, child = Pump. The keyword extends creates the relationship. Pump receives the rule that it must provide showInfo(). Our main class also inherits from the Swing class JFrame, which gives us a ready-made window. Why useful: we reuse existing code and keep a common structure.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overriding is our main polymorphism example: FuelStation declares showInfo() and Pump gives its own version with @Override. Be honest in Q&amp;A: our code does not create a FuelStation reference pointing to a Pump object, and we do not write our own overloaded methods. We do call the library method JOptionPane.showMessageDialog() with different argument lists, which is overloading in the Java library. Also note showInfo() is defined but not called anywhere in the current code.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FuelStation is an abstract class with one abstract method, showInfo(). It shows WHAT a station must do, not HOW. Our project uses one abstract class and no interfaces. Abstraction also appears in a simple form through helper methods such as findPump() and showTable(), which hide their details from the rest of the code.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summary of the four slides before. Every example is copied from our source file. The last row of chips lists other Java features the code also uses.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Swing is the Java library for desktop windows. These eight components are the ones our code uses directly. We also use JScrollPane, JOptionPane and DefaultTableModel, which were listed on the technologies slide.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flow left to right using Book Fuel as the example. The button is a JButton; addActionListener registers what should happen on a click; the lambda calls bookFuel(); bookFuel() checks the pump and queue and adds a Vehicle to the ArrayList; finally a JOptionPane dialog confirms the booking.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dark panel on the left looks like our real User Dashboard side menu: 11 feature buttons plus Back to Home. In the current code My Bookings shows the booking list, the same table the admin sees under All Bookings. Nearest Pump suggests the first open pump in the selected zone.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seven options match the Admin Dashboard buttons exactly. The price list is fixed text inside priceList(). Rating Summary and All Feedback both show the stored feedback records in a table.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path through our code. Follow one example: open the app, choose User Panel, click Book Fuel, bookFuel() validates the input and adds a Vehicle to the bookings list, then a dialog shows the queue number. All data is stored only in ArrayLists, so it resets when the program closes.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short snippets from our code. The highlighted line is the important one in each. Some lines are shortened with ... to fit the slide.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benefit maps to a real feature in the code. We only list what the project actually does.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honest and student-level. Talk about one or two challenges you really faced, for example connecting buttons to methods or understanding abstract classes.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in four sentences. The numbers on the right come straight from the code: 5 classes, 4 OOP pillars, 11 user + 7 admin buttons, and 3 screens (Home, User, Admin).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invite questions. Likely questions: Which class is abstract? (FuelStation.) Where is encapsulation? (Pump private fields and getters.) How do buttons work? (ActionListener lambdas.) Where is data stored? (ArrayLists in memory.)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png"/><Relationship Id="rId11" Type="http://schemas.openxmlformats.org/officeDocument/2006/relationships/image" Target="../media/image16.png"/><Relationship Id="rId5" Type="http://schemas.openxmlformats.org/officeDocument/2006/relationships/image" Target="../media/image11.png"/><Relationship Id="rId10" Type="http://schemas.openxmlformats.org/officeDocument/2006/relationships/image" Target="../media/image15.png"/><Relationship Id="rId4" Type="http://schemas.openxmlformats.org/officeDocument/2006/relationships/image" Target="../media/image10.png"/><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8.png"/><Relationship Id="rId7"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4.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3.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10" Type="http://schemas.openxmlformats.org/officeDocument/2006/relationships/image" Target="../media/image34.png"/><Relationship Id="rId4" Type="http://schemas.openxmlformats.org/officeDocument/2006/relationships/image" Target="../media/image16.png"/><Relationship Id="rId9"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36.png"/><Relationship Id="rId7"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37.png"/><Relationship Id="rId4" Type="http://schemas.openxmlformats.org/officeDocument/2006/relationships/image" Target="../media/image1.png"/><Relationship Id="rId9"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4846320" y="640080"/>
            <a:ext cx="3840480" cy="3840480"/>
          </a:xfrm>
          <a:prstGeom prst="ellipse">
            <a:avLst/>
          </a:prstGeom>
          <a:solidFill>
            <a:srgbClr val="0B1F3A">
              <a:alpha val="0"/>
            </a:srgbClr>
          </a:solidFill>
          <a:ln w="12700">
            <a:solidFill>
              <a:srgbClr val="22D3EE">
                <a:alpha val="30000"/>
              </a:srgbClr>
            </a:solidFill>
            <a:prstDash val="solid"/>
          </a:ln>
        </p:spPr>
      </p:sp>
      <p:sp>
        <p:nvSpPr>
          <p:cNvPr id="3" name="Shape 1"/>
          <p:cNvSpPr/>
          <p:nvPr/>
        </p:nvSpPr>
        <p:spPr>
          <a:xfrm>
            <a:off x="5257800" y="1051560"/>
            <a:ext cx="3017520" cy="3017520"/>
          </a:xfrm>
          <a:prstGeom prst="ellipse">
            <a:avLst/>
          </a:prstGeom>
          <a:solidFill>
            <a:srgbClr val="12335C"/>
          </a:solidFill>
          <a:ln/>
        </p:spPr>
      </p:sp>
      <p:sp>
        <p:nvSpPr>
          <p:cNvPr id="4" name="Shape 2"/>
          <p:cNvSpPr/>
          <p:nvPr/>
        </p:nvSpPr>
        <p:spPr>
          <a:xfrm>
            <a:off x="5669280" y="1463040"/>
            <a:ext cx="2194560" cy="2194560"/>
          </a:xfrm>
          <a:prstGeom prst="ellipse">
            <a:avLst/>
          </a:prstGeom>
          <a:solidFill>
            <a:srgbClr val="071528"/>
          </a:solidFill>
          <a:ln/>
        </p:spPr>
      </p:sp>
      <p:pic>
        <p:nvPicPr>
          <p:cNvPr id="5" name="Image 0" descr="preencoded.png"/>
          <p:cNvPicPr>
            <a:picLocks noChangeAspect="1"/>
          </p:cNvPicPr>
          <p:nvPr/>
        </p:nvPicPr>
        <p:blipFill>
          <a:blip r:embed="rId3"/>
          <a:stretch>
            <a:fillRect/>
          </a:stretch>
        </p:blipFill>
        <p:spPr>
          <a:xfrm>
            <a:off x="6172200" y="1965960"/>
            <a:ext cx="1188720" cy="1188720"/>
          </a:xfrm>
          <a:prstGeom prst="rect">
            <a:avLst/>
          </a:prstGeom>
        </p:spPr>
      </p:pic>
      <p:sp>
        <p:nvSpPr>
          <p:cNvPr id="6" name="Shape 3"/>
          <p:cNvSpPr/>
          <p:nvPr/>
        </p:nvSpPr>
        <p:spPr>
          <a:xfrm>
            <a:off x="7726680" y="777240"/>
            <a:ext cx="777240" cy="777240"/>
          </a:xfrm>
          <a:prstGeom prst="ellipse">
            <a:avLst/>
          </a:prstGeom>
          <a:solidFill>
            <a:srgbClr val="22D3EE"/>
          </a:solidFill>
          <a:ln/>
        </p:spPr>
      </p:sp>
      <p:pic>
        <p:nvPicPr>
          <p:cNvPr id="7" name="Image 1" descr="preencoded.png"/>
          <p:cNvPicPr>
            <a:picLocks noChangeAspect="1"/>
          </p:cNvPicPr>
          <p:nvPr/>
        </p:nvPicPr>
        <p:blipFill>
          <a:blip r:embed="rId4"/>
          <a:stretch>
            <a:fillRect/>
          </a:stretch>
        </p:blipFill>
        <p:spPr>
          <a:xfrm>
            <a:off x="7901559" y="952119"/>
            <a:ext cx="427482" cy="427482"/>
          </a:xfrm>
          <a:prstGeom prst="rect">
            <a:avLst/>
          </a:prstGeom>
        </p:spPr>
      </p:pic>
      <p:sp>
        <p:nvSpPr>
          <p:cNvPr id="8" name="Shape 4"/>
          <p:cNvSpPr/>
          <p:nvPr/>
        </p:nvSpPr>
        <p:spPr>
          <a:xfrm>
            <a:off x="4892040" y="3520440"/>
            <a:ext cx="685800" cy="685800"/>
          </a:xfrm>
          <a:prstGeom prst="ellipse">
            <a:avLst/>
          </a:prstGeom>
          <a:solidFill>
            <a:srgbClr val="2364B4"/>
          </a:solidFill>
          <a:ln/>
        </p:spPr>
      </p:sp>
      <p:pic>
        <p:nvPicPr>
          <p:cNvPr id="9" name="Image 2" descr="preencoded.png"/>
          <p:cNvPicPr>
            <a:picLocks noChangeAspect="1"/>
          </p:cNvPicPr>
          <p:nvPr/>
        </p:nvPicPr>
        <p:blipFill>
          <a:blip r:embed="rId5"/>
          <a:stretch>
            <a:fillRect/>
          </a:stretch>
        </p:blipFill>
        <p:spPr>
          <a:xfrm>
            <a:off x="5063490" y="3691890"/>
            <a:ext cx="342900" cy="342900"/>
          </a:xfrm>
          <a:prstGeom prst="rect">
            <a:avLst/>
          </a:prstGeom>
        </p:spPr>
      </p:pic>
      <p:sp>
        <p:nvSpPr>
          <p:cNvPr id="10" name="Shape 5"/>
          <p:cNvSpPr/>
          <p:nvPr/>
        </p:nvSpPr>
        <p:spPr>
          <a:xfrm>
            <a:off x="8092440" y="3337560"/>
            <a:ext cx="640080" cy="640080"/>
          </a:xfrm>
          <a:prstGeom prst="ellipse">
            <a:avLst/>
          </a:prstGeom>
          <a:solidFill>
            <a:srgbClr val="12335C"/>
          </a:solidFill>
          <a:ln/>
        </p:spPr>
      </p:sp>
      <p:pic>
        <p:nvPicPr>
          <p:cNvPr id="11" name="Image 3" descr="preencoded.png"/>
          <p:cNvPicPr>
            <a:picLocks noChangeAspect="1"/>
          </p:cNvPicPr>
          <p:nvPr/>
        </p:nvPicPr>
        <p:blipFill>
          <a:blip r:embed="rId6"/>
          <a:stretch>
            <a:fillRect/>
          </a:stretch>
        </p:blipFill>
        <p:spPr>
          <a:xfrm>
            <a:off x="8252460" y="3497580"/>
            <a:ext cx="320040" cy="320040"/>
          </a:xfrm>
          <a:prstGeom prst="rect">
            <a:avLst/>
          </a:prstGeom>
        </p:spPr>
      </p:pic>
      <p:sp>
        <p:nvSpPr>
          <p:cNvPr id="12" name="Text 6"/>
          <p:cNvSpPr txBox="1"/>
          <p:nvPr/>
        </p:nvSpPr>
        <p:spPr>
          <a:xfrm>
            <a:off x="548640" y="2966720"/>
            <a:ext cx="1932093" cy="160020"/>
          </a:xfrm>
          <a:prstGeom prst="rect">
            <a:avLst/>
          </a:prstGeom>
          <a:noFill/>
          <a:ln/>
        </p:spPr>
        <p:txBody>
          <a:bodyPr wrap="square" lIns="0" tIns="0" rIns="0" bIns="0" rtlCol="0" anchor="ctr"/>
          <a:lstStyle/>
          <a:p>
            <a:pPr marL="0" indent="0">
              <a:buNone/>
            </a:pPr>
            <a:r>
              <a:rPr lang="en-US" sz="1200" b="1" kern="0" spc="300" dirty="0">
                <a:solidFill>
                  <a:srgbClr val="22D3EE"/>
                </a:solidFill>
                <a:latin typeface="Calibri" pitchFamily="34" charset="0"/>
                <a:ea typeface="Calibri" pitchFamily="34" charset="-122"/>
                <a:cs typeface="Calibri" pitchFamily="34" charset="-120"/>
              </a:rPr>
              <a:t>M </a:t>
            </a:r>
            <a:r>
              <a:rPr lang="en-US" sz="1200" b="1" kern="0" spc="300" dirty="0" err="1">
                <a:solidFill>
                  <a:srgbClr val="22D3EE"/>
                </a:solidFill>
                <a:latin typeface="Calibri" pitchFamily="34" charset="0"/>
                <a:ea typeface="Calibri" pitchFamily="34" charset="-122"/>
                <a:cs typeface="Calibri" pitchFamily="34" charset="-120"/>
              </a:rPr>
              <a:t>M</a:t>
            </a:r>
            <a:r>
              <a:rPr lang="en-US" sz="1200" b="1" kern="0" spc="300" dirty="0">
                <a:solidFill>
                  <a:srgbClr val="22D3EE"/>
                </a:solidFill>
                <a:latin typeface="Calibri" pitchFamily="34" charset="0"/>
                <a:ea typeface="Calibri" pitchFamily="34" charset="-122"/>
                <a:cs typeface="Calibri" pitchFamily="34" charset="-120"/>
              </a:rPr>
              <a:t> Samiul </a:t>
            </a:r>
            <a:r>
              <a:rPr lang="en-US" sz="1200" b="1" kern="0" spc="300" dirty="0" err="1">
                <a:solidFill>
                  <a:srgbClr val="22D3EE"/>
                </a:solidFill>
                <a:latin typeface="Calibri" pitchFamily="34" charset="0"/>
                <a:ea typeface="Calibri" pitchFamily="34" charset="-122"/>
                <a:cs typeface="Calibri" pitchFamily="34" charset="-120"/>
              </a:rPr>
              <a:t>haque</a:t>
            </a:r>
            <a:endParaRPr lang="en-US" sz="1200" dirty="0"/>
          </a:p>
        </p:txBody>
      </p:sp>
      <p:sp>
        <p:nvSpPr>
          <p:cNvPr id="13" name="Text 7"/>
          <p:cNvSpPr txBox="1"/>
          <p:nvPr/>
        </p:nvSpPr>
        <p:spPr>
          <a:xfrm>
            <a:off x="548640" y="1188720"/>
            <a:ext cx="4297680" cy="1234440"/>
          </a:xfrm>
          <a:prstGeom prst="rect">
            <a:avLst/>
          </a:prstGeom>
          <a:noFill/>
          <a:ln/>
        </p:spPr>
        <p:txBody>
          <a:bodyPr wrap="square" lIns="0" tIns="0" rIns="0" bIns="0" rtlCol="0" anchor="t"/>
          <a:lstStyle/>
          <a:p>
            <a:pPr marL="0" indent="0">
              <a:buNone/>
            </a:pPr>
            <a:r>
              <a:rPr lang="en-US" sz="3600" b="1" dirty="0">
                <a:solidFill>
                  <a:srgbClr val="FFFFFF"/>
                </a:solidFill>
                <a:latin typeface="Calibri" pitchFamily="34" charset="0"/>
                <a:ea typeface="Calibri" pitchFamily="34" charset="-122"/>
                <a:cs typeface="Calibri" pitchFamily="34" charset="-120"/>
              </a:rPr>
              <a:t>Smart Fuel Pump Management System</a:t>
            </a:r>
            <a:endParaRPr lang="en-US" sz="3600" dirty="0"/>
          </a:p>
        </p:txBody>
      </p:sp>
      <p:sp>
        <p:nvSpPr>
          <p:cNvPr id="14" name="Text 8"/>
          <p:cNvSpPr txBox="1"/>
          <p:nvPr/>
        </p:nvSpPr>
        <p:spPr>
          <a:xfrm>
            <a:off x="548640" y="2560320"/>
            <a:ext cx="4206240" cy="365760"/>
          </a:xfrm>
          <a:prstGeom prst="rect">
            <a:avLst/>
          </a:prstGeom>
          <a:noFill/>
          <a:ln/>
        </p:spPr>
        <p:txBody>
          <a:bodyPr wrap="square" lIns="0" tIns="0" rIns="0" bIns="0" rtlCol="0" anchor="ctr"/>
          <a:lstStyle/>
          <a:p>
            <a:pPr marL="0" indent="0">
              <a:buNone/>
            </a:pPr>
            <a:r>
              <a:rPr lang="en-US" sz="1800" dirty="0">
                <a:solidFill>
                  <a:srgbClr val="22D3EE"/>
                </a:solidFill>
                <a:latin typeface="Calibri" pitchFamily="34" charset="0"/>
                <a:ea typeface="Calibri" pitchFamily="34" charset="-122"/>
                <a:cs typeface="Calibri" pitchFamily="34" charset="-120"/>
              </a:rPr>
              <a:t>Java OOP &amp; Swing GUI Project</a:t>
            </a:r>
            <a:endParaRPr lang="en-US" sz="1800" dirty="0"/>
          </a:p>
        </p:txBody>
      </p:sp>
      <p:sp>
        <p:nvSpPr>
          <p:cNvPr id="15" name="Text 9"/>
          <p:cNvSpPr txBox="1"/>
          <p:nvPr/>
        </p:nvSpPr>
        <p:spPr>
          <a:xfrm>
            <a:off x="548640" y="3246120"/>
            <a:ext cx="4206240" cy="1097280"/>
          </a:xfrm>
          <a:prstGeom prst="rect">
            <a:avLst/>
          </a:prstGeom>
          <a:noFill/>
          <a:ln/>
        </p:spPr>
        <p:txBody>
          <a:bodyPr wrap="square" lIns="0" tIns="0" rIns="0" bIns="0" rtlCol="0" anchor="t"/>
          <a:lstStyle/>
          <a:p>
            <a:pPr marL="0" indent="0">
              <a:spcAft>
                <a:spcPts val="400"/>
              </a:spcAft>
              <a:buNone/>
            </a:pP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6400800" cy="228600"/>
          </a:xfrm>
          <a:prstGeom prst="rect">
            <a:avLst/>
          </a:prstGeom>
          <a:noFill/>
          <a:ln/>
        </p:spPr>
        <p:txBody>
          <a:bodyPr wrap="square" lIns="0" tIns="0" rIns="0" bIns="0" rtlCol="0" anchor="ctr"/>
          <a:lstStyle/>
          <a:p>
            <a:pPr marL="0" indent="0">
              <a:buNone/>
            </a:pPr>
            <a:r>
              <a:rPr lang="en-US" sz="1100" b="1" kern="0" spc="300" dirty="0">
                <a:solidFill>
                  <a:srgbClr val="0E7490"/>
                </a:solidFill>
                <a:latin typeface="Calibri" pitchFamily="34" charset="0"/>
                <a:ea typeface="Calibri" pitchFamily="34" charset="-122"/>
                <a:cs typeface="Calibri" pitchFamily="34" charset="-120"/>
              </a:rPr>
              <a:t>INTRODUCTION</a:t>
            </a:r>
            <a:endParaRPr lang="en-US" sz="1100" dirty="0"/>
          </a:p>
        </p:txBody>
      </p:sp>
      <p:sp>
        <p:nvSpPr>
          <p:cNvPr id="3" name="Text 1"/>
          <p:cNvSpPr txBox="1"/>
          <p:nvPr/>
        </p:nvSpPr>
        <p:spPr>
          <a:xfrm>
            <a:off x="457200" y="502920"/>
            <a:ext cx="7498080" cy="548640"/>
          </a:xfrm>
          <a:prstGeom prst="rect">
            <a:avLst/>
          </a:prstGeom>
          <a:noFill/>
          <a:ln/>
        </p:spPr>
        <p:txBody>
          <a:bodyPr wrap="square" lIns="0" tIns="0" rIns="0" bIns="0" rtlCol="0" anchor="ctr"/>
          <a:lstStyle/>
          <a:p>
            <a:pPr marL="0" indent="0">
              <a:buNone/>
            </a:pPr>
            <a:r>
              <a:rPr lang="en-US" sz="3000" b="1" dirty="0">
                <a:solidFill>
                  <a:srgbClr val="0B1F3A"/>
                </a:solidFill>
                <a:latin typeface="Calibri" pitchFamily="34" charset="0"/>
                <a:ea typeface="Calibri" pitchFamily="34" charset="-122"/>
                <a:cs typeface="Calibri" pitchFamily="34" charset="-120"/>
              </a:rPr>
              <a:t>Project Introduction</a:t>
            </a:r>
            <a:endParaRPr lang="en-US" sz="3000" dirty="0"/>
          </a:p>
        </p:txBody>
      </p:sp>
      <p:sp>
        <p:nvSpPr>
          <p:cNvPr id="4" name="Shape 2"/>
          <p:cNvSpPr/>
          <p:nvPr/>
        </p:nvSpPr>
        <p:spPr>
          <a:xfrm>
            <a:off x="8229600" y="384048"/>
            <a:ext cx="457200" cy="457200"/>
          </a:xfrm>
          <a:prstGeom prst="ellipse">
            <a:avLst/>
          </a:prstGeom>
          <a:solidFill>
            <a:srgbClr val="0B1F3A"/>
          </a:solidFill>
          <a:ln/>
        </p:spPr>
      </p:sp>
      <p:pic>
        <p:nvPicPr>
          <p:cNvPr id="5" name="Image 0" descr="preencoded.png"/>
          <p:cNvPicPr>
            <a:picLocks noChangeAspect="1"/>
          </p:cNvPicPr>
          <p:nvPr/>
        </p:nvPicPr>
        <p:blipFill>
          <a:blip r:embed="rId3"/>
          <a:stretch>
            <a:fillRect/>
          </a:stretch>
        </p:blipFill>
        <p:spPr>
          <a:xfrm>
            <a:off x="8343900" y="498348"/>
            <a:ext cx="228600" cy="228600"/>
          </a:xfrm>
          <a:prstGeom prst="rect">
            <a:avLst/>
          </a:prstGeom>
        </p:spPr>
      </p:pic>
      <p:sp>
        <p:nvSpPr>
          <p:cNvPr id="6" name="Shape 3"/>
          <p:cNvSpPr/>
          <p:nvPr/>
        </p:nvSpPr>
        <p:spPr>
          <a:xfrm>
            <a:off x="457200" y="1234440"/>
            <a:ext cx="2590495" cy="1600200"/>
          </a:xfrm>
          <a:prstGeom prst="roundRect">
            <a:avLst>
              <a:gd name="adj" fmla="val 5714"/>
            </a:avLst>
          </a:prstGeom>
          <a:solidFill>
            <a:srgbClr val="F3F7FB"/>
          </a:solidFill>
          <a:ln/>
          <a:effectLst>
            <a:outerShdw blurRad="76200" dist="25400" dir="5400000" algn="bl" rotWithShape="0">
              <a:srgbClr val="000000">
                <a:alpha val="10000"/>
              </a:srgbClr>
            </a:outerShdw>
          </a:effectLst>
        </p:spPr>
      </p:sp>
      <p:sp>
        <p:nvSpPr>
          <p:cNvPr id="7" name="Shape 4"/>
          <p:cNvSpPr/>
          <p:nvPr/>
        </p:nvSpPr>
        <p:spPr>
          <a:xfrm>
            <a:off x="640080" y="1417320"/>
            <a:ext cx="384048" cy="384048"/>
          </a:xfrm>
          <a:prstGeom prst="ellipse">
            <a:avLst/>
          </a:prstGeom>
          <a:solidFill>
            <a:srgbClr val="0B1F3A"/>
          </a:solidFill>
          <a:ln/>
        </p:spPr>
      </p:sp>
      <p:pic>
        <p:nvPicPr>
          <p:cNvPr id="8" name="Image 1" descr="preencoded.png"/>
          <p:cNvPicPr>
            <a:picLocks noChangeAspect="1"/>
          </p:cNvPicPr>
          <p:nvPr/>
        </p:nvPicPr>
        <p:blipFill>
          <a:blip r:embed="rId4"/>
          <a:stretch>
            <a:fillRect/>
          </a:stretch>
        </p:blipFill>
        <p:spPr>
          <a:xfrm>
            <a:off x="736092" y="1513332"/>
            <a:ext cx="192024" cy="192024"/>
          </a:xfrm>
          <a:prstGeom prst="rect">
            <a:avLst/>
          </a:prstGeom>
        </p:spPr>
      </p:pic>
      <p:sp>
        <p:nvSpPr>
          <p:cNvPr id="9" name="Text 5"/>
          <p:cNvSpPr txBox="1"/>
          <p:nvPr/>
        </p:nvSpPr>
        <p:spPr>
          <a:xfrm>
            <a:off x="1143000" y="1417320"/>
            <a:ext cx="1721815" cy="384048"/>
          </a:xfrm>
          <a:prstGeom prst="rect">
            <a:avLst/>
          </a:prstGeom>
          <a:noFill/>
          <a:ln/>
        </p:spPr>
        <p:txBody>
          <a:bodyPr wrap="square" lIns="0" tIns="0" rIns="0" bIns="0"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What is it?</a:t>
            </a:r>
            <a:endParaRPr lang="en-US" sz="1400" dirty="0"/>
          </a:p>
        </p:txBody>
      </p:sp>
      <p:sp>
        <p:nvSpPr>
          <p:cNvPr id="10" name="Text 6"/>
          <p:cNvSpPr txBox="1"/>
          <p:nvPr/>
        </p:nvSpPr>
        <p:spPr>
          <a:xfrm>
            <a:off x="640080" y="1947672"/>
            <a:ext cx="2224735" cy="822960"/>
          </a:xfrm>
          <a:prstGeom prst="rect">
            <a:avLst/>
          </a:prstGeom>
          <a:noFill/>
          <a:ln/>
        </p:spPr>
        <p:txBody>
          <a:bodyPr wrap="square" lIns="0" tIns="0" rIns="0" bIns="0" rtlCol="0" anchor="t"/>
          <a:lstStyle/>
          <a:p>
            <a:pPr marL="0" indent="0">
              <a:buNone/>
            </a:pPr>
            <a:r>
              <a:rPr lang="en-US" sz="1300" dirty="0">
                <a:solidFill>
                  <a:srgbClr val="0B1F3A"/>
                </a:solidFill>
                <a:latin typeface="Calibri" pitchFamily="34" charset="0"/>
                <a:ea typeface="Calibri" pitchFamily="34" charset="-122"/>
                <a:cs typeface="Calibri" pitchFamily="34" charset="-120"/>
              </a:rPr>
              <a:t>A Java desktop app to manage fuel pumps: users book fuel, admins manage pumps.</a:t>
            </a:r>
            <a:endParaRPr lang="en-US" sz="1300" dirty="0"/>
          </a:p>
        </p:txBody>
      </p:sp>
      <p:sp>
        <p:nvSpPr>
          <p:cNvPr id="11" name="Shape 7"/>
          <p:cNvSpPr/>
          <p:nvPr/>
        </p:nvSpPr>
        <p:spPr>
          <a:xfrm>
            <a:off x="3276295" y="1234440"/>
            <a:ext cx="2590495" cy="1600200"/>
          </a:xfrm>
          <a:prstGeom prst="roundRect">
            <a:avLst>
              <a:gd name="adj" fmla="val 5714"/>
            </a:avLst>
          </a:prstGeom>
          <a:solidFill>
            <a:srgbClr val="F3F7FB"/>
          </a:solidFill>
          <a:ln/>
          <a:effectLst>
            <a:outerShdw blurRad="76200" dist="25400" dir="5400000" algn="bl" rotWithShape="0">
              <a:srgbClr val="000000">
                <a:alpha val="10000"/>
              </a:srgbClr>
            </a:outerShdw>
          </a:effectLst>
        </p:spPr>
      </p:sp>
      <p:sp>
        <p:nvSpPr>
          <p:cNvPr id="12" name="Shape 8"/>
          <p:cNvSpPr/>
          <p:nvPr/>
        </p:nvSpPr>
        <p:spPr>
          <a:xfrm>
            <a:off x="3459175" y="1417320"/>
            <a:ext cx="384048" cy="384048"/>
          </a:xfrm>
          <a:prstGeom prst="ellipse">
            <a:avLst/>
          </a:prstGeom>
          <a:solidFill>
            <a:srgbClr val="0B1F3A"/>
          </a:solidFill>
          <a:ln/>
        </p:spPr>
      </p:sp>
      <p:pic>
        <p:nvPicPr>
          <p:cNvPr id="13" name="Image 2" descr="preencoded.png"/>
          <p:cNvPicPr>
            <a:picLocks noChangeAspect="1"/>
          </p:cNvPicPr>
          <p:nvPr/>
        </p:nvPicPr>
        <p:blipFill>
          <a:blip r:embed="rId5"/>
          <a:stretch>
            <a:fillRect/>
          </a:stretch>
        </p:blipFill>
        <p:spPr>
          <a:xfrm>
            <a:off x="3555187" y="1513332"/>
            <a:ext cx="192024" cy="192024"/>
          </a:xfrm>
          <a:prstGeom prst="rect">
            <a:avLst/>
          </a:prstGeom>
        </p:spPr>
      </p:pic>
      <p:sp>
        <p:nvSpPr>
          <p:cNvPr id="14" name="Text 9"/>
          <p:cNvSpPr txBox="1"/>
          <p:nvPr/>
        </p:nvSpPr>
        <p:spPr>
          <a:xfrm>
            <a:off x="3962095" y="1417320"/>
            <a:ext cx="1721815" cy="384048"/>
          </a:xfrm>
          <a:prstGeom prst="rect">
            <a:avLst/>
          </a:prstGeom>
          <a:noFill/>
          <a:ln/>
        </p:spPr>
        <p:txBody>
          <a:bodyPr wrap="square" lIns="0" tIns="0" rIns="0" bIns="0"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Why we built it</a:t>
            </a:r>
            <a:endParaRPr lang="en-US" sz="1400" dirty="0"/>
          </a:p>
        </p:txBody>
      </p:sp>
      <p:sp>
        <p:nvSpPr>
          <p:cNvPr id="15" name="Text 10"/>
          <p:cNvSpPr txBox="1"/>
          <p:nvPr/>
        </p:nvSpPr>
        <p:spPr>
          <a:xfrm>
            <a:off x="3459175" y="1947672"/>
            <a:ext cx="2224735" cy="822960"/>
          </a:xfrm>
          <a:prstGeom prst="rect">
            <a:avLst/>
          </a:prstGeom>
          <a:noFill/>
          <a:ln/>
        </p:spPr>
        <p:txBody>
          <a:bodyPr wrap="square" lIns="0" tIns="0" rIns="0" bIns="0" rtlCol="0" anchor="t"/>
          <a:lstStyle/>
          <a:p>
            <a:pPr marL="0" indent="0">
              <a:buNone/>
            </a:pPr>
            <a:r>
              <a:rPr lang="en-US" sz="1300" dirty="0">
                <a:solidFill>
                  <a:srgbClr val="0B1F3A"/>
                </a:solidFill>
                <a:latin typeface="Calibri" pitchFamily="34" charset="0"/>
                <a:ea typeface="Calibri" pitchFamily="34" charset="-122"/>
                <a:cs typeface="Calibri" pitchFamily="34" charset="-120"/>
              </a:rPr>
              <a:t>To apply Java OOP concepts in a practical, real-world style system.</a:t>
            </a:r>
            <a:endParaRPr lang="en-US" sz="1300" dirty="0"/>
          </a:p>
        </p:txBody>
      </p:sp>
      <p:sp>
        <p:nvSpPr>
          <p:cNvPr id="16" name="Shape 11"/>
          <p:cNvSpPr/>
          <p:nvPr/>
        </p:nvSpPr>
        <p:spPr>
          <a:xfrm>
            <a:off x="6095390" y="1234440"/>
            <a:ext cx="2590495" cy="1600200"/>
          </a:xfrm>
          <a:prstGeom prst="roundRect">
            <a:avLst>
              <a:gd name="adj" fmla="val 5714"/>
            </a:avLst>
          </a:prstGeom>
          <a:solidFill>
            <a:srgbClr val="F3F7FB"/>
          </a:solidFill>
          <a:ln/>
          <a:effectLst>
            <a:outerShdw blurRad="76200" dist="25400" dir="5400000" algn="bl" rotWithShape="0">
              <a:srgbClr val="000000">
                <a:alpha val="10000"/>
              </a:srgbClr>
            </a:outerShdw>
          </a:effectLst>
        </p:spPr>
      </p:sp>
      <p:sp>
        <p:nvSpPr>
          <p:cNvPr id="17" name="Shape 12"/>
          <p:cNvSpPr/>
          <p:nvPr/>
        </p:nvSpPr>
        <p:spPr>
          <a:xfrm>
            <a:off x="6278270" y="1417320"/>
            <a:ext cx="384048" cy="384048"/>
          </a:xfrm>
          <a:prstGeom prst="ellipse">
            <a:avLst/>
          </a:prstGeom>
          <a:solidFill>
            <a:srgbClr val="0B1F3A"/>
          </a:solidFill>
          <a:ln/>
        </p:spPr>
      </p:sp>
      <p:pic>
        <p:nvPicPr>
          <p:cNvPr id="18" name="Image 3" descr="preencoded.png"/>
          <p:cNvPicPr>
            <a:picLocks noChangeAspect="1"/>
          </p:cNvPicPr>
          <p:nvPr/>
        </p:nvPicPr>
        <p:blipFill>
          <a:blip r:embed="rId6"/>
          <a:stretch>
            <a:fillRect/>
          </a:stretch>
        </p:blipFill>
        <p:spPr>
          <a:xfrm>
            <a:off x="6374282" y="1513332"/>
            <a:ext cx="192024" cy="192024"/>
          </a:xfrm>
          <a:prstGeom prst="rect">
            <a:avLst/>
          </a:prstGeom>
        </p:spPr>
      </p:pic>
      <p:sp>
        <p:nvSpPr>
          <p:cNvPr id="19" name="Text 13"/>
          <p:cNvSpPr txBox="1"/>
          <p:nvPr/>
        </p:nvSpPr>
        <p:spPr>
          <a:xfrm>
            <a:off x="6781190" y="1417320"/>
            <a:ext cx="1721815" cy="384048"/>
          </a:xfrm>
          <a:prstGeom prst="rect">
            <a:avLst/>
          </a:prstGeom>
          <a:noFill/>
          <a:ln/>
        </p:spPr>
        <p:txBody>
          <a:bodyPr wrap="square" lIns="0" tIns="0" rIns="0" bIns="0"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Problem it solves</a:t>
            </a:r>
            <a:endParaRPr lang="en-US" sz="1400" dirty="0"/>
          </a:p>
        </p:txBody>
      </p:sp>
      <p:sp>
        <p:nvSpPr>
          <p:cNvPr id="20" name="Text 14"/>
          <p:cNvSpPr txBox="1"/>
          <p:nvPr/>
        </p:nvSpPr>
        <p:spPr>
          <a:xfrm>
            <a:off x="6278270" y="1947672"/>
            <a:ext cx="2224735" cy="822960"/>
          </a:xfrm>
          <a:prstGeom prst="rect">
            <a:avLst/>
          </a:prstGeom>
          <a:noFill/>
          <a:ln/>
        </p:spPr>
        <p:txBody>
          <a:bodyPr wrap="square" lIns="0" tIns="0" rIns="0" bIns="0" rtlCol="0" anchor="t"/>
          <a:lstStyle/>
          <a:p>
            <a:pPr marL="0" indent="0">
              <a:buNone/>
            </a:pPr>
            <a:r>
              <a:rPr lang="en-US" sz="1300" dirty="0">
                <a:solidFill>
                  <a:srgbClr val="0B1F3A"/>
                </a:solidFill>
                <a:latin typeface="Calibri" pitchFamily="34" charset="0"/>
                <a:ea typeface="Calibri" pitchFamily="34" charset="-122"/>
                <a:cs typeface="Calibri" pitchFamily="34" charset="-120"/>
              </a:rPr>
              <a:t>Find an open pump, check its queue and book fuel from one simple window.</a:t>
            </a:r>
            <a:endParaRPr lang="en-US" sz="1300" dirty="0"/>
          </a:p>
        </p:txBody>
      </p:sp>
      <p:sp>
        <p:nvSpPr>
          <p:cNvPr id="21" name="Shape 15"/>
          <p:cNvSpPr/>
          <p:nvPr/>
        </p:nvSpPr>
        <p:spPr>
          <a:xfrm>
            <a:off x="457200" y="3017520"/>
            <a:ext cx="4000500" cy="1554480"/>
          </a:xfrm>
          <a:prstGeom prst="roundRect">
            <a:avLst>
              <a:gd name="adj" fmla="val 5882"/>
            </a:avLst>
          </a:prstGeom>
          <a:solidFill>
            <a:srgbClr val="F3F7FB"/>
          </a:solidFill>
          <a:ln/>
          <a:effectLst>
            <a:outerShdw blurRad="76200" dist="25400" dir="5400000" algn="bl" rotWithShape="0">
              <a:srgbClr val="000000">
                <a:alpha val="10000"/>
              </a:srgbClr>
            </a:outerShdw>
          </a:effectLst>
        </p:spPr>
      </p:sp>
      <p:sp>
        <p:nvSpPr>
          <p:cNvPr id="22" name="Shape 16"/>
          <p:cNvSpPr/>
          <p:nvPr/>
        </p:nvSpPr>
        <p:spPr>
          <a:xfrm>
            <a:off x="640080" y="3200400"/>
            <a:ext cx="384048" cy="384048"/>
          </a:xfrm>
          <a:prstGeom prst="ellipse">
            <a:avLst/>
          </a:prstGeom>
          <a:solidFill>
            <a:srgbClr val="0B1F3A"/>
          </a:solidFill>
          <a:ln/>
        </p:spPr>
      </p:sp>
      <p:pic>
        <p:nvPicPr>
          <p:cNvPr id="23" name="Image 4" descr="preencoded.png"/>
          <p:cNvPicPr>
            <a:picLocks noChangeAspect="1"/>
          </p:cNvPicPr>
          <p:nvPr/>
        </p:nvPicPr>
        <p:blipFill>
          <a:blip r:embed="rId7"/>
          <a:stretch>
            <a:fillRect/>
          </a:stretch>
        </p:blipFill>
        <p:spPr>
          <a:xfrm>
            <a:off x="736092" y="3296412"/>
            <a:ext cx="192024" cy="192024"/>
          </a:xfrm>
          <a:prstGeom prst="rect">
            <a:avLst/>
          </a:prstGeom>
        </p:spPr>
      </p:pic>
      <p:sp>
        <p:nvSpPr>
          <p:cNvPr id="24" name="Text 17"/>
          <p:cNvSpPr txBox="1"/>
          <p:nvPr/>
        </p:nvSpPr>
        <p:spPr>
          <a:xfrm>
            <a:off x="1143000" y="3200400"/>
            <a:ext cx="3108960" cy="384048"/>
          </a:xfrm>
          <a:prstGeom prst="rect">
            <a:avLst/>
          </a:prstGeom>
          <a:noFill/>
          <a:ln/>
        </p:spPr>
        <p:txBody>
          <a:bodyPr wrap="square" lIns="0" tIns="0" rIns="0" bIns="0"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How Java OOP is used</a:t>
            </a:r>
            <a:endParaRPr lang="en-US" sz="1400" dirty="0"/>
          </a:p>
        </p:txBody>
      </p:sp>
      <p:sp>
        <p:nvSpPr>
          <p:cNvPr id="25" name="Text 18"/>
          <p:cNvSpPr txBox="1"/>
          <p:nvPr/>
        </p:nvSpPr>
        <p:spPr>
          <a:xfrm>
            <a:off x="640080" y="3730752"/>
            <a:ext cx="3630168" cy="777240"/>
          </a:xfrm>
          <a:prstGeom prst="rect">
            <a:avLst/>
          </a:prstGeom>
          <a:noFill/>
          <a:ln/>
        </p:spPr>
        <p:txBody>
          <a:bodyPr wrap="square" lIns="0" tIns="0" rIns="0" bIns="0" rtlCol="0" anchor="t"/>
          <a:lstStyle/>
          <a:p>
            <a:pPr marL="0" indent="0">
              <a:buNone/>
            </a:pPr>
            <a:r>
              <a:rPr lang="en-US" sz="1300" dirty="0">
                <a:solidFill>
                  <a:srgbClr val="0B1F3A"/>
                </a:solidFill>
                <a:latin typeface="Calibri" pitchFamily="34" charset="0"/>
                <a:ea typeface="Calibri" pitchFamily="34" charset="-122"/>
                <a:cs typeface="Calibri" pitchFamily="34" charset="-120"/>
              </a:rPr>
              <a:t>Data is modelled with classes: Pump, Vehicle and Feedback. Pump extends the abstract class FuelStation and keeps its fields private.</a:t>
            </a:r>
            <a:endParaRPr lang="en-US" sz="1300" dirty="0"/>
          </a:p>
        </p:txBody>
      </p:sp>
      <p:sp>
        <p:nvSpPr>
          <p:cNvPr id="26" name="Shape 19"/>
          <p:cNvSpPr/>
          <p:nvPr/>
        </p:nvSpPr>
        <p:spPr>
          <a:xfrm>
            <a:off x="4686300" y="3017520"/>
            <a:ext cx="4000500" cy="1554480"/>
          </a:xfrm>
          <a:prstGeom prst="roundRect">
            <a:avLst>
              <a:gd name="adj" fmla="val 5882"/>
            </a:avLst>
          </a:prstGeom>
          <a:solidFill>
            <a:srgbClr val="F3F7FB"/>
          </a:solidFill>
          <a:ln/>
          <a:effectLst>
            <a:outerShdw blurRad="76200" dist="25400" dir="5400000" algn="bl" rotWithShape="0">
              <a:srgbClr val="000000">
                <a:alpha val="10000"/>
              </a:srgbClr>
            </a:outerShdw>
          </a:effectLst>
        </p:spPr>
      </p:sp>
      <p:sp>
        <p:nvSpPr>
          <p:cNvPr id="27" name="Shape 20"/>
          <p:cNvSpPr/>
          <p:nvPr/>
        </p:nvSpPr>
        <p:spPr>
          <a:xfrm>
            <a:off x="4869180" y="3200400"/>
            <a:ext cx="384048" cy="384048"/>
          </a:xfrm>
          <a:prstGeom prst="ellipse">
            <a:avLst/>
          </a:prstGeom>
          <a:solidFill>
            <a:srgbClr val="0B1F3A"/>
          </a:solidFill>
          <a:ln/>
        </p:spPr>
      </p:sp>
      <p:pic>
        <p:nvPicPr>
          <p:cNvPr id="28" name="Image 5" descr="preencoded.png"/>
          <p:cNvPicPr>
            <a:picLocks noChangeAspect="1"/>
          </p:cNvPicPr>
          <p:nvPr/>
        </p:nvPicPr>
        <p:blipFill>
          <a:blip r:embed="rId8"/>
          <a:stretch>
            <a:fillRect/>
          </a:stretch>
        </p:blipFill>
        <p:spPr>
          <a:xfrm>
            <a:off x="4965192" y="3296412"/>
            <a:ext cx="192024" cy="192024"/>
          </a:xfrm>
          <a:prstGeom prst="rect">
            <a:avLst/>
          </a:prstGeom>
        </p:spPr>
      </p:pic>
      <p:sp>
        <p:nvSpPr>
          <p:cNvPr id="29" name="Text 21"/>
          <p:cNvSpPr txBox="1"/>
          <p:nvPr/>
        </p:nvSpPr>
        <p:spPr>
          <a:xfrm>
            <a:off x="5372100" y="3200400"/>
            <a:ext cx="3108960" cy="384048"/>
          </a:xfrm>
          <a:prstGeom prst="rect">
            <a:avLst/>
          </a:prstGeom>
          <a:noFill/>
          <a:ln/>
        </p:spPr>
        <p:txBody>
          <a:bodyPr wrap="square" lIns="0" tIns="0" rIns="0" bIns="0"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How Java Swing is used</a:t>
            </a:r>
            <a:endParaRPr lang="en-US" sz="1400" dirty="0"/>
          </a:p>
        </p:txBody>
      </p:sp>
      <p:sp>
        <p:nvSpPr>
          <p:cNvPr id="30" name="Text 22"/>
          <p:cNvSpPr txBox="1"/>
          <p:nvPr/>
        </p:nvSpPr>
        <p:spPr>
          <a:xfrm>
            <a:off x="4869180" y="3730752"/>
            <a:ext cx="3630168" cy="777240"/>
          </a:xfrm>
          <a:prstGeom prst="rect">
            <a:avLst/>
          </a:prstGeom>
          <a:noFill/>
          <a:ln/>
        </p:spPr>
        <p:txBody>
          <a:bodyPr wrap="square" lIns="0" tIns="0" rIns="0" bIns="0" rtlCol="0" anchor="t"/>
          <a:lstStyle/>
          <a:p>
            <a:pPr marL="0" indent="0">
              <a:buNone/>
            </a:pPr>
            <a:r>
              <a:rPr lang="en-US" sz="1300" dirty="0">
                <a:solidFill>
                  <a:srgbClr val="0B1F3A"/>
                </a:solidFill>
                <a:latin typeface="Calibri" pitchFamily="34" charset="0"/>
                <a:ea typeface="Calibri" pitchFamily="34" charset="-122"/>
                <a:cs typeface="Calibri" pitchFamily="34" charset="-120"/>
              </a:rPr>
              <a:t>The main class extends JFrame. JPanel, JButton, JLabel and JTable build the Home, User and Admin screens.</a:t>
            </a:r>
            <a:endParaRPr lang="en-US" sz="1300" dirty="0"/>
          </a:p>
        </p:txBody>
      </p:sp>
      <p:sp>
        <p:nvSpPr>
          <p:cNvPr id="31" name="Text 23"/>
          <p:cNvSpPr txBox="1"/>
          <p:nvPr/>
        </p:nvSpPr>
        <p:spPr>
          <a:xfrm>
            <a:off x="457200" y="4773168"/>
            <a:ext cx="4572000" cy="201168"/>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Smart Fuel Pump Management System</a:t>
            </a:r>
            <a:endParaRPr lang="en-US" sz="1000" dirty="0"/>
          </a:p>
        </p:txBody>
      </p:sp>
      <p:sp>
        <p:nvSpPr>
          <p:cNvPr id="32" name="Text 24"/>
          <p:cNvSpPr txBox="1"/>
          <p:nvPr/>
        </p:nvSpPr>
        <p:spPr>
          <a:xfrm>
            <a:off x="7772400" y="4773168"/>
            <a:ext cx="914400" cy="201168"/>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6400800" cy="228600"/>
          </a:xfrm>
          <a:prstGeom prst="rect">
            <a:avLst/>
          </a:prstGeom>
          <a:noFill/>
          <a:ln/>
        </p:spPr>
        <p:txBody>
          <a:bodyPr wrap="square" lIns="0" tIns="0" rIns="0" bIns="0" rtlCol="0" anchor="ctr"/>
          <a:lstStyle/>
          <a:p>
            <a:pPr marL="0" indent="0">
              <a:buNone/>
            </a:pPr>
            <a:r>
              <a:rPr lang="en-US" sz="1100" b="1" kern="0" spc="300" dirty="0">
                <a:solidFill>
                  <a:srgbClr val="0E7490"/>
                </a:solidFill>
                <a:latin typeface="Calibri" pitchFamily="34" charset="0"/>
                <a:ea typeface="Calibri" pitchFamily="34" charset="-122"/>
                <a:cs typeface="Calibri" pitchFamily="34" charset="-120"/>
              </a:rPr>
              <a:t>FEATURES</a:t>
            </a:r>
            <a:endParaRPr lang="en-US" sz="1100" dirty="0"/>
          </a:p>
        </p:txBody>
      </p:sp>
      <p:sp>
        <p:nvSpPr>
          <p:cNvPr id="3" name="Text 1"/>
          <p:cNvSpPr txBox="1"/>
          <p:nvPr/>
        </p:nvSpPr>
        <p:spPr>
          <a:xfrm>
            <a:off x="457200" y="502920"/>
            <a:ext cx="7498080" cy="548640"/>
          </a:xfrm>
          <a:prstGeom prst="rect">
            <a:avLst/>
          </a:prstGeom>
          <a:noFill/>
          <a:ln/>
        </p:spPr>
        <p:txBody>
          <a:bodyPr wrap="square" lIns="0" tIns="0" rIns="0" bIns="0" rtlCol="0" anchor="ctr"/>
          <a:lstStyle/>
          <a:p>
            <a:pPr marL="0" indent="0">
              <a:buNone/>
            </a:pPr>
            <a:r>
              <a:rPr lang="en-US" sz="3000" b="1" dirty="0">
                <a:solidFill>
                  <a:srgbClr val="0B1F3A"/>
                </a:solidFill>
                <a:latin typeface="Calibri" pitchFamily="34" charset="0"/>
                <a:ea typeface="Calibri" pitchFamily="34" charset="-122"/>
                <a:cs typeface="Calibri" pitchFamily="34" charset="-120"/>
              </a:rPr>
              <a:t>Main Features</a:t>
            </a:r>
            <a:endParaRPr lang="en-US" sz="3000" dirty="0"/>
          </a:p>
        </p:txBody>
      </p:sp>
      <p:sp>
        <p:nvSpPr>
          <p:cNvPr id="4" name="Shape 2"/>
          <p:cNvSpPr/>
          <p:nvPr/>
        </p:nvSpPr>
        <p:spPr>
          <a:xfrm>
            <a:off x="8229600" y="384048"/>
            <a:ext cx="457200" cy="457200"/>
          </a:xfrm>
          <a:prstGeom prst="ellipse">
            <a:avLst/>
          </a:prstGeom>
          <a:solidFill>
            <a:srgbClr val="0B1F3A"/>
          </a:solidFill>
          <a:ln/>
        </p:spPr>
      </p:sp>
      <p:pic>
        <p:nvPicPr>
          <p:cNvPr id="5" name="Image 0" descr="preencoded.png"/>
          <p:cNvPicPr>
            <a:picLocks noChangeAspect="1"/>
          </p:cNvPicPr>
          <p:nvPr/>
        </p:nvPicPr>
        <p:blipFill>
          <a:blip r:embed="rId3"/>
          <a:stretch>
            <a:fillRect/>
          </a:stretch>
        </p:blipFill>
        <p:spPr>
          <a:xfrm>
            <a:off x="8343900" y="498348"/>
            <a:ext cx="228600" cy="228600"/>
          </a:xfrm>
          <a:prstGeom prst="rect">
            <a:avLst/>
          </a:prstGeom>
        </p:spPr>
      </p:pic>
      <p:sp>
        <p:nvSpPr>
          <p:cNvPr id="6" name="Shape 3"/>
          <p:cNvSpPr/>
          <p:nvPr/>
        </p:nvSpPr>
        <p:spPr>
          <a:xfrm>
            <a:off x="457200" y="1280160"/>
            <a:ext cx="1885950" cy="1463040"/>
          </a:xfrm>
          <a:prstGeom prst="roundRect">
            <a:avLst>
              <a:gd name="adj" fmla="val 6250"/>
            </a:avLst>
          </a:prstGeom>
          <a:solidFill>
            <a:srgbClr val="F3F7FB"/>
          </a:solidFill>
          <a:ln/>
          <a:effectLst>
            <a:outerShdw blurRad="76200" dist="25400" dir="5400000" algn="bl" rotWithShape="0">
              <a:srgbClr val="000000">
                <a:alpha val="10000"/>
              </a:srgbClr>
            </a:outerShdw>
          </a:effectLst>
        </p:spPr>
      </p:sp>
      <p:sp>
        <p:nvSpPr>
          <p:cNvPr id="7" name="Shape 4"/>
          <p:cNvSpPr/>
          <p:nvPr/>
        </p:nvSpPr>
        <p:spPr>
          <a:xfrm>
            <a:off x="640080" y="1463040"/>
            <a:ext cx="457200" cy="457200"/>
          </a:xfrm>
          <a:prstGeom prst="ellipse">
            <a:avLst/>
          </a:prstGeom>
          <a:solidFill>
            <a:srgbClr val="0B1F3A"/>
          </a:solidFill>
          <a:ln/>
        </p:spPr>
      </p:sp>
      <p:pic>
        <p:nvPicPr>
          <p:cNvPr id="8" name="Image 1" descr="preencoded.png"/>
          <p:cNvPicPr>
            <a:picLocks noChangeAspect="1"/>
          </p:cNvPicPr>
          <p:nvPr/>
        </p:nvPicPr>
        <p:blipFill>
          <a:blip r:embed="rId4"/>
          <a:stretch>
            <a:fillRect/>
          </a:stretch>
        </p:blipFill>
        <p:spPr>
          <a:xfrm>
            <a:off x="754380" y="1577340"/>
            <a:ext cx="228600" cy="228600"/>
          </a:xfrm>
          <a:prstGeom prst="rect">
            <a:avLst/>
          </a:prstGeom>
        </p:spPr>
      </p:pic>
      <p:sp>
        <p:nvSpPr>
          <p:cNvPr id="9" name="Text 5"/>
          <p:cNvSpPr txBox="1"/>
          <p:nvPr/>
        </p:nvSpPr>
        <p:spPr>
          <a:xfrm>
            <a:off x="640080" y="2029968"/>
            <a:ext cx="1611630" cy="256032"/>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User Panel</a:t>
            </a:r>
            <a:endParaRPr lang="en-US" sz="1300" dirty="0"/>
          </a:p>
        </p:txBody>
      </p:sp>
      <p:sp>
        <p:nvSpPr>
          <p:cNvPr id="10" name="Text 6"/>
          <p:cNvSpPr txBox="1"/>
          <p:nvPr/>
        </p:nvSpPr>
        <p:spPr>
          <a:xfrm>
            <a:off x="640080" y="2304288"/>
            <a:ext cx="1565910" cy="384048"/>
          </a:xfrm>
          <a:prstGeom prst="rect">
            <a:avLst/>
          </a:prstGeom>
          <a:noFill/>
          <a:ln/>
        </p:spPr>
        <p:txBody>
          <a:bodyPr wrap="square" lIns="0" tIns="0" rIns="0" bIns="0" rtlCol="0" anchor="t"/>
          <a:lstStyle/>
          <a:p>
            <a:pPr marL="0" indent="0">
              <a:buNone/>
            </a:pPr>
            <a:r>
              <a:rPr lang="en-US" sz="1100" dirty="0">
                <a:solidFill>
                  <a:srgbClr val="5B6B82"/>
                </a:solidFill>
                <a:latin typeface="Calibri" pitchFamily="34" charset="0"/>
                <a:ea typeface="Calibri" pitchFamily="34" charset="-122"/>
                <a:cs typeface="Calibri" pitchFamily="34" charset="-120"/>
              </a:rPr>
              <a:t>11 options: search, book, rate</a:t>
            </a:r>
            <a:endParaRPr lang="en-US" sz="1100" dirty="0"/>
          </a:p>
        </p:txBody>
      </p:sp>
      <p:sp>
        <p:nvSpPr>
          <p:cNvPr id="11" name="Shape 7"/>
          <p:cNvSpPr/>
          <p:nvPr/>
        </p:nvSpPr>
        <p:spPr>
          <a:xfrm>
            <a:off x="2571750" y="1280160"/>
            <a:ext cx="1885950" cy="1463040"/>
          </a:xfrm>
          <a:prstGeom prst="roundRect">
            <a:avLst>
              <a:gd name="adj" fmla="val 6250"/>
            </a:avLst>
          </a:prstGeom>
          <a:solidFill>
            <a:srgbClr val="F3F7FB"/>
          </a:solidFill>
          <a:ln/>
          <a:effectLst>
            <a:outerShdw blurRad="76200" dist="25400" dir="5400000" algn="bl" rotWithShape="0">
              <a:srgbClr val="000000">
                <a:alpha val="10000"/>
              </a:srgbClr>
            </a:outerShdw>
          </a:effectLst>
        </p:spPr>
      </p:sp>
      <p:sp>
        <p:nvSpPr>
          <p:cNvPr id="12" name="Shape 8"/>
          <p:cNvSpPr/>
          <p:nvPr/>
        </p:nvSpPr>
        <p:spPr>
          <a:xfrm>
            <a:off x="2754630" y="1463040"/>
            <a:ext cx="457200" cy="457200"/>
          </a:xfrm>
          <a:prstGeom prst="ellipse">
            <a:avLst/>
          </a:prstGeom>
          <a:solidFill>
            <a:srgbClr val="0B1F3A"/>
          </a:solidFill>
          <a:ln/>
        </p:spPr>
      </p:sp>
      <p:pic>
        <p:nvPicPr>
          <p:cNvPr id="13" name="Image 2" descr="preencoded.png"/>
          <p:cNvPicPr>
            <a:picLocks noChangeAspect="1"/>
          </p:cNvPicPr>
          <p:nvPr/>
        </p:nvPicPr>
        <p:blipFill>
          <a:blip r:embed="rId5"/>
          <a:stretch>
            <a:fillRect/>
          </a:stretch>
        </p:blipFill>
        <p:spPr>
          <a:xfrm>
            <a:off x="2868930" y="1577340"/>
            <a:ext cx="228600" cy="228600"/>
          </a:xfrm>
          <a:prstGeom prst="rect">
            <a:avLst/>
          </a:prstGeom>
        </p:spPr>
      </p:pic>
      <p:sp>
        <p:nvSpPr>
          <p:cNvPr id="14" name="Text 9"/>
          <p:cNvSpPr txBox="1"/>
          <p:nvPr/>
        </p:nvSpPr>
        <p:spPr>
          <a:xfrm>
            <a:off x="2754630" y="2029968"/>
            <a:ext cx="1611630" cy="256032"/>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Admin Panel</a:t>
            </a:r>
            <a:endParaRPr lang="en-US" sz="1300" dirty="0"/>
          </a:p>
        </p:txBody>
      </p:sp>
      <p:sp>
        <p:nvSpPr>
          <p:cNvPr id="15" name="Text 10"/>
          <p:cNvSpPr txBox="1"/>
          <p:nvPr/>
        </p:nvSpPr>
        <p:spPr>
          <a:xfrm>
            <a:off x="2754630" y="2304288"/>
            <a:ext cx="1565910" cy="384048"/>
          </a:xfrm>
          <a:prstGeom prst="rect">
            <a:avLst/>
          </a:prstGeom>
          <a:noFill/>
          <a:ln/>
        </p:spPr>
        <p:txBody>
          <a:bodyPr wrap="square" lIns="0" tIns="0" rIns="0" bIns="0" rtlCol="0" anchor="t"/>
          <a:lstStyle/>
          <a:p>
            <a:pPr marL="0" indent="0">
              <a:buNone/>
            </a:pPr>
            <a:r>
              <a:rPr lang="en-US" sz="1100" dirty="0">
                <a:solidFill>
                  <a:srgbClr val="5B6B82"/>
                </a:solidFill>
                <a:latin typeface="Calibri" pitchFamily="34" charset="0"/>
                <a:ea typeface="Calibri" pitchFamily="34" charset="-122"/>
                <a:cs typeface="Calibri" pitchFamily="34" charset="-120"/>
              </a:rPr>
              <a:t>7 options to manage the system</a:t>
            </a:r>
            <a:endParaRPr lang="en-US" sz="1100" dirty="0"/>
          </a:p>
        </p:txBody>
      </p:sp>
      <p:sp>
        <p:nvSpPr>
          <p:cNvPr id="16" name="Shape 11"/>
          <p:cNvSpPr/>
          <p:nvPr/>
        </p:nvSpPr>
        <p:spPr>
          <a:xfrm>
            <a:off x="4686300" y="1280160"/>
            <a:ext cx="1885950" cy="1463040"/>
          </a:xfrm>
          <a:prstGeom prst="roundRect">
            <a:avLst>
              <a:gd name="adj" fmla="val 6250"/>
            </a:avLst>
          </a:prstGeom>
          <a:solidFill>
            <a:srgbClr val="F3F7FB"/>
          </a:solidFill>
          <a:ln/>
          <a:effectLst>
            <a:outerShdw blurRad="76200" dist="25400" dir="5400000" algn="bl" rotWithShape="0">
              <a:srgbClr val="000000">
                <a:alpha val="10000"/>
              </a:srgbClr>
            </a:outerShdw>
          </a:effectLst>
        </p:spPr>
      </p:sp>
      <p:sp>
        <p:nvSpPr>
          <p:cNvPr id="17" name="Shape 12"/>
          <p:cNvSpPr/>
          <p:nvPr/>
        </p:nvSpPr>
        <p:spPr>
          <a:xfrm>
            <a:off x="4869180" y="1463040"/>
            <a:ext cx="457200" cy="457200"/>
          </a:xfrm>
          <a:prstGeom prst="ellipse">
            <a:avLst/>
          </a:prstGeom>
          <a:solidFill>
            <a:srgbClr val="0B1F3A"/>
          </a:solidFill>
          <a:ln/>
        </p:spPr>
      </p:sp>
      <p:pic>
        <p:nvPicPr>
          <p:cNvPr id="18" name="Image 3" descr="preencoded.png"/>
          <p:cNvPicPr>
            <a:picLocks noChangeAspect="1"/>
          </p:cNvPicPr>
          <p:nvPr/>
        </p:nvPicPr>
        <p:blipFill>
          <a:blip r:embed="rId6"/>
          <a:stretch>
            <a:fillRect/>
          </a:stretch>
        </p:blipFill>
        <p:spPr>
          <a:xfrm>
            <a:off x="4983480" y="1577340"/>
            <a:ext cx="228600" cy="228600"/>
          </a:xfrm>
          <a:prstGeom prst="rect">
            <a:avLst/>
          </a:prstGeom>
        </p:spPr>
      </p:pic>
      <p:sp>
        <p:nvSpPr>
          <p:cNvPr id="19" name="Text 13"/>
          <p:cNvSpPr txBox="1"/>
          <p:nvPr/>
        </p:nvSpPr>
        <p:spPr>
          <a:xfrm>
            <a:off x="4869180" y="2029968"/>
            <a:ext cx="1611630" cy="256032"/>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Pump Status</a:t>
            </a:r>
            <a:endParaRPr lang="en-US" sz="1300" dirty="0"/>
          </a:p>
        </p:txBody>
      </p:sp>
      <p:sp>
        <p:nvSpPr>
          <p:cNvPr id="20" name="Text 14"/>
          <p:cNvSpPr txBox="1"/>
          <p:nvPr/>
        </p:nvSpPr>
        <p:spPr>
          <a:xfrm>
            <a:off x="4869180" y="2304288"/>
            <a:ext cx="1565910" cy="384048"/>
          </a:xfrm>
          <a:prstGeom prst="rect">
            <a:avLst/>
          </a:prstGeom>
          <a:noFill/>
          <a:ln/>
        </p:spPr>
        <p:txBody>
          <a:bodyPr wrap="square" lIns="0" tIns="0" rIns="0" bIns="0" rtlCol="0" anchor="t"/>
          <a:lstStyle/>
          <a:p>
            <a:pPr marL="0" indent="0">
              <a:buNone/>
            </a:pPr>
            <a:r>
              <a:rPr lang="en-US" sz="1100" dirty="0">
                <a:solidFill>
                  <a:srgbClr val="5B6B82"/>
                </a:solidFill>
                <a:latin typeface="Calibri" pitchFamily="34" charset="0"/>
                <a:ea typeface="Calibri" pitchFamily="34" charset="-122"/>
                <a:cs typeface="Calibri" pitchFamily="34" charset="-120"/>
              </a:rPr>
              <a:t>OPEN / CLOSED with Oil, Diesel, Gas stock</a:t>
            </a:r>
            <a:endParaRPr lang="en-US" sz="1100" dirty="0"/>
          </a:p>
        </p:txBody>
      </p:sp>
      <p:sp>
        <p:nvSpPr>
          <p:cNvPr id="21" name="Shape 15"/>
          <p:cNvSpPr/>
          <p:nvPr/>
        </p:nvSpPr>
        <p:spPr>
          <a:xfrm>
            <a:off x="6800850" y="1280160"/>
            <a:ext cx="1885950" cy="1463040"/>
          </a:xfrm>
          <a:prstGeom prst="roundRect">
            <a:avLst>
              <a:gd name="adj" fmla="val 6250"/>
            </a:avLst>
          </a:prstGeom>
          <a:solidFill>
            <a:srgbClr val="F3F7FB"/>
          </a:solidFill>
          <a:ln/>
          <a:effectLst>
            <a:outerShdw blurRad="76200" dist="25400" dir="5400000" algn="bl" rotWithShape="0">
              <a:srgbClr val="000000">
                <a:alpha val="10000"/>
              </a:srgbClr>
            </a:outerShdw>
          </a:effectLst>
        </p:spPr>
      </p:sp>
      <p:sp>
        <p:nvSpPr>
          <p:cNvPr id="22" name="Shape 16"/>
          <p:cNvSpPr/>
          <p:nvPr/>
        </p:nvSpPr>
        <p:spPr>
          <a:xfrm>
            <a:off x="6983730" y="1463040"/>
            <a:ext cx="457200" cy="457200"/>
          </a:xfrm>
          <a:prstGeom prst="ellipse">
            <a:avLst/>
          </a:prstGeom>
          <a:solidFill>
            <a:srgbClr val="0B1F3A"/>
          </a:solidFill>
          <a:ln/>
        </p:spPr>
      </p:sp>
      <p:pic>
        <p:nvPicPr>
          <p:cNvPr id="23" name="Image 4" descr="preencoded.png"/>
          <p:cNvPicPr>
            <a:picLocks noChangeAspect="1"/>
          </p:cNvPicPr>
          <p:nvPr/>
        </p:nvPicPr>
        <p:blipFill>
          <a:blip r:embed="rId7"/>
          <a:stretch>
            <a:fillRect/>
          </a:stretch>
        </p:blipFill>
        <p:spPr>
          <a:xfrm>
            <a:off x="7098030" y="1577340"/>
            <a:ext cx="228600" cy="228600"/>
          </a:xfrm>
          <a:prstGeom prst="rect">
            <a:avLst/>
          </a:prstGeom>
        </p:spPr>
      </p:pic>
      <p:sp>
        <p:nvSpPr>
          <p:cNvPr id="24" name="Text 17"/>
          <p:cNvSpPr txBox="1"/>
          <p:nvPr/>
        </p:nvSpPr>
        <p:spPr>
          <a:xfrm>
            <a:off x="6983730" y="2029968"/>
            <a:ext cx="1611630" cy="256032"/>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Queue Management</a:t>
            </a:r>
            <a:endParaRPr lang="en-US" sz="1300" dirty="0"/>
          </a:p>
        </p:txBody>
      </p:sp>
      <p:sp>
        <p:nvSpPr>
          <p:cNvPr id="25" name="Text 18"/>
          <p:cNvSpPr txBox="1"/>
          <p:nvPr/>
        </p:nvSpPr>
        <p:spPr>
          <a:xfrm>
            <a:off x="6983730" y="2304288"/>
            <a:ext cx="1565910" cy="384048"/>
          </a:xfrm>
          <a:prstGeom prst="rect">
            <a:avLst/>
          </a:prstGeom>
          <a:noFill/>
          <a:ln/>
        </p:spPr>
        <p:txBody>
          <a:bodyPr wrap="square" lIns="0" tIns="0" rIns="0" bIns="0" rtlCol="0" anchor="t"/>
          <a:lstStyle/>
          <a:p>
            <a:pPr marL="0" indent="0">
              <a:buNone/>
            </a:pPr>
            <a:r>
              <a:rPr lang="en-US" sz="1100" dirty="0">
                <a:solidFill>
                  <a:srgbClr val="5B6B82"/>
                </a:solidFill>
                <a:latin typeface="Calibri" pitchFamily="34" charset="0"/>
                <a:ea typeface="Calibri" pitchFamily="34" charset="-122"/>
                <a:cs typeface="Calibri" pitchFamily="34" charset="-120"/>
              </a:rPr>
              <a:t>Queue number, max 15 vehicles</a:t>
            </a:r>
            <a:endParaRPr lang="en-US" sz="1100" dirty="0"/>
          </a:p>
        </p:txBody>
      </p:sp>
      <p:sp>
        <p:nvSpPr>
          <p:cNvPr id="26" name="Shape 19"/>
          <p:cNvSpPr/>
          <p:nvPr/>
        </p:nvSpPr>
        <p:spPr>
          <a:xfrm>
            <a:off x="457200" y="2971800"/>
            <a:ext cx="1885950" cy="1463040"/>
          </a:xfrm>
          <a:prstGeom prst="roundRect">
            <a:avLst>
              <a:gd name="adj" fmla="val 6250"/>
            </a:avLst>
          </a:prstGeom>
          <a:solidFill>
            <a:srgbClr val="F3F7FB"/>
          </a:solidFill>
          <a:ln/>
          <a:effectLst>
            <a:outerShdw blurRad="76200" dist="25400" dir="5400000" algn="bl" rotWithShape="0">
              <a:srgbClr val="000000">
                <a:alpha val="10000"/>
              </a:srgbClr>
            </a:outerShdw>
          </a:effectLst>
        </p:spPr>
      </p:sp>
      <p:sp>
        <p:nvSpPr>
          <p:cNvPr id="27" name="Shape 20"/>
          <p:cNvSpPr/>
          <p:nvPr/>
        </p:nvSpPr>
        <p:spPr>
          <a:xfrm>
            <a:off x="640080" y="3154680"/>
            <a:ext cx="457200" cy="457200"/>
          </a:xfrm>
          <a:prstGeom prst="ellipse">
            <a:avLst/>
          </a:prstGeom>
          <a:solidFill>
            <a:srgbClr val="0B1F3A"/>
          </a:solidFill>
          <a:ln/>
        </p:spPr>
      </p:sp>
      <p:pic>
        <p:nvPicPr>
          <p:cNvPr id="28" name="Image 5" descr="preencoded.png"/>
          <p:cNvPicPr>
            <a:picLocks noChangeAspect="1"/>
          </p:cNvPicPr>
          <p:nvPr/>
        </p:nvPicPr>
        <p:blipFill>
          <a:blip r:embed="rId8"/>
          <a:stretch>
            <a:fillRect/>
          </a:stretch>
        </p:blipFill>
        <p:spPr>
          <a:xfrm>
            <a:off x="754380" y="3268980"/>
            <a:ext cx="228600" cy="228600"/>
          </a:xfrm>
          <a:prstGeom prst="rect">
            <a:avLst/>
          </a:prstGeom>
        </p:spPr>
      </p:pic>
      <p:sp>
        <p:nvSpPr>
          <p:cNvPr id="29" name="Text 21"/>
          <p:cNvSpPr txBox="1"/>
          <p:nvPr/>
        </p:nvSpPr>
        <p:spPr>
          <a:xfrm>
            <a:off x="640080" y="3721608"/>
            <a:ext cx="1611630" cy="256032"/>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Fuel Booking</a:t>
            </a:r>
            <a:endParaRPr lang="en-US" sz="1300" dirty="0"/>
          </a:p>
        </p:txBody>
      </p:sp>
      <p:sp>
        <p:nvSpPr>
          <p:cNvPr id="30" name="Text 22"/>
          <p:cNvSpPr txBox="1"/>
          <p:nvPr/>
        </p:nvSpPr>
        <p:spPr>
          <a:xfrm>
            <a:off x="640080" y="3995928"/>
            <a:ext cx="1565910" cy="384048"/>
          </a:xfrm>
          <a:prstGeom prst="rect">
            <a:avLst/>
          </a:prstGeom>
          <a:noFill/>
          <a:ln/>
        </p:spPr>
        <p:txBody>
          <a:bodyPr wrap="square" lIns="0" tIns="0" rIns="0" bIns="0" rtlCol="0" anchor="t"/>
          <a:lstStyle/>
          <a:p>
            <a:pPr marL="0" indent="0">
              <a:buNone/>
            </a:pPr>
            <a:r>
              <a:rPr lang="en-US" sz="1100" dirty="0">
                <a:solidFill>
                  <a:srgbClr val="5B6B82"/>
                </a:solidFill>
                <a:latin typeface="Calibri" pitchFamily="34" charset="0"/>
                <a:ea typeface="Calibri" pitchFamily="34" charset="-122"/>
                <a:cs typeface="Calibri" pitchFamily="34" charset="-120"/>
              </a:rPr>
              <a:t>Book, view and cancel bookings</a:t>
            </a:r>
            <a:endParaRPr lang="en-US" sz="1100" dirty="0"/>
          </a:p>
        </p:txBody>
      </p:sp>
      <p:sp>
        <p:nvSpPr>
          <p:cNvPr id="31" name="Shape 23"/>
          <p:cNvSpPr/>
          <p:nvPr/>
        </p:nvSpPr>
        <p:spPr>
          <a:xfrm>
            <a:off x="2571750" y="2971800"/>
            <a:ext cx="1885950" cy="1463040"/>
          </a:xfrm>
          <a:prstGeom prst="roundRect">
            <a:avLst>
              <a:gd name="adj" fmla="val 6250"/>
            </a:avLst>
          </a:prstGeom>
          <a:solidFill>
            <a:srgbClr val="F3F7FB"/>
          </a:solidFill>
          <a:ln/>
          <a:effectLst>
            <a:outerShdw blurRad="76200" dist="25400" dir="5400000" algn="bl" rotWithShape="0">
              <a:srgbClr val="000000">
                <a:alpha val="10000"/>
              </a:srgbClr>
            </a:outerShdw>
          </a:effectLst>
        </p:spPr>
      </p:sp>
      <p:sp>
        <p:nvSpPr>
          <p:cNvPr id="32" name="Shape 24"/>
          <p:cNvSpPr/>
          <p:nvPr/>
        </p:nvSpPr>
        <p:spPr>
          <a:xfrm>
            <a:off x="2754630" y="3154680"/>
            <a:ext cx="457200" cy="457200"/>
          </a:xfrm>
          <a:prstGeom prst="ellipse">
            <a:avLst/>
          </a:prstGeom>
          <a:solidFill>
            <a:srgbClr val="0B1F3A"/>
          </a:solidFill>
          <a:ln/>
        </p:spPr>
      </p:sp>
      <p:pic>
        <p:nvPicPr>
          <p:cNvPr id="33" name="Image 6" descr="preencoded.png"/>
          <p:cNvPicPr>
            <a:picLocks noChangeAspect="1"/>
          </p:cNvPicPr>
          <p:nvPr/>
        </p:nvPicPr>
        <p:blipFill>
          <a:blip r:embed="rId9"/>
          <a:stretch>
            <a:fillRect/>
          </a:stretch>
        </p:blipFill>
        <p:spPr>
          <a:xfrm>
            <a:off x="2868930" y="3268980"/>
            <a:ext cx="228600" cy="228600"/>
          </a:xfrm>
          <a:prstGeom prst="rect">
            <a:avLst/>
          </a:prstGeom>
        </p:spPr>
      </p:pic>
      <p:sp>
        <p:nvSpPr>
          <p:cNvPr id="34" name="Text 25"/>
          <p:cNvSpPr txBox="1"/>
          <p:nvPr/>
        </p:nvSpPr>
        <p:spPr>
          <a:xfrm>
            <a:off x="2754630" y="3721608"/>
            <a:ext cx="1611630" cy="256032"/>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Sales &amp; Prices</a:t>
            </a:r>
            <a:endParaRPr lang="en-US" sz="1300" dirty="0"/>
          </a:p>
        </p:txBody>
      </p:sp>
      <p:sp>
        <p:nvSpPr>
          <p:cNvPr id="35" name="Text 26"/>
          <p:cNvSpPr txBox="1"/>
          <p:nvPr/>
        </p:nvSpPr>
        <p:spPr>
          <a:xfrm>
            <a:off x="2754630" y="3995928"/>
            <a:ext cx="1565910" cy="384048"/>
          </a:xfrm>
          <a:prstGeom prst="rect">
            <a:avLst/>
          </a:prstGeom>
          <a:noFill/>
          <a:ln/>
        </p:spPr>
        <p:txBody>
          <a:bodyPr wrap="square" lIns="0" tIns="0" rIns="0" bIns="0" rtlCol="0" anchor="t"/>
          <a:lstStyle/>
          <a:p>
            <a:pPr marL="0" indent="0">
              <a:buNone/>
            </a:pPr>
            <a:r>
              <a:rPr lang="en-US" sz="1100" dirty="0">
                <a:solidFill>
                  <a:srgbClr val="5B6B82"/>
                </a:solidFill>
                <a:latin typeface="Calibri" pitchFamily="34" charset="0"/>
                <a:ea typeface="Calibri" pitchFamily="34" charset="-122"/>
                <a:cs typeface="Calibri" pitchFamily="34" charset="-120"/>
              </a:rPr>
              <a:t>Last 5 sales and fuel price list</a:t>
            </a:r>
            <a:endParaRPr lang="en-US" sz="1100" dirty="0"/>
          </a:p>
        </p:txBody>
      </p:sp>
      <p:sp>
        <p:nvSpPr>
          <p:cNvPr id="36" name="Shape 27"/>
          <p:cNvSpPr/>
          <p:nvPr/>
        </p:nvSpPr>
        <p:spPr>
          <a:xfrm>
            <a:off x="4686300" y="2971800"/>
            <a:ext cx="1885950" cy="1463040"/>
          </a:xfrm>
          <a:prstGeom prst="roundRect">
            <a:avLst>
              <a:gd name="adj" fmla="val 6250"/>
            </a:avLst>
          </a:prstGeom>
          <a:solidFill>
            <a:srgbClr val="F3F7FB"/>
          </a:solidFill>
          <a:ln/>
          <a:effectLst>
            <a:outerShdw blurRad="76200" dist="25400" dir="5400000" algn="bl" rotWithShape="0">
              <a:srgbClr val="000000">
                <a:alpha val="10000"/>
              </a:srgbClr>
            </a:outerShdw>
          </a:effectLst>
        </p:spPr>
      </p:sp>
      <p:sp>
        <p:nvSpPr>
          <p:cNvPr id="37" name="Shape 28"/>
          <p:cNvSpPr/>
          <p:nvPr/>
        </p:nvSpPr>
        <p:spPr>
          <a:xfrm>
            <a:off x="4869180" y="3154680"/>
            <a:ext cx="457200" cy="457200"/>
          </a:xfrm>
          <a:prstGeom prst="ellipse">
            <a:avLst/>
          </a:prstGeom>
          <a:solidFill>
            <a:srgbClr val="0B1F3A"/>
          </a:solidFill>
          <a:ln/>
        </p:spPr>
      </p:sp>
      <p:pic>
        <p:nvPicPr>
          <p:cNvPr id="38" name="Image 7" descr="preencoded.png"/>
          <p:cNvPicPr>
            <a:picLocks noChangeAspect="1"/>
          </p:cNvPicPr>
          <p:nvPr/>
        </p:nvPicPr>
        <p:blipFill>
          <a:blip r:embed="rId10"/>
          <a:stretch>
            <a:fillRect/>
          </a:stretch>
        </p:blipFill>
        <p:spPr>
          <a:xfrm>
            <a:off x="4983480" y="3268980"/>
            <a:ext cx="228600" cy="228600"/>
          </a:xfrm>
          <a:prstGeom prst="rect">
            <a:avLst/>
          </a:prstGeom>
        </p:spPr>
      </p:pic>
      <p:sp>
        <p:nvSpPr>
          <p:cNvPr id="39" name="Text 29"/>
          <p:cNvSpPr txBox="1"/>
          <p:nvPr/>
        </p:nvSpPr>
        <p:spPr>
          <a:xfrm>
            <a:off x="4869180" y="3721608"/>
            <a:ext cx="1611630" cy="256032"/>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Rating &amp; Feedback</a:t>
            </a:r>
            <a:endParaRPr lang="en-US" sz="1300" dirty="0"/>
          </a:p>
        </p:txBody>
      </p:sp>
      <p:sp>
        <p:nvSpPr>
          <p:cNvPr id="40" name="Text 30"/>
          <p:cNvSpPr txBox="1"/>
          <p:nvPr/>
        </p:nvSpPr>
        <p:spPr>
          <a:xfrm>
            <a:off x="4869180" y="3995928"/>
            <a:ext cx="1565910" cy="384048"/>
          </a:xfrm>
          <a:prstGeom prst="rect">
            <a:avLst/>
          </a:prstGeom>
          <a:noFill/>
          <a:ln/>
        </p:spPr>
        <p:txBody>
          <a:bodyPr wrap="square" lIns="0" tIns="0" rIns="0" bIns="0" rtlCol="0" anchor="t"/>
          <a:lstStyle/>
          <a:p>
            <a:pPr marL="0" indent="0">
              <a:buNone/>
            </a:pPr>
            <a:r>
              <a:rPr lang="en-US" sz="1100" dirty="0">
                <a:solidFill>
                  <a:srgbClr val="5B6B82"/>
                </a:solidFill>
                <a:latin typeface="Calibri" pitchFamily="34" charset="0"/>
                <a:ea typeface="Calibri" pitchFamily="34" charset="-122"/>
                <a:cs typeface="Calibri" pitchFamily="34" charset="-120"/>
              </a:rPr>
              <a:t>1–5 rating with comments</a:t>
            </a:r>
            <a:endParaRPr lang="en-US" sz="1100" dirty="0"/>
          </a:p>
        </p:txBody>
      </p:sp>
      <p:sp>
        <p:nvSpPr>
          <p:cNvPr id="41" name="Shape 31"/>
          <p:cNvSpPr/>
          <p:nvPr/>
        </p:nvSpPr>
        <p:spPr>
          <a:xfrm>
            <a:off x="6800850" y="2971800"/>
            <a:ext cx="1885950" cy="1463040"/>
          </a:xfrm>
          <a:prstGeom prst="roundRect">
            <a:avLst>
              <a:gd name="adj" fmla="val 6250"/>
            </a:avLst>
          </a:prstGeom>
          <a:solidFill>
            <a:srgbClr val="F3F7FB"/>
          </a:solidFill>
          <a:ln/>
          <a:effectLst>
            <a:outerShdw blurRad="76200" dist="25400" dir="5400000" algn="bl" rotWithShape="0">
              <a:srgbClr val="000000">
                <a:alpha val="10000"/>
              </a:srgbClr>
            </a:outerShdw>
          </a:effectLst>
        </p:spPr>
      </p:sp>
      <p:sp>
        <p:nvSpPr>
          <p:cNvPr id="42" name="Shape 32"/>
          <p:cNvSpPr/>
          <p:nvPr/>
        </p:nvSpPr>
        <p:spPr>
          <a:xfrm>
            <a:off x="6983730" y="3154680"/>
            <a:ext cx="457200" cy="457200"/>
          </a:xfrm>
          <a:prstGeom prst="ellipse">
            <a:avLst/>
          </a:prstGeom>
          <a:solidFill>
            <a:srgbClr val="0B1F3A"/>
          </a:solidFill>
          <a:ln/>
        </p:spPr>
      </p:sp>
      <p:pic>
        <p:nvPicPr>
          <p:cNvPr id="43" name="Image 8" descr="preencoded.png"/>
          <p:cNvPicPr>
            <a:picLocks noChangeAspect="1"/>
          </p:cNvPicPr>
          <p:nvPr/>
        </p:nvPicPr>
        <p:blipFill>
          <a:blip r:embed="rId11"/>
          <a:stretch>
            <a:fillRect/>
          </a:stretch>
        </p:blipFill>
        <p:spPr>
          <a:xfrm>
            <a:off x="7098030" y="3268980"/>
            <a:ext cx="228600" cy="228600"/>
          </a:xfrm>
          <a:prstGeom prst="rect">
            <a:avLst/>
          </a:prstGeom>
        </p:spPr>
      </p:pic>
      <p:sp>
        <p:nvSpPr>
          <p:cNvPr id="44" name="Text 33"/>
          <p:cNvSpPr txBox="1"/>
          <p:nvPr/>
        </p:nvSpPr>
        <p:spPr>
          <a:xfrm>
            <a:off x="6983730" y="3721608"/>
            <a:ext cx="1611630" cy="256032"/>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Add / Remove Pump</a:t>
            </a:r>
            <a:endParaRPr lang="en-US" sz="1300" dirty="0"/>
          </a:p>
        </p:txBody>
      </p:sp>
      <p:sp>
        <p:nvSpPr>
          <p:cNvPr id="45" name="Text 34"/>
          <p:cNvSpPr txBox="1"/>
          <p:nvPr/>
        </p:nvSpPr>
        <p:spPr>
          <a:xfrm>
            <a:off x="6983730" y="3995928"/>
            <a:ext cx="1565910" cy="384048"/>
          </a:xfrm>
          <a:prstGeom prst="rect">
            <a:avLst/>
          </a:prstGeom>
          <a:noFill/>
          <a:ln/>
        </p:spPr>
        <p:txBody>
          <a:bodyPr wrap="square" lIns="0" tIns="0" rIns="0" bIns="0" rtlCol="0" anchor="t"/>
          <a:lstStyle/>
          <a:p>
            <a:pPr marL="0" indent="0">
              <a:buNone/>
            </a:pPr>
            <a:r>
              <a:rPr lang="en-US" sz="1100" dirty="0">
                <a:solidFill>
                  <a:srgbClr val="5B6B82"/>
                </a:solidFill>
                <a:latin typeface="Calibri" pitchFamily="34" charset="0"/>
                <a:ea typeface="Calibri" pitchFamily="34" charset="-122"/>
                <a:cs typeface="Calibri" pitchFamily="34" charset="-120"/>
              </a:rPr>
              <a:t>Admin registers or removes pumps</a:t>
            </a:r>
            <a:endParaRPr lang="en-US" sz="1100" dirty="0"/>
          </a:p>
        </p:txBody>
      </p:sp>
      <p:sp>
        <p:nvSpPr>
          <p:cNvPr id="46" name="Text 35"/>
          <p:cNvSpPr txBox="1"/>
          <p:nvPr/>
        </p:nvSpPr>
        <p:spPr>
          <a:xfrm>
            <a:off x="457200" y="4773168"/>
            <a:ext cx="4572000" cy="201168"/>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Smart Fuel Pump Management System</a:t>
            </a:r>
            <a:endParaRPr lang="en-US" sz="1000" dirty="0"/>
          </a:p>
        </p:txBody>
      </p:sp>
      <p:sp>
        <p:nvSpPr>
          <p:cNvPr id="47" name="Text 36"/>
          <p:cNvSpPr txBox="1"/>
          <p:nvPr/>
        </p:nvSpPr>
        <p:spPr>
          <a:xfrm>
            <a:off x="7772400" y="4773168"/>
            <a:ext cx="914400" cy="201168"/>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6400800" cy="228600"/>
          </a:xfrm>
          <a:prstGeom prst="rect">
            <a:avLst/>
          </a:prstGeom>
          <a:noFill/>
          <a:ln/>
        </p:spPr>
        <p:txBody>
          <a:bodyPr wrap="square" lIns="0" tIns="0" rIns="0" bIns="0" rtlCol="0" anchor="ctr"/>
          <a:lstStyle/>
          <a:p>
            <a:pPr marL="0" indent="0">
              <a:buNone/>
            </a:pPr>
            <a:r>
              <a:rPr lang="en-US" sz="1100" b="1" kern="0" spc="300" dirty="0">
                <a:solidFill>
                  <a:srgbClr val="0E7490"/>
                </a:solidFill>
                <a:latin typeface="Calibri" pitchFamily="34" charset="0"/>
                <a:ea typeface="Calibri" pitchFamily="34" charset="-122"/>
                <a:cs typeface="Calibri" pitchFamily="34" charset="-120"/>
              </a:rPr>
              <a:t>TECH STACK</a:t>
            </a:r>
            <a:endParaRPr lang="en-US" sz="1100" dirty="0"/>
          </a:p>
        </p:txBody>
      </p:sp>
      <p:sp>
        <p:nvSpPr>
          <p:cNvPr id="3" name="Text 1"/>
          <p:cNvSpPr txBox="1"/>
          <p:nvPr/>
        </p:nvSpPr>
        <p:spPr>
          <a:xfrm>
            <a:off x="457200" y="502920"/>
            <a:ext cx="7498080" cy="548640"/>
          </a:xfrm>
          <a:prstGeom prst="rect">
            <a:avLst/>
          </a:prstGeom>
          <a:noFill/>
          <a:ln/>
        </p:spPr>
        <p:txBody>
          <a:bodyPr wrap="square" lIns="0" tIns="0" rIns="0" bIns="0" rtlCol="0" anchor="ctr"/>
          <a:lstStyle/>
          <a:p>
            <a:pPr marL="0" indent="0">
              <a:buNone/>
            </a:pPr>
            <a:r>
              <a:rPr lang="en-US" sz="3000" b="1" dirty="0">
                <a:solidFill>
                  <a:srgbClr val="0B1F3A"/>
                </a:solidFill>
                <a:latin typeface="Calibri" pitchFamily="34" charset="0"/>
                <a:ea typeface="Calibri" pitchFamily="34" charset="-122"/>
                <a:cs typeface="Calibri" pitchFamily="34" charset="-120"/>
              </a:rPr>
              <a:t>Technologies Used</a:t>
            </a:r>
            <a:endParaRPr lang="en-US" sz="3000" dirty="0"/>
          </a:p>
        </p:txBody>
      </p:sp>
      <p:sp>
        <p:nvSpPr>
          <p:cNvPr id="4" name="Shape 2"/>
          <p:cNvSpPr/>
          <p:nvPr/>
        </p:nvSpPr>
        <p:spPr>
          <a:xfrm>
            <a:off x="8229600" y="384048"/>
            <a:ext cx="457200" cy="457200"/>
          </a:xfrm>
          <a:prstGeom prst="ellipse">
            <a:avLst/>
          </a:prstGeom>
          <a:solidFill>
            <a:srgbClr val="0B1F3A"/>
          </a:solidFill>
          <a:ln/>
        </p:spPr>
      </p:sp>
      <p:pic>
        <p:nvPicPr>
          <p:cNvPr id="5" name="Image 0" descr="preencoded.png"/>
          <p:cNvPicPr>
            <a:picLocks noChangeAspect="1"/>
          </p:cNvPicPr>
          <p:nvPr/>
        </p:nvPicPr>
        <p:blipFill>
          <a:blip r:embed="rId3"/>
          <a:stretch>
            <a:fillRect/>
          </a:stretch>
        </p:blipFill>
        <p:spPr>
          <a:xfrm>
            <a:off x="8343900" y="498348"/>
            <a:ext cx="228600" cy="228600"/>
          </a:xfrm>
          <a:prstGeom prst="rect">
            <a:avLst/>
          </a:prstGeom>
        </p:spPr>
      </p:pic>
      <p:sp>
        <p:nvSpPr>
          <p:cNvPr id="6" name="Shape 3"/>
          <p:cNvSpPr/>
          <p:nvPr/>
        </p:nvSpPr>
        <p:spPr>
          <a:xfrm>
            <a:off x="457200" y="1234440"/>
            <a:ext cx="2468880" cy="1024128"/>
          </a:xfrm>
          <a:prstGeom prst="roundRect">
            <a:avLst>
              <a:gd name="adj" fmla="val 8929"/>
            </a:avLst>
          </a:prstGeom>
          <a:solidFill>
            <a:srgbClr val="0B1F3A"/>
          </a:solidFill>
          <a:ln/>
        </p:spPr>
      </p:sp>
      <p:sp>
        <p:nvSpPr>
          <p:cNvPr id="7" name="Text 4"/>
          <p:cNvSpPr txBox="1"/>
          <p:nvPr/>
        </p:nvSpPr>
        <p:spPr>
          <a:xfrm>
            <a:off x="621792" y="1325880"/>
            <a:ext cx="2194560" cy="256032"/>
          </a:xfrm>
          <a:prstGeom prst="rect">
            <a:avLst/>
          </a:prstGeom>
          <a:noFill/>
          <a:ln/>
        </p:spPr>
        <p:txBody>
          <a:bodyPr wrap="square" lIns="0" tIns="0" rIns="0" bIns="0" rtlCol="0" anchor="ctr"/>
          <a:lstStyle/>
          <a:p>
            <a:pPr marL="0" indent="0">
              <a:buNone/>
            </a:pPr>
            <a:r>
              <a:rPr lang="en-US" sz="1250" b="1" dirty="0">
                <a:solidFill>
                  <a:srgbClr val="22D3EE"/>
                </a:solidFill>
                <a:latin typeface="Calibri" pitchFamily="34" charset="0"/>
                <a:ea typeface="Calibri" pitchFamily="34" charset="-122"/>
                <a:cs typeface="Calibri" pitchFamily="34" charset="-120"/>
              </a:rPr>
              <a:t>Java</a:t>
            </a:r>
            <a:endParaRPr lang="en-US" sz="1250" dirty="0"/>
          </a:p>
        </p:txBody>
      </p:sp>
      <p:sp>
        <p:nvSpPr>
          <p:cNvPr id="8" name="Text 5"/>
          <p:cNvSpPr txBox="1"/>
          <p:nvPr/>
        </p:nvSpPr>
        <p:spPr>
          <a:xfrm>
            <a:off x="621792" y="1600200"/>
            <a:ext cx="2194560" cy="621792"/>
          </a:xfrm>
          <a:prstGeom prst="rect">
            <a:avLst/>
          </a:prstGeom>
          <a:noFill/>
          <a:ln/>
        </p:spPr>
        <p:txBody>
          <a:bodyPr wrap="square" lIns="0" tIns="0" rIns="0" bIns="0" rtlCol="0" anchor="t"/>
          <a:lstStyle/>
          <a:p>
            <a:pPr marL="0" indent="0">
              <a:buNone/>
            </a:pPr>
            <a:r>
              <a:rPr lang="en-US" sz="1100" dirty="0">
                <a:solidFill>
                  <a:srgbClr val="FFFFFF"/>
                </a:solidFill>
                <a:latin typeface="Calibri" pitchFamily="34" charset="0"/>
                <a:ea typeface="Calibri" pitchFamily="34" charset="-122"/>
                <a:cs typeface="Calibri" pitchFamily="34" charset="-120"/>
              </a:rPr>
              <a:t>Main language. Runs all the project logic.</a:t>
            </a:r>
            <a:endParaRPr lang="en-US" sz="1100" dirty="0"/>
          </a:p>
        </p:txBody>
      </p:sp>
      <p:sp>
        <p:nvSpPr>
          <p:cNvPr id="9" name="Shape 6"/>
          <p:cNvSpPr/>
          <p:nvPr/>
        </p:nvSpPr>
        <p:spPr>
          <a:xfrm>
            <a:off x="457200" y="2414016"/>
            <a:ext cx="2468880" cy="1024128"/>
          </a:xfrm>
          <a:prstGeom prst="roundRect">
            <a:avLst>
              <a:gd name="adj" fmla="val 8929"/>
            </a:avLst>
          </a:prstGeom>
          <a:solidFill>
            <a:srgbClr val="0B1F3A"/>
          </a:solidFill>
          <a:ln/>
        </p:spPr>
      </p:sp>
      <p:sp>
        <p:nvSpPr>
          <p:cNvPr id="10" name="Text 7"/>
          <p:cNvSpPr txBox="1"/>
          <p:nvPr/>
        </p:nvSpPr>
        <p:spPr>
          <a:xfrm>
            <a:off x="621792" y="2505456"/>
            <a:ext cx="2194560" cy="256032"/>
          </a:xfrm>
          <a:prstGeom prst="rect">
            <a:avLst/>
          </a:prstGeom>
          <a:noFill/>
          <a:ln/>
        </p:spPr>
        <p:txBody>
          <a:bodyPr wrap="square" lIns="0" tIns="0" rIns="0" bIns="0" rtlCol="0" anchor="ctr"/>
          <a:lstStyle/>
          <a:p>
            <a:pPr marL="0" indent="0">
              <a:buNone/>
            </a:pPr>
            <a:r>
              <a:rPr lang="en-US" sz="1250" b="1" dirty="0">
                <a:solidFill>
                  <a:srgbClr val="22D3EE"/>
                </a:solidFill>
                <a:latin typeface="Calibri" pitchFamily="34" charset="0"/>
                <a:ea typeface="Calibri" pitchFamily="34" charset="-122"/>
                <a:cs typeface="Calibri" pitchFamily="34" charset="-120"/>
              </a:rPr>
              <a:t>Object-Oriented Programming</a:t>
            </a:r>
            <a:endParaRPr lang="en-US" sz="1250" dirty="0"/>
          </a:p>
        </p:txBody>
      </p:sp>
      <p:sp>
        <p:nvSpPr>
          <p:cNvPr id="11" name="Text 8"/>
          <p:cNvSpPr txBox="1"/>
          <p:nvPr/>
        </p:nvSpPr>
        <p:spPr>
          <a:xfrm>
            <a:off x="621792" y="2779776"/>
            <a:ext cx="2194560" cy="621792"/>
          </a:xfrm>
          <a:prstGeom prst="rect">
            <a:avLst/>
          </a:prstGeom>
          <a:noFill/>
          <a:ln/>
        </p:spPr>
        <p:txBody>
          <a:bodyPr wrap="square" lIns="0" tIns="0" rIns="0" bIns="0" rtlCol="0" anchor="t"/>
          <a:lstStyle/>
          <a:p>
            <a:pPr marL="0" indent="0">
              <a:buNone/>
            </a:pPr>
            <a:r>
              <a:rPr lang="en-US" sz="1100" dirty="0">
                <a:solidFill>
                  <a:srgbClr val="FFFFFF"/>
                </a:solidFill>
                <a:latin typeface="Calibri" pitchFamily="34" charset="0"/>
                <a:ea typeface="Calibri" pitchFamily="34" charset="-122"/>
                <a:cs typeface="Calibri" pitchFamily="34" charset="-120"/>
              </a:rPr>
              <a:t>Classes, objects, constructors, abstract class, extends, @Override.</a:t>
            </a:r>
            <a:endParaRPr lang="en-US" sz="1100" dirty="0"/>
          </a:p>
        </p:txBody>
      </p:sp>
      <p:sp>
        <p:nvSpPr>
          <p:cNvPr id="12" name="Shape 9"/>
          <p:cNvSpPr/>
          <p:nvPr/>
        </p:nvSpPr>
        <p:spPr>
          <a:xfrm>
            <a:off x="457200" y="3593592"/>
            <a:ext cx="2468880" cy="1024128"/>
          </a:xfrm>
          <a:prstGeom prst="roundRect">
            <a:avLst>
              <a:gd name="adj" fmla="val 8929"/>
            </a:avLst>
          </a:prstGeom>
          <a:solidFill>
            <a:srgbClr val="0B1F3A"/>
          </a:solidFill>
          <a:ln/>
        </p:spPr>
      </p:sp>
      <p:sp>
        <p:nvSpPr>
          <p:cNvPr id="13" name="Text 10"/>
          <p:cNvSpPr txBox="1"/>
          <p:nvPr/>
        </p:nvSpPr>
        <p:spPr>
          <a:xfrm>
            <a:off x="621792" y="3685032"/>
            <a:ext cx="2194560" cy="256032"/>
          </a:xfrm>
          <a:prstGeom prst="rect">
            <a:avLst/>
          </a:prstGeom>
          <a:noFill/>
          <a:ln/>
        </p:spPr>
        <p:txBody>
          <a:bodyPr wrap="square" lIns="0" tIns="0" rIns="0" bIns="0" rtlCol="0" anchor="ctr"/>
          <a:lstStyle/>
          <a:p>
            <a:pPr marL="0" indent="0">
              <a:buNone/>
            </a:pPr>
            <a:r>
              <a:rPr lang="en-US" sz="1250" b="1" dirty="0">
                <a:solidFill>
                  <a:srgbClr val="22D3EE"/>
                </a:solidFill>
                <a:latin typeface="Calibri" pitchFamily="34" charset="0"/>
                <a:ea typeface="Calibri" pitchFamily="34" charset="-122"/>
                <a:cs typeface="Calibri" pitchFamily="34" charset="-120"/>
              </a:rPr>
              <a:t>Data handling</a:t>
            </a:r>
            <a:endParaRPr lang="en-US" sz="1250" dirty="0"/>
          </a:p>
        </p:txBody>
      </p:sp>
      <p:sp>
        <p:nvSpPr>
          <p:cNvPr id="14" name="Text 11"/>
          <p:cNvSpPr txBox="1"/>
          <p:nvPr/>
        </p:nvSpPr>
        <p:spPr>
          <a:xfrm>
            <a:off x="621792" y="3959352"/>
            <a:ext cx="2194560" cy="621792"/>
          </a:xfrm>
          <a:prstGeom prst="rect">
            <a:avLst/>
          </a:prstGeom>
          <a:noFill/>
          <a:ln/>
        </p:spPr>
        <p:txBody>
          <a:bodyPr wrap="square" lIns="0" tIns="0" rIns="0" bIns="0" rtlCol="0" anchor="t"/>
          <a:lstStyle/>
          <a:p>
            <a:pPr marL="0" indent="0">
              <a:buNone/>
            </a:pPr>
            <a:r>
              <a:rPr lang="en-US" sz="1100" dirty="0">
                <a:solidFill>
                  <a:srgbClr val="FFFFFF"/>
                </a:solidFill>
                <a:latin typeface="Calibri" pitchFamily="34" charset="0"/>
                <a:ea typeface="Calibri" pitchFamily="34" charset="-122"/>
                <a:cs typeface="Calibri" pitchFamily="34" charset="-120"/>
              </a:rPr>
              <a:t>ArrayList&lt;Pump&gt;, ArrayList&lt;Vehicle&gt;, ArrayList&lt;Feedback&gt;, static final MAX_QUEUE.</a:t>
            </a:r>
            <a:endParaRPr lang="en-US" sz="1100" dirty="0"/>
          </a:p>
        </p:txBody>
      </p:sp>
      <p:sp>
        <p:nvSpPr>
          <p:cNvPr id="15" name="Shape 12"/>
          <p:cNvSpPr/>
          <p:nvPr/>
        </p:nvSpPr>
        <p:spPr>
          <a:xfrm>
            <a:off x="3108960" y="1234440"/>
            <a:ext cx="1798625" cy="694944"/>
          </a:xfrm>
          <a:prstGeom prst="roundRect">
            <a:avLst>
              <a:gd name="adj" fmla="val 13158"/>
            </a:avLst>
          </a:prstGeom>
          <a:solidFill>
            <a:srgbClr val="FFFFFF"/>
          </a:solidFill>
          <a:ln w="9525">
            <a:solidFill>
              <a:srgbClr val="D6E2EE"/>
            </a:solidFill>
            <a:prstDash val="solid"/>
          </a:ln>
          <a:effectLst>
            <a:outerShdw blurRad="76200" dist="25400" dir="5400000" algn="bl" rotWithShape="0">
              <a:srgbClr val="000000">
                <a:alpha val="10000"/>
              </a:srgbClr>
            </a:outerShdw>
          </a:effectLst>
        </p:spPr>
      </p:sp>
      <p:sp>
        <p:nvSpPr>
          <p:cNvPr id="16" name="Text 13"/>
          <p:cNvSpPr txBox="1"/>
          <p:nvPr/>
        </p:nvSpPr>
        <p:spPr>
          <a:xfrm>
            <a:off x="3227832" y="1316736"/>
            <a:ext cx="1560881" cy="256032"/>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JFrame</a:t>
            </a:r>
            <a:endParaRPr lang="en-US" sz="1250" dirty="0"/>
          </a:p>
        </p:txBody>
      </p:sp>
      <p:sp>
        <p:nvSpPr>
          <p:cNvPr id="17" name="Text 14"/>
          <p:cNvSpPr txBox="1"/>
          <p:nvPr/>
        </p:nvSpPr>
        <p:spPr>
          <a:xfrm>
            <a:off x="3227832" y="1591056"/>
            <a:ext cx="1560881" cy="256032"/>
          </a:xfrm>
          <a:prstGeom prst="rect">
            <a:avLst/>
          </a:prstGeom>
          <a:noFill/>
          <a:ln/>
        </p:spPr>
        <p:txBody>
          <a:bodyPr wrap="square" lIns="0" tIns="0" rIns="0" bIns="0" rtlCol="0" anchor="ctr"/>
          <a:lstStyle/>
          <a:p>
            <a:pPr marL="0" indent="0">
              <a:buNone/>
            </a:pPr>
            <a:r>
              <a:rPr lang="en-US" sz="1050" dirty="0">
                <a:solidFill>
                  <a:srgbClr val="5B6B82"/>
                </a:solidFill>
                <a:latin typeface="Calibri" pitchFamily="34" charset="0"/>
                <a:ea typeface="Calibri" pitchFamily="34" charset="-122"/>
                <a:cs typeface="Calibri" pitchFamily="34" charset="-120"/>
              </a:rPr>
              <a:t>main window</a:t>
            </a:r>
            <a:endParaRPr lang="en-US" sz="1050" dirty="0"/>
          </a:p>
        </p:txBody>
      </p:sp>
      <p:sp>
        <p:nvSpPr>
          <p:cNvPr id="18" name="Shape 15"/>
          <p:cNvSpPr/>
          <p:nvPr/>
        </p:nvSpPr>
        <p:spPr>
          <a:xfrm>
            <a:off x="4999025" y="1234440"/>
            <a:ext cx="1798625" cy="694944"/>
          </a:xfrm>
          <a:prstGeom prst="roundRect">
            <a:avLst>
              <a:gd name="adj" fmla="val 13158"/>
            </a:avLst>
          </a:prstGeom>
          <a:solidFill>
            <a:srgbClr val="FFFFFF"/>
          </a:solidFill>
          <a:ln w="9525">
            <a:solidFill>
              <a:srgbClr val="D6E2EE"/>
            </a:solidFill>
            <a:prstDash val="solid"/>
          </a:ln>
          <a:effectLst>
            <a:outerShdw blurRad="76200" dist="25400" dir="5400000" algn="bl" rotWithShape="0">
              <a:srgbClr val="000000">
                <a:alpha val="10000"/>
              </a:srgbClr>
            </a:outerShdw>
          </a:effectLst>
        </p:spPr>
      </p:sp>
      <p:sp>
        <p:nvSpPr>
          <p:cNvPr id="19" name="Text 16"/>
          <p:cNvSpPr txBox="1"/>
          <p:nvPr/>
        </p:nvSpPr>
        <p:spPr>
          <a:xfrm>
            <a:off x="5117897" y="1316736"/>
            <a:ext cx="1560881" cy="256032"/>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JPanel</a:t>
            </a:r>
            <a:endParaRPr lang="en-US" sz="1250" dirty="0"/>
          </a:p>
        </p:txBody>
      </p:sp>
      <p:sp>
        <p:nvSpPr>
          <p:cNvPr id="20" name="Text 17"/>
          <p:cNvSpPr txBox="1"/>
          <p:nvPr/>
        </p:nvSpPr>
        <p:spPr>
          <a:xfrm>
            <a:off x="5117897" y="1591056"/>
            <a:ext cx="1560881" cy="256032"/>
          </a:xfrm>
          <a:prstGeom prst="rect">
            <a:avLst/>
          </a:prstGeom>
          <a:noFill/>
          <a:ln/>
        </p:spPr>
        <p:txBody>
          <a:bodyPr wrap="square" lIns="0" tIns="0" rIns="0" bIns="0" rtlCol="0" anchor="ctr"/>
          <a:lstStyle/>
          <a:p>
            <a:pPr marL="0" indent="0">
              <a:buNone/>
            </a:pPr>
            <a:r>
              <a:rPr lang="en-US" sz="1050" dirty="0">
                <a:solidFill>
                  <a:srgbClr val="5B6B82"/>
                </a:solidFill>
                <a:latin typeface="Calibri" pitchFamily="34" charset="0"/>
                <a:ea typeface="Calibri" pitchFamily="34" charset="-122"/>
                <a:cs typeface="Calibri" pitchFamily="34" charset="-120"/>
              </a:rPr>
              <a:t>screens &amp; groups</a:t>
            </a:r>
            <a:endParaRPr lang="en-US" sz="1050" dirty="0"/>
          </a:p>
        </p:txBody>
      </p:sp>
      <p:sp>
        <p:nvSpPr>
          <p:cNvPr id="21" name="Shape 18"/>
          <p:cNvSpPr/>
          <p:nvPr/>
        </p:nvSpPr>
        <p:spPr>
          <a:xfrm>
            <a:off x="6889090" y="1234440"/>
            <a:ext cx="1798625" cy="694944"/>
          </a:xfrm>
          <a:prstGeom prst="roundRect">
            <a:avLst>
              <a:gd name="adj" fmla="val 13158"/>
            </a:avLst>
          </a:prstGeom>
          <a:solidFill>
            <a:srgbClr val="FFFFFF"/>
          </a:solidFill>
          <a:ln w="9525">
            <a:solidFill>
              <a:srgbClr val="D6E2EE"/>
            </a:solidFill>
            <a:prstDash val="solid"/>
          </a:ln>
          <a:effectLst>
            <a:outerShdw blurRad="76200" dist="25400" dir="5400000" algn="bl" rotWithShape="0">
              <a:srgbClr val="000000">
                <a:alpha val="10000"/>
              </a:srgbClr>
            </a:outerShdw>
          </a:effectLst>
        </p:spPr>
      </p:sp>
      <p:sp>
        <p:nvSpPr>
          <p:cNvPr id="22" name="Text 19"/>
          <p:cNvSpPr txBox="1"/>
          <p:nvPr/>
        </p:nvSpPr>
        <p:spPr>
          <a:xfrm>
            <a:off x="7007962" y="1316736"/>
            <a:ext cx="1560881" cy="256032"/>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JLabel</a:t>
            </a:r>
            <a:endParaRPr lang="en-US" sz="1250" dirty="0"/>
          </a:p>
        </p:txBody>
      </p:sp>
      <p:sp>
        <p:nvSpPr>
          <p:cNvPr id="23" name="Text 20"/>
          <p:cNvSpPr txBox="1"/>
          <p:nvPr/>
        </p:nvSpPr>
        <p:spPr>
          <a:xfrm>
            <a:off x="7007962" y="1591056"/>
            <a:ext cx="1560881" cy="256032"/>
          </a:xfrm>
          <a:prstGeom prst="rect">
            <a:avLst/>
          </a:prstGeom>
          <a:noFill/>
          <a:ln/>
        </p:spPr>
        <p:txBody>
          <a:bodyPr wrap="square" lIns="0" tIns="0" rIns="0" bIns="0" rtlCol="0" anchor="ctr"/>
          <a:lstStyle/>
          <a:p>
            <a:pPr marL="0" indent="0">
              <a:buNone/>
            </a:pPr>
            <a:r>
              <a:rPr lang="en-US" sz="1050" dirty="0">
                <a:solidFill>
                  <a:srgbClr val="5B6B82"/>
                </a:solidFill>
                <a:latin typeface="Calibri" pitchFamily="34" charset="0"/>
                <a:ea typeface="Calibri" pitchFamily="34" charset="-122"/>
                <a:cs typeface="Calibri" pitchFamily="34" charset="-120"/>
              </a:rPr>
              <a:t>text labels</a:t>
            </a:r>
            <a:endParaRPr lang="en-US" sz="1050" dirty="0"/>
          </a:p>
        </p:txBody>
      </p:sp>
      <p:sp>
        <p:nvSpPr>
          <p:cNvPr id="24" name="Shape 21"/>
          <p:cNvSpPr/>
          <p:nvPr/>
        </p:nvSpPr>
        <p:spPr>
          <a:xfrm>
            <a:off x="3108960" y="2057400"/>
            <a:ext cx="1798625" cy="694944"/>
          </a:xfrm>
          <a:prstGeom prst="roundRect">
            <a:avLst>
              <a:gd name="adj" fmla="val 13158"/>
            </a:avLst>
          </a:prstGeom>
          <a:solidFill>
            <a:srgbClr val="FFFFFF"/>
          </a:solidFill>
          <a:ln w="9525">
            <a:solidFill>
              <a:srgbClr val="D6E2EE"/>
            </a:solidFill>
            <a:prstDash val="solid"/>
          </a:ln>
          <a:effectLst>
            <a:outerShdw blurRad="76200" dist="25400" dir="5400000" algn="bl" rotWithShape="0">
              <a:srgbClr val="000000">
                <a:alpha val="10000"/>
              </a:srgbClr>
            </a:outerShdw>
          </a:effectLst>
        </p:spPr>
      </p:sp>
      <p:sp>
        <p:nvSpPr>
          <p:cNvPr id="25" name="Text 22"/>
          <p:cNvSpPr txBox="1"/>
          <p:nvPr/>
        </p:nvSpPr>
        <p:spPr>
          <a:xfrm>
            <a:off x="3227832" y="2139696"/>
            <a:ext cx="1560881" cy="256032"/>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JButton</a:t>
            </a:r>
            <a:endParaRPr lang="en-US" sz="1250" dirty="0"/>
          </a:p>
        </p:txBody>
      </p:sp>
      <p:sp>
        <p:nvSpPr>
          <p:cNvPr id="26" name="Text 23"/>
          <p:cNvSpPr txBox="1"/>
          <p:nvPr/>
        </p:nvSpPr>
        <p:spPr>
          <a:xfrm>
            <a:off x="3227832" y="2414016"/>
            <a:ext cx="1560881" cy="256032"/>
          </a:xfrm>
          <a:prstGeom prst="rect">
            <a:avLst/>
          </a:prstGeom>
          <a:noFill/>
          <a:ln/>
        </p:spPr>
        <p:txBody>
          <a:bodyPr wrap="square" lIns="0" tIns="0" rIns="0" bIns="0" rtlCol="0" anchor="ctr"/>
          <a:lstStyle/>
          <a:p>
            <a:pPr marL="0" indent="0">
              <a:buNone/>
            </a:pPr>
            <a:r>
              <a:rPr lang="en-US" sz="1050" dirty="0">
                <a:solidFill>
                  <a:srgbClr val="5B6B82"/>
                </a:solidFill>
                <a:latin typeface="Calibri" pitchFamily="34" charset="0"/>
                <a:ea typeface="Calibri" pitchFamily="34" charset="-122"/>
                <a:cs typeface="Calibri" pitchFamily="34" charset="-120"/>
              </a:rPr>
              <a:t>clickable buttons</a:t>
            </a:r>
            <a:endParaRPr lang="en-US" sz="1050" dirty="0"/>
          </a:p>
        </p:txBody>
      </p:sp>
      <p:sp>
        <p:nvSpPr>
          <p:cNvPr id="27" name="Shape 24"/>
          <p:cNvSpPr/>
          <p:nvPr/>
        </p:nvSpPr>
        <p:spPr>
          <a:xfrm>
            <a:off x="4999025" y="2057400"/>
            <a:ext cx="1798625" cy="694944"/>
          </a:xfrm>
          <a:prstGeom prst="roundRect">
            <a:avLst>
              <a:gd name="adj" fmla="val 13158"/>
            </a:avLst>
          </a:prstGeom>
          <a:solidFill>
            <a:srgbClr val="FFFFFF"/>
          </a:solidFill>
          <a:ln w="9525">
            <a:solidFill>
              <a:srgbClr val="D6E2EE"/>
            </a:solidFill>
            <a:prstDash val="solid"/>
          </a:ln>
          <a:effectLst>
            <a:outerShdw blurRad="76200" dist="25400" dir="5400000" algn="bl" rotWithShape="0">
              <a:srgbClr val="000000">
                <a:alpha val="10000"/>
              </a:srgbClr>
            </a:outerShdw>
          </a:effectLst>
        </p:spPr>
      </p:sp>
      <p:sp>
        <p:nvSpPr>
          <p:cNvPr id="28" name="Text 25"/>
          <p:cNvSpPr txBox="1"/>
          <p:nvPr/>
        </p:nvSpPr>
        <p:spPr>
          <a:xfrm>
            <a:off x="5117897" y="2139696"/>
            <a:ext cx="1560881" cy="256032"/>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JTextField</a:t>
            </a:r>
            <a:endParaRPr lang="en-US" sz="1250" dirty="0"/>
          </a:p>
        </p:txBody>
      </p:sp>
      <p:sp>
        <p:nvSpPr>
          <p:cNvPr id="29" name="Text 26"/>
          <p:cNvSpPr txBox="1"/>
          <p:nvPr/>
        </p:nvSpPr>
        <p:spPr>
          <a:xfrm>
            <a:off x="5117897" y="2414016"/>
            <a:ext cx="1560881" cy="256032"/>
          </a:xfrm>
          <a:prstGeom prst="rect">
            <a:avLst/>
          </a:prstGeom>
          <a:noFill/>
          <a:ln/>
        </p:spPr>
        <p:txBody>
          <a:bodyPr wrap="square" lIns="0" tIns="0" rIns="0" bIns="0" rtlCol="0" anchor="ctr"/>
          <a:lstStyle/>
          <a:p>
            <a:pPr marL="0" indent="0">
              <a:buNone/>
            </a:pPr>
            <a:r>
              <a:rPr lang="en-US" sz="1050" dirty="0">
                <a:solidFill>
                  <a:srgbClr val="5B6B82"/>
                </a:solidFill>
                <a:latin typeface="Calibri" pitchFamily="34" charset="0"/>
                <a:ea typeface="Calibri" pitchFamily="34" charset="-122"/>
                <a:cs typeface="Calibri" pitchFamily="34" charset="-120"/>
              </a:rPr>
              <a:t>typed input</a:t>
            </a:r>
            <a:endParaRPr lang="en-US" sz="1050" dirty="0"/>
          </a:p>
        </p:txBody>
      </p:sp>
      <p:sp>
        <p:nvSpPr>
          <p:cNvPr id="30" name="Shape 27"/>
          <p:cNvSpPr/>
          <p:nvPr/>
        </p:nvSpPr>
        <p:spPr>
          <a:xfrm>
            <a:off x="6889090" y="2057400"/>
            <a:ext cx="1798625" cy="694944"/>
          </a:xfrm>
          <a:prstGeom prst="roundRect">
            <a:avLst>
              <a:gd name="adj" fmla="val 13158"/>
            </a:avLst>
          </a:prstGeom>
          <a:solidFill>
            <a:srgbClr val="FFFFFF"/>
          </a:solidFill>
          <a:ln w="9525">
            <a:solidFill>
              <a:srgbClr val="D6E2EE"/>
            </a:solidFill>
            <a:prstDash val="solid"/>
          </a:ln>
          <a:effectLst>
            <a:outerShdw blurRad="76200" dist="25400" dir="5400000" algn="bl" rotWithShape="0">
              <a:srgbClr val="000000">
                <a:alpha val="10000"/>
              </a:srgbClr>
            </a:outerShdw>
          </a:effectLst>
        </p:spPr>
      </p:sp>
      <p:sp>
        <p:nvSpPr>
          <p:cNvPr id="31" name="Text 28"/>
          <p:cNvSpPr txBox="1"/>
          <p:nvPr/>
        </p:nvSpPr>
        <p:spPr>
          <a:xfrm>
            <a:off x="7007962" y="2139696"/>
            <a:ext cx="1560881" cy="256032"/>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JComboBox</a:t>
            </a:r>
            <a:endParaRPr lang="en-US" sz="1250" dirty="0"/>
          </a:p>
        </p:txBody>
      </p:sp>
      <p:sp>
        <p:nvSpPr>
          <p:cNvPr id="32" name="Text 29"/>
          <p:cNvSpPr txBox="1"/>
          <p:nvPr/>
        </p:nvSpPr>
        <p:spPr>
          <a:xfrm>
            <a:off x="7007962" y="2414016"/>
            <a:ext cx="1560881" cy="256032"/>
          </a:xfrm>
          <a:prstGeom prst="rect">
            <a:avLst/>
          </a:prstGeom>
          <a:noFill/>
          <a:ln/>
        </p:spPr>
        <p:txBody>
          <a:bodyPr wrap="square" lIns="0" tIns="0" rIns="0" bIns="0" rtlCol="0" anchor="ctr"/>
          <a:lstStyle/>
          <a:p>
            <a:pPr marL="0" indent="0">
              <a:buNone/>
            </a:pPr>
            <a:r>
              <a:rPr lang="en-US" sz="1050" dirty="0">
                <a:solidFill>
                  <a:srgbClr val="5B6B82"/>
                </a:solidFill>
                <a:latin typeface="Calibri" pitchFamily="34" charset="0"/>
                <a:ea typeface="Calibri" pitchFamily="34" charset="-122"/>
                <a:cs typeface="Calibri" pitchFamily="34" charset="-120"/>
              </a:rPr>
              <a:t>fuel type list</a:t>
            </a:r>
            <a:endParaRPr lang="en-US" sz="1050" dirty="0"/>
          </a:p>
        </p:txBody>
      </p:sp>
      <p:sp>
        <p:nvSpPr>
          <p:cNvPr id="33" name="Shape 30"/>
          <p:cNvSpPr/>
          <p:nvPr/>
        </p:nvSpPr>
        <p:spPr>
          <a:xfrm>
            <a:off x="3108960" y="2880360"/>
            <a:ext cx="1798625" cy="694944"/>
          </a:xfrm>
          <a:prstGeom prst="roundRect">
            <a:avLst>
              <a:gd name="adj" fmla="val 13158"/>
            </a:avLst>
          </a:prstGeom>
          <a:solidFill>
            <a:srgbClr val="FFFFFF"/>
          </a:solidFill>
          <a:ln w="9525">
            <a:solidFill>
              <a:srgbClr val="D6E2EE"/>
            </a:solidFill>
            <a:prstDash val="solid"/>
          </a:ln>
          <a:effectLst>
            <a:outerShdw blurRad="76200" dist="25400" dir="5400000" algn="bl" rotWithShape="0">
              <a:srgbClr val="000000">
                <a:alpha val="10000"/>
              </a:srgbClr>
            </a:outerShdw>
          </a:effectLst>
        </p:spPr>
      </p:sp>
      <p:sp>
        <p:nvSpPr>
          <p:cNvPr id="34" name="Text 31"/>
          <p:cNvSpPr txBox="1"/>
          <p:nvPr/>
        </p:nvSpPr>
        <p:spPr>
          <a:xfrm>
            <a:off x="3227832" y="2962656"/>
            <a:ext cx="1560881" cy="256032"/>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JTable</a:t>
            </a:r>
            <a:endParaRPr lang="en-US" sz="1250" dirty="0"/>
          </a:p>
        </p:txBody>
      </p:sp>
      <p:sp>
        <p:nvSpPr>
          <p:cNvPr id="35" name="Text 32"/>
          <p:cNvSpPr txBox="1"/>
          <p:nvPr/>
        </p:nvSpPr>
        <p:spPr>
          <a:xfrm>
            <a:off x="3227832" y="3236976"/>
            <a:ext cx="1560881" cy="256032"/>
          </a:xfrm>
          <a:prstGeom prst="rect">
            <a:avLst/>
          </a:prstGeom>
          <a:noFill/>
          <a:ln/>
        </p:spPr>
        <p:txBody>
          <a:bodyPr wrap="square" lIns="0" tIns="0" rIns="0" bIns="0" rtlCol="0" anchor="ctr"/>
          <a:lstStyle/>
          <a:p>
            <a:pPr marL="0" indent="0">
              <a:buNone/>
            </a:pPr>
            <a:r>
              <a:rPr lang="en-US" sz="1050" dirty="0">
                <a:solidFill>
                  <a:srgbClr val="5B6B82"/>
                </a:solidFill>
                <a:latin typeface="Calibri" pitchFamily="34" charset="0"/>
                <a:ea typeface="Calibri" pitchFamily="34" charset="-122"/>
                <a:cs typeface="Calibri" pitchFamily="34" charset="-120"/>
              </a:rPr>
              <a:t>data tables</a:t>
            </a:r>
            <a:endParaRPr lang="en-US" sz="1050" dirty="0"/>
          </a:p>
        </p:txBody>
      </p:sp>
      <p:sp>
        <p:nvSpPr>
          <p:cNvPr id="36" name="Shape 33"/>
          <p:cNvSpPr/>
          <p:nvPr/>
        </p:nvSpPr>
        <p:spPr>
          <a:xfrm>
            <a:off x="4999025" y="2880360"/>
            <a:ext cx="1798625" cy="694944"/>
          </a:xfrm>
          <a:prstGeom prst="roundRect">
            <a:avLst>
              <a:gd name="adj" fmla="val 13158"/>
            </a:avLst>
          </a:prstGeom>
          <a:solidFill>
            <a:srgbClr val="FFFFFF"/>
          </a:solidFill>
          <a:ln w="9525">
            <a:solidFill>
              <a:srgbClr val="D6E2EE"/>
            </a:solidFill>
            <a:prstDash val="solid"/>
          </a:ln>
          <a:effectLst>
            <a:outerShdw blurRad="76200" dist="25400" dir="5400000" algn="bl" rotWithShape="0">
              <a:srgbClr val="000000">
                <a:alpha val="10000"/>
              </a:srgbClr>
            </a:outerShdw>
          </a:effectLst>
        </p:spPr>
      </p:sp>
      <p:sp>
        <p:nvSpPr>
          <p:cNvPr id="37" name="Text 34"/>
          <p:cNvSpPr txBox="1"/>
          <p:nvPr/>
        </p:nvSpPr>
        <p:spPr>
          <a:xfrm>
            <a:off x="5117897" y="2962656"/>
            <a:ext cx="1560881" cy="256032"/>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JScrollPane</a:t>
            </a:r>
            <a:endParaRPr lang="en-US" sz="1250" dirty="0"/>
          </a:p>
        </p:txBody>
      </p:sp>
      <p:sp>
        <p:nvSpPr>
          <p:cNvPr id="38" name="Text 35"/>
          <p:cNvSpPr txBox="1"/>
          <p:nvPr/>
        </p:nvSpPr>
        <p:spPr>
          <a:xfrm>
            <a:off x="5117897" y="3236976"/>
            <a:ext cx="1560881" cy="256032"/>
          </a:xfrm>
          <a:prstGeom prst="rect">
            <a:avLst/>
          </a:prstGeom>
          <a:noFill/>
          <a:ln/>
        </p:spPr>
        <p:txBody>
          <a:bodyPr wrap="square" lIns="0" tIns="0" rIns="0" bIns="0" rtlCol="0" anchor="ctr"/>
          <a:lstStyle/>
          <a:p>
            <a:pPr marL="0" indent="0">
              <a:buNone/>
            </a:pPr>
            <a:r>
              <a:rPr lang="en-US" sz="1050" dirty="0">
                <a:solidFill>
                  <a:srgbClr val="5B6B82"/>
                </a:solidFill>
                <a:latin typeface="Calibri" pitchFamily="34" charset="0"/>
                <a:ea typeface="Calibri" pitchFamily="34" charset="-122"/>
                <a:cs typeface="Calibri" pitchFamily="34" charset="-120"/>
              </a:rPr>
              <a:t>scrollable tables</a:t>
            </a:r>
            <a:endParaRPr lang="en-US" sz="1050" dirty="0"/>
          </a:p>
        </p:txBody>
      </p:sp>
      <p:sp>
        <p:nvSpPr>
          <p:cNvPr id="39" name="Shape 36"/>
          <p:cNvSpPr/>
          <p:nvPr/>
        </p:nvSpPr>
        <p:spPr>
          <a:xfrm>
            <a:off x="6889090" y="2880360"/>
            <a:ext cx="1798625" cy="694944"/>
          </a:xfrm>
          <a:prstGeom prst="roundRect">
            <a:avLst>
              <a:gd name="adj" fmla="val 13158"/>
            </a:avLst>
          </a:prstGeom>
          <a:solidFill>
            <a:srgbClr val="FFFFFF"/>
          </a:solidFill>
          <a:ln w="9525">
            <a:solidFill>
              <a:srgbClr val="D6E2EE"/>
            </a:solidFill>
            <a:prstDash val="solid"/>
          </a:ln>
          <a:effectLst>
            <a:outerShdw blurRad="76200" dist="25400" dir="5400000" algn="bl" rotWithShape="0">
              <a:srgbClr val="000000">
                <a:alpha val="10000"/>
              </a:srgbClr>
            </a:outerShdw>
          </a:effectLst>
        </p:spPr>
      </p:sp>
      <p:sp>
        <p:nvSpPr>
          <p:cNvPr id="40" name="Text 37"/>
          <p:cNvSpPr txBox="1"/>
          <p:nvPr/>
        </p:nvSpPr>
        <p:spPr>
          <a:xfrm>
            <a:off x="7007962" y="2962656"/>
            <a:ext cx="1560881" cy="256032"/>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JOptionPane</a:t>
            </a:r>
            <a:endParaRPr lang="en-US" sz="1250" dirty="0"/>
          </a:p>
        </p:txBody>
      </p:sp>
      <p:sp>
        <p:nvSpPr>
          <p:cNvPr id="41" name="Text 38"/>
          <p:cNvSpPr txBox="1"/>
          <p:nvPr/>
        </p:nvSpPr>
        <p:spPr>
          <a:xfrm>
            <a:off x="7007962" y="3236976"/>
            <a:ext cx="1560881" cy="256032"/>
          </a:xfrm>
          <a:prstGeom prst="rect">
            <a:avLst/>
          </a:prstGeom>
          <a:noFill/>
          <a:ln/>
        </p:spPr>
        <p:txBody>
          <a:bodyPr wrap="square" lIns="0" tIns="0" rIns="0" bIns="0" rtlCol="0" anchor="ctr"/>
          <a:lstStyle/>
          <a:p>
            <a:pPr marL="0" indent="0">
              <a:buNone/>
            </a:pPr>
            <a:r>
              <a:rPr lang="en-US" sz="1050" dirty="0">
                <a:solidFill>
                  <a:srgbClr val="5B6B82"/>
                </a:solidFill>
                <a:latin typeface="Calibri" pitchFamily="34" charset="0"/>
                <a:ea typeface="Calibri" pitchFamily="34" charset="-122"/>
                <a:cs typeface="Calibri" pitchFamily="34" charset="-120"/>
              </a:rPr>
              <a:t>pop-up dialogs</a:t>
            </a:r>
            <a:endParaRPr lang="en-US" sz="1050" dirty="0"/>
          </a:p>
        </p:txBody>
      </p:sp>
      <p:sp>
        <p:nvSpPr>
          <p:cNvPr id="42" name="Shape 39"/>
          <p:cNvSpPr/>
          <p:nvPr/>
        </p:nvSpPr>
        <p:spPr>
          <a:xfrm>
            <a:off x="3108960" y="3703320"/>
            <a:ext cx="1798625" cy="694944"/>
          </a:xfrm>
          <a:prstGeom prst="roundRect">
            <a:avLst>
              <a:gd name="adj" fmla="val 13158"/>
            </a:avLst>
          </a:prstGeom>
          <a:solidFill>
            <a:srgbClr val="FFFFFF"/>
          </a:solidFill>
          <a:ln w="9525">
            <a:solidFill>
              <a:srgbClr val="D6E2EE"/>
            </a:solidFill>
            <a:prstDash val="solid"/>
          </a:ln>
          <a:effectLst>
            <a:outerShdw blurRad="76200" dist="25400" dir="5400000" algn="bl" rotWithShape="0">
              <a:srgbClr val="000000">
                <a:alpha val="10000"/>
              </a:srgbClr>
            </a:outerShdw>
          </a:effectLst>
        </p:spPr>
      </p:sp>
      <p:sp>
        <p:nvSpPr>
          <p:cNvPr id="43" name="Text 40"/>
          <p:cNvSpPr txBox="1"/>
          <p:nvPr/>
        </p:nvSpPr>
        <p:spPr>
          <a:xfrm>
            <a:off x="3227832" y="3785616"/>
            <a:ext cx="1560881" cy="256032"/>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CardLayout</a:t>
            </a:r>
            <a:endParaRPr lang="en-US" sz="1250" dirty="0"/>
          </a:p>
        </p:txBody>
      </p:sp>
      <p:sp>
        <p:nvSpPr>
          <p:cNvPr id="44" name="Text 41"/>
          <p:cNvSpPr txBox="1"/>
          <p:nvPr/>
        </p:nvSpPr>
        <p:spPr>
          <a:xfrm>
            <a:off x="3227832" y="4059936"/>
            <a:ext cx="1560881" cy="256032"/>
          </a:xfrm>
          <a:prstGeom prst="rect">
            <a:avLst/>
          </a:prstGeom>
          <a:noFill/>
          <a:ln/>
        </p:spPr>
        <p:txBody>
          <a:bodyPr wrap="square" lIns="0" tIns="0" rIns="0" bIns="0" rtlCol="0" anchor="ctr"/>
          <a:lstStyle/>
          <a:p>
            <a:pPr marL="0" indent="0">
              <a:buNone/>
            </a:pPr>
            <a:r>
              <a:rPr lang="en-US" sz="1050" dirty="0">
                <a:solidFill>
                  <a:srgbClr val="5B6B82"/>
                </a:solidFill>
                <a:latin typeface="Calibri" pitchFamily="34" charset="0"/>
                <a:ea typeface="Calibri" pitchFamily="34" charset="-122"/>
                <a:cs typeface="Calibri" pitchFamily="34" charset="-120"/>
              </a:rPr>
              <a:t>switch screens</a:t>
            </a:r>
            <a:endParaRPr lang="en-US" sz="1050" dirty="0"/>
          </a:p>
        </p:txBody>
      </p:sp>
      <p:sp>
        <p:nvSpPr>
          <p:cNvPr id="45" name="Shape 42"/>
          <p:cNvSpPr/>
          <p:nvPr/>
        </p:nvSpPr>
        <p:spPr>
          <a:xfrm>
            <a:off x="4999025" y="3703320"/>
            <a:ext cx="1798625" cy="694944"/>
          </a:xfrm>
          <a:prstGeom prst="roundRect">
            <a:avLst>
              <a:gd name="adj" fmla="val 13158"/>
            </a:avLst>
          </a:prstGeom>
          <a:solidFill>
            <a:srgbClr val="FFFFFF"/>
          </a:solidFill>
          <a:ln w="9525">
            <a:solidFill>
              <a:srgbClr val="D6E2EE"/>
            </a:solidFill>
            <a:prstDash val="solid"/>
          </a:ln>
          <a:effectLst>
            <a:outerShdw blurRad="76200" dist="25400" dir="5400000" algn="bl" rotWithShape="0">
              <a:srgbClr val="000000">
                <a:alpha val="10000"/>
              </a:srgbClr>
            </a:outerShdw>
          </a:effectLst>
        </p:spPr>
      </p:sp>
      <p:sp>
        <p:nvSpPr>
          <p:cNvPr id="46" name="Text 43"/>
          <p:cNvSpPr txBox="1"/>
          <p:nvPr/>
        </p:nvSpPr>
        <p:spPr>
          <a:xfrm>
            <a:off x="5117897" y="3785616"/>
            <a:ext cx="1560881" cy="256032"/>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DefaultTableModel</a:t>
            </a:r>
            <a:endParaRPr lang="en-US" sz="1250" dirty="0"/>
          </a:p>
        </p:txBody>
      </p:sp>
      <p:sp>
        <p:nvSpPr>
          <p:cNvPr id="47" name="Text 44"/>
          <p:cNvSpPr txBox="1"/>
          <p:nvPr/>
        </p:nvSpPr>
        <p:spPr>
          <a:xfrm>
            <a:off x="5117897" y="4059936"/>
            <a:ext cx="1560881" cy="256032"/>
          </a:xfrm>
          <a:prstGeom prst="rect">
            <a:avLst/>
          </a:prstGeom>
          <a:noFill/>
          <a:ln/>
        </p:spPr>
        <p:txBody>
          <a:bodyPr wrap="square" lIns="0" tIns="0" rIns="0" bIns="0" rtlCol="0" anchor="ctr"/>
          <a:lstStyle/>
          <a:p>
            <a:pPr marL="0" indent="0">
              <a:buNone/>
            </a:pPr>
            <a:r>
              <a:rPr lang="en-US" sz="1050" dirty="0">
                <a:solidFill>
                  <a:srgbClr val="5B6B82"/>
                </a:solidFill>
                <a:latin typeface="Calibri" pitchFamily="34" charset="0"/>
                <a:ea typeface="Calibri" pitchFamily="34" charset="-122"/>
                <a:cs typeface="Calibri" pitchFamily="34" charset="-120"/>
              </a:rPr>
              <a:t>table data</a:t>
            </a:r>
            <a:endParaRPr lang="en-US" sz="1050" dirty="0"/>
          </a:p>
        </p:txBody>
      </p:sp>
      <p:sp>
        <p:nvSpPr>
          <p:cNvPr id="48" name="Shape 45"/>
          <p:cNvSpPr/>
          <p:nvPr/>
        </p:nvSpPr>
        <p:spPr>
          <a:xfrm>
            <a:off x="6889090" y="3703320"/>
            <a:ext cx="1798625" cy="694944"/>
          </a:xfrm>
          <a:prstGeom prst="roundRect">
            <a:avLst>
              <a:gd name="adj" fmla="val 13158"/>
            </a:avLst>
          </a:prstGeom>
          <a:solidFill>
            <a:srgbClr val="FFFFFF"/>
          </a:solidFill>
          <a:ln w="9525">
            <a:solidFill>
              <a:srgbClr val="D6E2EE"/>
            </a:solidFill>
            <a:prstDash val="solid"/>
          </a:ln>
          <a:effectLst>
            <a:outerShdw blurRad="76200" dist="25400" dir="5400000" algn="bl" rotWithShape="0">
              <a:srgbClr val="000000">
                <a:alpha val="10000"/>
              </a:srgbClr>
            </a:outerShdw>
          </a:effectLst>
        </p:spPr>
      </p:sp>
      <p:sp>
        <p:nvSpPr>
          <p:cNvPr id="49" name="Text 46"/>
          <p:cNvSpPr txBox="1"/>
          <p:nvPr/>
        </p:nvSpPr>
        <p:spPr>
          <a:xfrm>
            <a:off x="7007962" y="3785616"/>
            <a:ext cx="1560881" cy="256032"/>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ActionListener</a:t>
            </a:r>
            <a:endParaRPr lang="en-US" sz="1250" dirty="0"/>
          </a:p>
        </p:txBody>
      </p:sp>
      <p:sp>
        <p:nvSpPr>
          <p:cNvPr id="50" name="Text 47"/>
          <p:cNvSpPr txBox="1"/>
          <p:nvPr/>
        </p:nvSpPr>
        <p:spPr>
          <a:xfrm>
            <a:off x="7007962" y="4059936"/>
            <a:ext cx="1560881" cy="256032"/>
          </a:xfrm>
          <a:prstGeom prst="rect">
            <a:avLst/>
          </a:prstGeom>
          <a:noFill/>
          <a:ln/>
        </p:spPr>
        <p:txBody>
          <a:bodyPr wrap="square" lIns="0" tIns="0" rIns="0" bIns="0" rtlCol="0" anchor="ctr"/>
          <a:lstStyle/>
          <a:p>
            <a:pPr marL="0" indent="0">
              <a:buNone/>
            </a:pPr>
            <a:r>
              <a:rPr lang="en-US" sz="1050" dirty="0">
                <a:solidFill>
                  <a:srgbClr val="5B6B82"/>
                </a:solidFill>
                <a:latin typeface="Calibri" pitchFamily="34" charset="0"/>
                <a:ea typeface="Calibri" pitchFamily="34" charset="-122"/>
                <a:cs typeface="Calibri" pitchFamily="34" charset="-120"/>
              </a:rPr>
              <a:t>button clicks (lambda)</a:t>
            </a:r>
            <a:endParaRPr lang="en-US" sz="1050" dirty="0"/>
          </a:p>
        </p:txBody>
      </p:sp>
      <p:sp>
        <p:nvSpPr>
          <p:cNvPr id="51" name="Text 48"/>
          <p:cNvSpPr txBox="1"/>
          <p:nvPr/>
        </p:nvSpPr>
        <p:spPr>
          <a:xfrm>
            <a:off x="457200" y="4773168"/>
            <a:ext cx="4572000" cy="201168"/>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Smart Fuel Pump Management System</a:t>
            </a:r>
            <a:endParaRPr lang="en-US" sz="1000" dirty="0"/>
          </a:p>
        </p:txBody>
      </p:sp>
      <p:sp>
        <p:nvSpPr>
          <p:cNvPr id="52" name="Text 49"/>
          <p:cNvSpPr txBox="1"/>
          <p:nvPr/>
        </p:nvSpPr>
        <p:spPr>
          <a:xfrm>
            <a:off x="7772400" y="4773168"/>
            <a:ext cx="914400" cy="201168"/>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6400800" cy="228600"/>
          </a:xfrm>
          <a:prstGeom prst="rect">
            <a:avLst/>
          </a:prstGeom>
          <a:noFill/>
          <a:ln/>
        </p:spPr>
        <p:txBody>
          <a:bodyPr wrap="square" lIns="0" tIns="0" rIns="0" bIns="0" rtlCol="0" anchor="ctr"/>
          <a:lstStyle/>
          <a:p>
            <a:pPr marL="0" indent="0">
              <a:buNone/>
            </a:pPr>
            <a:r>
              <a:rPr lang="en-US" sz="1100" b="1" kern="0" spc="300" dirty="0">
                <a:solidFill>
                  <a:srgbClr val="0E7490"/>
                </a:solidFill>
                <a:latin typeface="Calibri" pitchFamily="34" charset="0"/>
                <a:ea typeface="Calibri" pitchFamily="34" charset="-122"/>
                <a:cs typeface="Calibri" pitchFamily="34" charset="-120"/>
              </a:rPr>
              <a:t>OOP</a:t>
            </a:r>
            <a:endParaRPr lang="en-US" sz="1100" dirty="0"/>
          </a:p>
        </p:txBody>
      </p:sp>
      <p:sp>
        <p:nvSpPr>
          <p:cNvPr id="3" name="Text 1"/>
          <p:cNvSpPr txBox="1"/>
          <p:nvPr/>
        </p:nvSpPr>
        <p:spPr>
          <a:xfrm>
            <a:off x="457200" y="502920"/>
            <a:ext cx="7498080" cy="548640"/>
          </a:xfrm>
          <a:prstGeom prst="rect">
            <a:avLst/>
          </a:prstGeom>
          <a:noFill/>
          <a:ln/>
        </p:spPr>
        <p:txBody>
          <a:bodyPr wrap="square" lIns="0" tIns="0" rIns="0" bIns="0" rtlCol="0" anchor="ctr"/>
          <a:lstStyle/>
          <a:p>
            <a:pPr marL="0" indent="0">
              <a:buNone/>
            </a:pPr>
            <a:r>
              <a:rPr lang="en-US" sz="3000" b="1" dirty="0">
                <a:solidFill>
                  <a:srgbClr val="0B1F3A"/>
                </a:solidFill>
                <a:latin typeface="Calibri" pitchFamily="34" charset="0"/>
                <a:ea typeface="Calibri" pitchFamily="34" charset="-122"/>
                <a:cs typeface="Calibri" pitchFamily="34" charset="-120"/>
              </a:rPr>
              <a:t>OOP Overview: The Four Pillars</a:t>
            </a:r>
            <a:endParaRPr lang="en-US" sz="3000" dirty="0"/>
          </a:p>
        </p:txBody>
      </p:sp>
      <p:sp>
        <p:nvSpPr>
          <p:cNvPr id="4" name="Shape 2"/>
          <p:cNvSpPr/>
          <p:nvPr/>
        </p:nvSpPr>
        <p:spPr>
          <a:xfrm>
            <a:off x="8229600" y="384048"/>
            <a:ext cx="457200" cy="457200"/>
          </a:xfrm>
          <a:prstGeom prst="ellipse">
            <a:avLst/>
          </a:prstGeom>
          <a:solidFill>
            <a:srgbClr val="0B1F3A"/>
          </a:solidFill>
          <a:ln/>
        </p:spPr>
      </p:sp>
      <p:pic>
        <p:nvPicPr>
          <p:cNvPr id="5" name="Image 0" descr="preencoded.png"/>
          <p:cNvPicPr>
            <a:picLocks noChangeAspect="1"/>
          </p:cNvPicPr>
          <p:nvPr/>
        </p:nvPicPr>
        <p:blipFill>
          <a:blip r:embed="rId3"/>
          <a:stretch>
            <a:fillRect/>
          </a:stretch>
        </p:blipFill>
        <p:spPr>
          <a:xfrm>
            <a:off x="8343900" y="498348"/>
            <a:ext cx="228600" cy="228600"/>
          </a:xfrm>
          <a:prstGeom prst="rect">
            <a:avLst/>
          </a:prstGeom>
        </p:spPr>
      </p:pic>
      <p:sp>
        <p:nvSpPr>
          <p:cNvPr id="6" name="Shape 3"/>
          <p:cNvSpPr/>
          <p:nvPr/>
        </p:nvSpPr>
        <p:spPr>
          <a:xfrm>
            <a:off x="457200" y="1188720"/>
            <a:ext cx="8229600" cy="457200"/>
          </a:xfrm>
          <a:prstGeom prst="roundRect">
            <a:avLst>
              <a:gd name="adj" fmla="val 16000"/>
            </a:avLst>
          </a:prstGeom>
          <a:solidFill>
            <a:srgbClr val="0B1F3A"/>
          </a:solidFill>
          <a:ln/>
        </p:spPr>
      </p:sp>
      <p:sp>
        <p:nvSpPr>
          <p:cNvPr id="7" name="Text 4"/>
          <p:cNvSpPr txBox="1"/>
          <p:nvPr/>
        </p:nvSpPr>
        <p:spPr>
          <a:xfrm>
            <a:off x="457200" y="1188720"/>
            <a:ext cx="8229600" cy="457200"/>
          </a:xfrm>
          <a:prstGeom prst="rect">
            <a:avLst/>
          </a:prstGeom>
          <a:noFill/>
          <a:ln/>
        </p:spPr>
        <p:txBody>
          <a:bodyPr wrap="square" lIns="0" tIns="0" rIns="0" bIns="0" rtlCol="0" anchor="ctr"/>
          <a:lstStyle/>
          <a:p>
            <a:pPr marL="0" indent="0" algn="ctr">
              <a:buNone/>
            </a:pPr>
            <a:r>
              <a:rPr lang="en-US" sz="1500" b="1" kern="0" spc="300" dirty="0">
                <a:solidFill>
                  <a:srgbClr val="FFFFFF"/>
                </a:solidFill>
                <a:latin typeface="Calibri" pitchFamily="34" charset="0"/>
                <a:ea typeface="Calibri" pitchFamily="34" charset="-122"/>
                <a:cs typeface="Calibri" pitchFamily="34" charset="-120"/>
              </a:rPr>
              <a:t>OBJECT ORIENTED PROGRAMMING</a:t>
            </a:r>
            <a:endParaRPr lang="en-US" sz="1500" dirty="0"/>
          </a:p>
        </p:txBody>
      </p:sp>
      <p:sp>
        <p:nvSpPr>
          <p:cNvPr id="8" name="Shape 5"/>
          <p:cNvSpPr/>
          <p:nvPr/>
        </p:nvSpPr>
        <p:spPr>
          <a:xfrm>
            <a:off x="457200" y="1783080"/>
            <a:ext cx="1828800" cy="2423160"/>
          </a:xfrm>
          <a:prstGeom prst="roundRect">
            <a:avLst>
              <a:gd name="adj" fmla="val 5000"/>
            </a:avLst>
          </a:prstGeom>
          <a:solidFill>
            <a:srgbClr val="F3F7FB"/>
          </a:solidFill>
          <a:ln/>
          <a:effectLst>
            <a:outerShdw blurRad="76200" dist="25400" dir="5400000" algn="bl" rotWithShape="0">
              <a:srgbClr val="000000">
                <a:alpha val="10000"/>
              </a:srgbClr>
            </a:outerShdw>
          </a:effectLst>
        </p:spPr>
      </p:sp>
      <p:sp>
        <p:nvSpPr>
          <p:cNvPr id="9" name="Shape 6"/>
          <p:cNvSpPr/>
          <p:nvPr/>
        </p:nvSpPr>
        <p:spPr>
          <a:xfrm>
            <a:off x="1120140" y="1920240"/>
            <a:ext cx="502920" cy="502920"/>
          </a:xfrm>
          <a:prstGeom prst="ellipse">
            <a:avLst/>
          </a:prstGeom>
          <a:solidFill>
            <a:srgbClr val="0B1F3A"/>
          </a:solidFill>
          <a:ln/>
        </p:spPr>
      </p:sp>
      <p:pic>
        <p:nvPicPr>
          <p:cNvPr id="10" name="Image 1" descr="preencoded.png"/>
          <p:cNvPicPr>
            <a:picLocks noChangeAspect="1"/>
          </p:cNvPicPr>
          <p:nvPr/>
        </p:nvPicPr>
        <p:blipFill>
          <a:blip r:embed="rId4"/>
          <a:stretch>
            <a:fillRect/>
          </a:stretch>
        </p:blipFill>
        <p:spPr>
          <a:xfrm>
            <a:off x="1245870" y="2045970"/>
            <a:ext cx="251460" cy="251460"/>
          </a:xfrm>
          <a:prstGeom prst="rect">
            <a:avLst/>
          </a:prstGeom>
        </p:spPr>
      </p:pic>
      <p:sp>
        <p:nvSpPr>
          <p:cNvPr id="11" name="Text 7"/>
          <p:cNvSpPr txBox="1"/>
          <p:nvPr/>
        </p:nvSpPr>
        <p:spPr>
          <a:xfrm>
            <a:off x="548640" y="2496312"/>
            <a:ext cx="1645920" cy="292608"/>
          </a:xfrm>
          <a:prstGeom prst="rect">
            <a:avLst/>
          </a:prstGeom>
          <a:noFill/>
          <a:ln/>
        </p:spPr>
        <p:txBody>
          <a:bodyPr wrap="square" lIns="0" tIns="0" rIns="0" bIns="0" rtlCol="0" anchor="ctr"/>
          <a:lstStyle/>
          <a:p>
            <a:pPr marL="0" indent="0" algn="ctr">
              <a:buNone/>
            </a:pPr>
            <a:r>
              <a:rPr lang="en-US" sz="1500" b="1" dirty="0">
                <a:solidFill>
                  <a:srgbClr val="0B1F3A"/>
                </a:solidFill>
                <a:latin typeface="Calibri" pitchFamily="34" charset="0"/>
                <a:ea typeface="Calibri" pitchFamily="34" charset="-122"/>
                <a:cs typeface="Calibri" pitchFamily="34" charset="-120"/>
              </a:rPr>
              <a:t>Encapsulation</a:t>
            </a:r>
            <a:endParaRPr lang="en-US" sz="1500" dirty="0"/>
          </a:p>
        </p:txBody>
      </p:sp>
      <p:sp>
        <p:nvSpPr>
          <p:cNvPr id="12" name="Text 8"/>
          <p:cNvSpPr txBox="1"/>
          <p:nvPr/>
        </p:nvSpPr>
        <p:spPr>
          <a:xfrm>
            <a:off x="594360" y="2816352"/>
            <a:ext cx="1554480" cy="566928"/>
          </a:xfrm>
          <a:prstGeom prst="rect">
            <a:avLst/>
          </a:prstGeom>
          <a:noFill/>
          <a:ln/>
        </p:spPr>
        <p:txBody>
          <a:bodyPr wrap="square" lIns="0" tIns="0" rIns="0" bIns="0" rtlCol="0" anchor="t"/>
          <a:lstStyle/>
          <a:p>
            <a:pPr marL="0" indent="0" algn="ctr">
              <a:buNone/>
            </a:pPr>
            <a:r>
              <a:rPr lang="en-US" sz="1150" dirty="0">
                <a:solidFill>
                  <a:srgbClr val="0B1F3A"/>
                </a:solidFill>
                <a:latin typeface="Calibri" pitchFamily="34" charset="0"/>
                <a:ea typeface="Calibri" pitchFamily="34" charset="-122"/>
                <a:cs typeface="Calibri" pitchFamily="34" charset="-120"/>
              </a:rPr>
              <a:t>Keep data and methods together and control access.</a:t>
            </a:r>
            <a:endParaRPr lang="en-US" sz="1150" dirty="0"/>
          </a:p>
        </p:txBody>
      </p:sp>
      <p:sp>
        <p:nvSpPr>
          <p:cNvPr id="13" name="Shape 9"/>
          <p:cNvSpPr/>
          <p:nvPr/>
        </p:nvSpPr>
        <p:spPr>
          <a:xfrm>
            <a:off x="548640" y="3474720"/>
            <a:ext cx="1645920" cy="640080"/>
          </a:xfrm>
          <a:prstGeom prst="roundRect">
            <a:avLst>
              <a:gd name="adj" fmla="val 11429"/>
            </a:avLst>
          </a:prstGeom>
          <a:solidFill>
            <a:srgbClr val="E8F7FB"/>
          </a:solidFill>
          <a:ln/>
        </p:spPr>
      </p:sp>
      <p:sp>
        <p:nvSpPr>
          <p:cNvPr id="14" name="Text 10"/>
          <p:cNvSpPr txBox="1"/>
          <p:nvPr/>
        </p:nvSpPr>
        <p:spPr>
          <a:xfrm>
            <a:off x="548640" y="3502152"/>
            <a:ext cx="1645920" cy="182880"/>
          </a:xfrm>
          <a:prstGeom prst="rect">
            <a:avLst/>
          </a:prstGeom>
          <a:noFill/>
          <a:ln/>
        </p:spPr>
        <p:txBody>
          <a:bodyPr wrap="square" lIns="0" tIns="0" rIns="0" bIns="0" rtlCol="0" anchor="ctr"/>
          <a:lstStyle/>
          <a:p>
            <a:pPr marL="0" indent="0" algn="ctr">
              <a:buNone/>
            </a:pPr>
            <a:r>
              <a:rPr lang="en-US" sz="1000" b="1" dirty="0">
                <a:solidFill>
                  <a:srgbClr val="0E7490"/>
                </a:solidFill>
                <a:latin typeface="Calibri" pitchFamily="34" charset="0"/>
                <a:ea typeface="Calibri" pitchFamily="34" charset="-122"/>
                <a:cs typeface="Calibri" pitchFamily="34" charset="-120"/>
              </a:rPr>
              <a:t>In our code</a:t>
            </a:r>
            <a:endParaRPr lang="en-US" sz="1000" dirty="0"/>
          </a:p>
        </p:txBody>
      </p:sp>
      <p:sp>
        <p:nvSpPr>
          <p:cNvPr id="15" name="Text 11"/>
          <p:cNvSpPr txBox="1"/>
          <p:nvPr/>
        </p:nvSpPr>
        <p:spPr>
          <a:xfrm>
            <a:off x="594360" y="3685032"/>
            <a:ext cx="1554480" cy="402336"/>
          </a:xfrm>
          <a:prstGeom prst="rect">
            <a:avLst/>
          </a:prstGeom>
          <a:noFill/>
          <a:ln/>
        </p:spPr>
        <p:txBody>
          <a:bodyPr wrap="square" lIns="0" tIns="0" rIns="0" bIns="0" rtlCol="0" anchor="ctr"/>
          <a:lstStyle/>
          <a:p>
            <a:pPr marL="0" indent="0" algn="ctr">
              <a:buNone/>
            </a:pPr>
            <a:r>
              <a:rPr lang="en-US" sz="1100" b="1" dirty="0">
                <a:solidFill>
                  <a:srgbClr val="0B1F3A"/>
                </a:solidFill>
                <a:latin typeface="Calibri" pitchFamily="34" charset="0"/>
                <a:ea typeface="Calibri" pitchFamily="34" charset="-122"/>
                <a:cs typeface="Calibri" pitchFamily="34" charset="-120"/>
              </a:rPr>
              <a:t>Pump: private fields + getters</a:t>
            </a:r>
            <a:endParaRPr lang="en-US" sz="1100" dirty="0"/>
          </a:p>
        </p:txBody>
      </p:sp>
      <p:sp>
        <p:nvSpPr>
          <p:cNvPr id="16" name="Shape 12"/>
          <p:cNvSpPr/>
          <p:nvPr/>
        </p:nvSpPr>
        <p:spPr>
          <a:xfrm>
            <a:off x="2590495" y="1783080"/>
            <a:ext cx="1828800" cy="2423160"/>
          </a:xfrm>
          <a:prstGeom prst="roundRect">
            <a:avLst>
              <a:gd name="adj" fmla="val 5000"/>
            </a:avLst>
          </a:prstGeom>
          <a:solidFill>
            <a:srgbClr val="F3F7FB"/>
          </a:solidFill>
          <a:ln/>
          <a:effectLst>
            <a:outerShdw blurRad="76200" dist="25400" dir="5400000" algn="bl" rotWithShape="0">
              <a:srgbClr val="000000">
                <a:alpha val="10000"/>
              </a:srgbClr>
            </a:outerShdw>
          </a:effectLst>
        </p:spPr>
      </p:sp>
      <p:sp>
        <p:nvSpPr>
          <p:cNvPr id="17" name="Shape 13"/>
          <p:cNvSpPr/>
          <p:nvPr/>
        </p:nvSpPr>
        <p:spPr>
          <a:xfrm>
            <a:off x="3253435" y="1920240"/>
            <a:ext cx="502920" cy="502920"/>
          </a:xfrm>
          <a:prstGeom prst="ellipse">
            <a:avLst/>
          </a:prstGeom>
          <a:solidFill>
            <a:srgbClr val="0B1F3A"/>
          </a:solidFill>
          <a:ln/>
        </p:spPr>
      </p:sp>
      <p:pic>
        <p:nvPicPr>
          <p:cNvPr id="18" name="Image 2" descr="preencoded.png"/>
          <p:cNvPicPr>
            <a:picLocks noChangeAspect="1"/>
          </p:cNvPicPr>
          <p:nvPr/>
        </p:nvPicPr>
        <p:blipFill>
          <a:blip r:embed="rId5"/>
          <a:stretch>
            <a:fillRect/>
          </a:stretch>
        </p:blipFill>
        <p:spPr>
          <a:xfrm>
            <a:off x="3379165" y="2045970"/>
            <a:ext cx="251460" cy="251460"/>
          </a:xfrm>
          <a:prstGeom prst="rect">
            <a:avLst/>
          </a:prstGeom>
        </p:spPr>
      </p:pic>
      <p:sp>
        <p:nvSpPr>
          <p:cNvPr id="19" name="Text 14"/>
          <p:cNvSpPr txBox="1"/>
          <p:nvPr/>
        </p:nvSpPr>
        <p:spPr>
          <a:xfrm>
            <a:off x="2681935" y="2496312"/>
            <a:ext cx="1645920" cy="292608"/>
          </a:xfrm>
          <a:prstGeom prst="rect">
            <a:avLst/>
          </a:prstGeom>
          <a:noFill/>
          <a:ln/>
        </p:spPr>
        <p:txBody>
          <a:bodyPr wrap="square" lIns="0" tIns="0" rIns="0" bIns="0" rtlCol="0" anchor="ctr"/>
          <a:lstStyle/>
          <a:p>
            <a:pPr marL="0" indent="0" algn="ctr">
              <a:buNone/>
            </a:pPr>
            <a:r>
              <a:rPr lang="en-US" sz="1500" b="1" dirty="0">
                <a:solidFill>
                  <a:srgbClr val="0B1F3A"/>
                </a:solidFill>
                <a:latin typeface="Calibri" pitchFamily="34" charset="0"/>
                <a:ea typeface="Calibri" pitchFamily="34" charset="-122"/>
                <a:cs typeface="Calibri" pitchFamily="34" charset="-120"/>
              </a:rPr>
              <a:t>Inheritance</a:t>
            </a:r>
            <a:endParaRPr lang="en-US" sz="1500" dirty="0"/>
          </a:p>
        </p:txBody>
      </p:sp>
      <p:sp>
        <p:nvSpPr>
          <p:cNvPr id="20" name="Text 15"/>
          <p:cNvSpPr txBox="1"/>
          <p:nvPr/>
        </p:nvSpPr>
        <p:spPr>
          <a:xfrm>
            <a:off x="2727655" y="2816352"/>
            <a:ext cx="1554480" cy="566928"/>
          </a:xfrm>
          <a:prstGeom prst="rect">
            <a:avLst/>
          </a:prstGeom>
          <a:noFill/>
          <a:ln/>
        </p:spPr>
        <p:txBody>
          <a:bodyPr wrap="square" lIns="0" tIns="0" rIns="0" bIns="0" rtlCol="0" anchor="t"/>
          <a:lstStyle/>
          <a:p>
            <a:pPr marL="0" indent="0" algn="ctr">
              <a:buNone/>
            </a:pPr>
            <a:r>
              <a:rPr lang="en-US" sz="1150" dirty="0">
                <a:solidFill>
                  <a:srgbClr val="0B1F3A"/>
                </a:solidFill>
                <a:latin typeface="Calibri" pitchFamily="34" charset="0"/>
                <a:ea typeface="Calibri" pitchFamily="34" charset="-122"/>
                <a:cs typeface="Calibri" pitchFamily="34" charset="-120"/>
              </a:rPr>
              <a:t>A child class reuses a parent class.</a:t>
            </a:r>
            <a:endParaRPr lang="en-US" sz="1150" dirty="0"/>
          </a:p>
        </p:txBody>
      </p:sp>
      <p:sp>
        <p:nvSpPr>
          <p:cNvPr id="21" name="Shape 16"/>
          <p:cNvSpPr/>
          <p:nvPr/>
        </p:nvSpPr>
        <p:spPr>
          <a:xfrm>
            <a:off x="2681935" y="3474720"/>
            <a:ext cx="1645920" cy="640080"/>
          </a:xfrm>
          <a:prstGeom prst="roundRect">
            <a:avLst>
              <a:gd name="adj" fmla="val 11429"/>
            </a:avLst>
          </a:prstGeom>
          <a:solidFill>
            <a:srgbClr val="E8F7FB"/>
          </a:solidFill>
          <a:ln/>
        </p:spPr>
      </p:sp>
      <p:sp>
        <p:nvSpPr>
          <p:cNvPr id="22" name="Text 17"/>
          <p:cNvSpPr txBox="1"/>
          <p:nvPr/>
        </p:nvSpPr>
        <p:spPr>
          <a:xfrm>
            <a:off x="2681935" y="3502152"/>
            <a:ext cx="1645920" cy="182880"/>
          </a:xfrm>
          <a:prstGeom prst="rect">
            <a:avLst/>
          </a:prstGeom>
          <a:noFill/>
          <a:ln/>
        </p:spPr>
        <p:txBody>
          <a:bodyPr wrap="square" lIns="0" tIns="0" rIns="0" bIns="0" rtlCol="0" anchor="ctr"/>
          <a:lstStyle/>
          <a:p>
            <a:pPr marL="0" indent="0" algn="ctr">
              <a:buNone/>
            </a:pPr>
            <a:r>
              <a:rPr lang="en-US" sz="1000" b="1" dirty="0">
                <a:solidFill>
                  <a:srgbClr val="0E7490"/>
                </a:solidFill>
                <a:latin typeface="Calibri" pitchFamily="34" charset="0"/>
                <a:ea typeface="Calibri" pitchFamily="34" charset="-122"/>
                <a:cs typeface="Calibri" pitchFamily="34" charset="-120"/>
              </a:rPr>
              <a:t>In our code</a:t>
            </a:r>
            <a:endParaRPr lang="en-US" sz="1000" dirty="0"/>
          </a:p>
        </p:txBody>
      </p:sp>
      <p:sp>
        <p:nvSpPr>
          <p:cNvPr id="23" name="Text 18"/>
          <p:cNvSpPr txBox="1"/>
          <p:nvPr/>
        </p:nvSpPr>
        <p:spPr>
          <a:xfrm>
            <a:off x="2727655" y="3685032"/>
            <a:ext cx="1554480" cy="402336"/>
          </a:xfrm>
          <a:prstGeom prst="rect">
            <a:avLst/>
          </a:prstGeom>
          <a:noFill/>
          <a:ln/>
        </p:spPr>
        <p:txBody>
          <a:bodyPr wrap="square" lIns="0" tIns="0" rIns="0" bIns="0" rtlCol="0" anchor="ctr"/>
          <a:lstStyle/>
          <a:p>
            <a:pPr marL="0" indent="0" algn="ctr">
              <a:buNone/>
            </a:pPr>
            <a:r>
              <a:rPr lang="en-US" sz="1100" b="1" dirty="0">
                <a:solidFill>
                  <a:srgbClr val="0B1F3A"/>
                </a:solidFill>
                <a:latin typeface="Calibri" pitchFamily="34" charset="0"/>
                <a:ea typeface="Calibri" pitchFamily="34" charset="-122"/>
                <a:cs typeface="Calibri" pitchFamily="34" charset="-120"/>
              </a:rPr>
              <a:t>Pump extends FuelStation</a:t>
            </a:r>
            <a:endParaRPr lang="en-US" sz="1100" dirty="0"/>
          </a:p>
        </p:txBody>
      </p:sp>
      <p:sp>
        <p:nvSpPr>
          <p:cNvPr id="24" name="Shape 19"/>
          <p:cNvSpPr/>
          <p:nvPr/>
        </p:nvSpPr>
        <p:spPr>
          <a:xfrm>
            <a:off x="4723790" y="1783080"/>
            <a:ext cx="1828800" cy="2423160"/>
          </a:xfrm>
          <a:prstGeom prst="roundRect">
            <a:avLst>
              <a:gd name="adj" fmla="val 5000"/>
            </a:avLst>
          </a:prstGeom>
          <a:solidFill>
            <a:srgbClr val="F3F7FB"/>
          </a:solidFill>
          <a:ln/>
          <a:effectLst>
            <a:outerShdw blurRad="76200" dist="25400" dir="5400000" algn="bl" rotWithShape="0">
              <a:srgbClr val="000000">
                <a:alpha val="10000"/>
              </a:srgbClr>
            </a:outerShdw>
          </a:effectLst>
        </p:spPr>
      </p:sp>
      <p:sp>
        <p:nvSpPr>
          <p:cNvPr id="25" name="Shape 20"/>
          <p:cNvSpPr/>
          <p:nvPr/>
        </p:nvSpPr>
        <p:spPr>
          <a:xfrm>
            <a:off x="5386730" y="1920240"/>
            <a:ext cx="502920" cy="502920"/>
          </a:xfrm>
          <a:prstGeom prst="ellipse">
            <a:avLst/>
          </a:prstGeom>
          <a:solidFill>
            <a:srgbClr val="0B1F3A"/>
          </a:solidFill>
          <a:ln/>
        </p:spPr>
      </p:sp>
      <p:pic>
        <p:nvPicPr>
          <p:cNvPr id="26" name="Image 3" descr="preencoded.png"/>
          <p:cNvPicPr>
            <a:picLocks noChangeAspect="1"/>
          </p:cNvPicPr>
          <p:nvPr/>
        </p:nvPicPr>
        <p:blipFill>
          <a:blip r:embed="rId6"/>
          <a:stretch>
            <a:fillRect/>
          </a:stretch>
        </p:blipFill>
        <p:spPr>
          <a:xfrm>
            <a:off x="5512460" y="2045970"/>
            <a:ext cx="251460" cy="251460"/>
          </a:xfrm>
          <a:prstGeom prst="rect">
            <a:avLst/>
          </a:prstGeom>
        </p:spPr>
      </p:pic>
      <p:sp>
        <p:nvSpPr>
          <p:cNvPr id="27" name="Text 21"/>
          <p:cNvSpPr txBox="1"/>
          <p:nvPr/>
        </p:nvSpPr>
        <p:spPr>
          <a:xfrm>
            <a:off x="4815230" y="2496312"/>
            <a:ext cx="1645920" cy="292608"/>
          </a:xfrm>
          <a:prstGeom prst="rect">
            <a:avLst/>
          </a:prstGeom>
          <a:noFill/>
          <a:ln/>
        </p:spPr>
        <p:txBody>
          <a:bodyPr wrap="square" lIns="0" tIns="0" rIns="0" bIns="0" rtlCol="0" anchor="ctr"/>
          <a:lstStyle/>
          <a:p>
            <a:pPr marL="0" indent="0" algn="ctr">
              <a:buNone/>
            </a:pPr>
            <a:r>
              <a:rPr lang="en-US" sz="1500" b="1" dirty="0">
                <a:solidFill>
                  <a:srgbClr val="0B1F3A"/>
                </a:solidFill>
                <a:latin typeface="Calibri" pitchFamily="34" charset="0"/>
                <a:ea typeface="Calibri" pitchFamily="34" charset="-122"/>
                <a:cs typeface="Calibri" pitchFamily="34" charset="-120"/>
              </a:rPr>
              <a:t>Polymorphism</a:t>
            </a:r>
            <a:endParaRPr lang="en-US" sz="1500" dirty="0"/>
          </a:p>
        </p:txBody>
      </p:sp>
      <p:sp>
        <p:nvSpPr>
          <p:cNvPr id="28" name="Text 22"/>
          <p:cNvSpPr txBox="1"/>
          <p:nvPr/>
        </p:nvSpPr>
        <p:spPr>
          <a:xfrm>
            <a:off x="4860950" y="2816352"/>
            <a:ext cx="1554480" cy="566928"/>
          </a:xfrm>
          <a:prstGeom prst="rect">
            <a:avLst/>
          </a:prstGeom>
          <a:noFill/>
          <a:ln/>
        </p:spPr>
        <p:txBody>
          <a:bodyPr wrap="square" lIns="0" tIns="0" rIns="0" bIns="0" rtlCol="0" anchor="t"/>
          <a:lstStyle/>
          <a:p>
            <a:pPr marL="0" indent="0" algn="ctr">
              <a:buNone/>
            </a:pPr>
            <a:r>
              <a:rPr lang="en-US" sz="1150" dirty="0">
                <a:solidFill>
                  <a:srgbClr val="0B1F3A"/>
                </a:solidFill>
                <a:latin typeface="Calibri" pitchFamily="34" charset="0"/>
                <a:ea typeface="Calibri" pitchFamily="34" charset="-122"/>
                <a:cs typeface="Calibri" pitchFamily="34" charset="-120"/>
              </a:rPr>
              <a:t>Same method, different behaviour.</a:t>
            </a:r>
            <a:endParaRPr lang="en-US" sz="1150" dirty="0"/>
          </a:p>
        </p:txBody>
      </p:sp>
      <p:sp>
        <p:nvSpPr>
          <p:cNvPr id="29" name="Shape 23"/>
          <p:cNvSpPr/>
          <p:nvPr/>
        </p:nvSpPr>
        <p:spPr>
          <a:xfrm>
            <a:off x="4815230" y="3474720"/>
            <a:ext cx="1645920" cy="640080"/>
          </a:xfrm>
          <a:prstGeom prst="roundRect">
            <a:avLst>
              <a:gd name="adj" fmla="val 11429"/>
            </a:avLst>
          </a:prstGeom>
          <a:solidFill>
            <a:srgbClr val="E8F7FB"/>
          </a:solidFill>
          <a:ln/>
        </p:spPr>
      </p:sp>
      <p:sp>
        <p:nvSpPr>
          <p:cNvPr id="30" name="Text 24"/>
          <p:cNvSpPr txBox="1"/>
          <p:nvPr/>
        </p:nvSpPr>
        <p:spPr>
          <a:xfrm>
            <a:off x="4815230" y="3502152"/>
            <a:ext cx="1645920" cy="182880"/>
          </a:xfrm>
          <a:prstGeom prst="rect">
            <a:avLst/>
          </a:prstGeom>
          <a:noFill/>
          <a:ln/>
        </p:spPr>
        <p:txBody>
          <a:bodyPr wrap="square" lIns="0" tIns="0" rIns="0" bIns="0" rtlCol="0" anchor="ctr"/>
          <a:lstStyle/>
          <a:p>
            <a:pPr marL="0" indent="0" algn="ctr">
              <a:buNone/>
            </a:pPr>
            <a:r>
              <a:rPr lang="en-US" sz="1000" b="1" dirty="0">
                <a:solidFill>
                  <a:srgbClr val="0E7490"/>
                </a:solidFill>
                <a:latin typeface="Calibri" pitchFamily="34" charset="0"/>
                <a:ea typeface="Calibri" pitchFamily="34" charset="-122"/>
                <a:cs typeface="Calibri" pitchFamily="34" charset="-120"/>
              </a:rPr>
              <a:t>In our code</a:t>
            </a:r>
            <a:endParaRPr lang="en-US" sz="1000" dirty="0"/>
          </a:p>
        </p:txBody>
      </p:sp>
      <p:sp>
        <p:nvSpPr>
          <p:cNvPr id="31" name="Text 25"/>
          <p:cNvSpPr txBox="1"/>
          <p:nvPr/>
        </p:nvSpPr>
        <p:spPr>
          <a:xfrm>
            <a:off x="4860950" y="3685032"/>
            <a:ext cx="1554480" cy="402336"/>
          </a:xfrm>
          <a:prstGeom prst="rect">
            <a:avLst/>
          </a:prstGeom>
          <a:noFill/>
          <a:ln/>
        </p:spPr>
        <p:txBody>
          <a:bodyPr wrap="square" lIns="0" tIns="0" rIns="0" bIns="0" rtlCol="0" anchor="ctr"/>
          <a:lstStyle/>
          <a:p>
            <a:pPr marL="0" indent="0" algn="ctr">
              <a:buNone/>
            </a:pPr>
            <a:r>
              <a:rPr lang="en-US" sz="1100" b="1" dirty="0">
                <a:solidFill>
                  <a:srgbClr val="0B1F3A"/>
                </a:solidFill>
                <a:latin typeface="Calibri" pitchFamily="34" charset="0"/>
                <a:ea typeface="Calibri" pitchFamily="34" charset="-122"/>
                <a:cs typeface="Calibri" pitchFamily="34" charset="-120"/>
              </a:rPr>
              <a:t>@Override showInfo() in Pump</a:t>
            </a:r>
            <a:endParaRPr lang="en-US" sz="1100" dirty="0"/>
          </a:p>
        </p:txBody>
      </p:sp>
      <p:sp>
        <p:nvSpPr>
          <p:cNvPr id="32" name="Shape 26"/>
          <p:cNvSpPr/>
          <p:nvPr/>
        </p:nvSpPr>
        <p:spPr>
          <a:xfrm>
            <a:off x="6857086" y="1783080"/>
            <a:ext cx="1828800" cy="2423160"/>
          </a:xfrm>
          <a:prstGeom prst="roundRect">
            <a:avLst>
              <a:gd name="adj" fmla="val 5000"/>
            </a:avLst>
          </a:prstGeom>
          <a:solidFill>
            <a:srgbClr val="F3F7FB"/>
          </a:solidFill>
          <a:ln/>
          <a:effectLst>
            <a:outerShdw blurRad="76200" dist="25400" dir="5400000" algn="bl" rotWithShape="0">
              <a:srgbClr val="000000">
                <a:alpha val="10000"/>
              </a:srgbClr>
            </a:outerShdw>
          </a:effectLst>
        </p:spPr>
      </p:sp>
      <p:sp>
        <p:nvSpPr>
          <p:cNvPr id="33" name="Shape 27"/>
          <p:cNvSpPr/>
          <p:nvPr/>
        </p:nvSpPr>
        <p:spPr>
          <a:xfrm>
            <a:off x="7520026" y="1920240"/>
            <a:ext cx="502920" cy="502920"/>
          </a:xfrm>
          <a:prstGeom prst="ellipse">
            <a:avLst/>
          </a:prstGeom>
          <a:solidFill>
            <a:srgbClr val="0B1F3A"/>
          </a:solidFill>
          <a:ln/>
        </p:spPr>
      </p:sp>
      <p:pic>
        <p:nvPicPr>
          <p:cNvPr id="34" name="Image 4" descr="preencoded.png"/>
          <p:cNvPicPr>
            <a:picLocks noChangeAspect="1"/>
          </p:cNvPicPr>
          <p:nvPr/>
        </p:nvPicPr>
        <p:blipFill>
          <a:blip r:embed="rId7"/>
          <a:stretch>
            <a:fillRect/>
          </a:stretch>
        </p:blipFill>
        <p:spPr>
          <a:xfrm>
            <a:off x="7645756" y="2045970"/>
            <a:ext cx="251460" cy="251460"/>
          </a:xfrm>
          <a:prstGeom prst="rect">
            <a:avLst/>
          </a:prstGeom>
        </p:spPr>
      </p:pic>
      <p:sp>
        <p:nvSpPr>
          <p:cNvPr id="35" name="Text 28"/>
          <p:cNvSpPr txBox="1"/>
          <p:nvPr/>
        </p:nvSpPr>
        <p:spPr>
          <a:xfrm>
            <a:off x="6948526" y="2496312"/>
            <a:ext cx="1645920" cy="292608"/>
          </a:xfrm>
          <a:prstGeom prst="rect">
            <a:avLst/>
          </a:prstGeom>
          <a:noFill/>
          <a:ln/>
        </p:spPr>
        <p:txBody>
          <a:bodyPr wrap="square" lIns="0" tIns="0" rIns="0" bIns="0" rtlCol="0" anchor="ctr"/>
          <a:lstStyle/>
          <a:p>
            <a:pPr marL="0" indent="0" algn="ctr">
              <a:buNone/>
            </a:pPr>
            <a:r>
              <a:rPr lang="en-US" sz="1500" b="1" dirty="0">
                <a:solidFill>
                  <a:srgbClr val="0B1F3A"/>
                </a:solidFill>
                <a:latin typeface="Calibri" pitchFamily="34" charset="0"/>
                <a:ea typeface="Calibri" pitchFamily="34" charset="-122"/>
                <a:cs typeface="Calibri" pitchFamily="34" charset="-120"/>
              </a:rPr>
              <a:t>Abstraction</a:t>
            </a:r>
            <a:endParaRPr lang="en-US" sz="1500" dirty="0"/>
          </a:p>
        </p:txBody>
      </p:sp>
      <p:sp>
        <p:nvSpPr>
          <p:cNvPr id="36" name="Text 29"/>
          <p:cNvSpPr txBox="1"/>
          <p:nvPr/>
        </p:nvSpPr>
        <p:spPr>
          <a:xfrm>
            <a:off x="6994246" y="2816352"/>
            <a:ext cx="1554480" cy="566928"/>
          </a:xfrm>
          <a:prstGeom prst="rect">
            <a:avLst/>
          </a:prstGeom>
          <a:noFill/>
          <a:ln/>
        </p:spPr>
        <p:txBody>
          <a:bodyPr wrap="square" lIns="0" tIns="0" rIns="0" bIns="0" rtlCol="0" anchor="t"/>
          <a:lstStyle/>
          <a:p>
            <a:pPr marL="0" indent="0" algn="ctr">
              <a:buNone/>
            </a:pPr>
            <a:r>
              <a:rPr lang="en-US" sz="1150" dirty="0">
                <a:solidFill>
                  <a:srgbClr val="0B1F3A"/>
                </a:solidFill>
                <a:latin typeface="Calibri" pitchFamily="34" charset="0"/>
                <a:ea typeface="Calibri" pitchFamily="34" charset="-122"/>
                <a:cs typeface="Calibri" pitchFamily="34" charset="-120"/>
              </a:rPr>
              <a:t>Show what matters, hide the details.</a:t>
            </a:r>
            <a:endParaRPr lang="en-US" sz="1150" dirty="0"/>
          </a:p>
        </p:txBody>
      </p:sp>
      <p:sp>
        <p:nvSpPr>
          <p:cNvPr id="37" name="Shape 30"/>
          <p:cNvSpPr/>
          <p:nvPr/>
        </p:nvSpPr>
        <p:spPr>
          <a:xfrm>
            <a:off x="6948526" y="3474720"/>
            <a:ext cx="1645920" cy="640080"/>
          </a:xfrm>
          <a:prstGeom prst="roundRect">
            <a:avLst>
              <a:gd name="adj" fmla="val 11429"/>
            </a:avLst>
          </a:prstGeom>
          <a:solidFill>
            <a:srgbClr val="E8F7FB"/>
          </a:solidFill>
          <a:ln/>
        </p:spPr>
      </p:sp>
      <p:sp>
        <p:nvSpPr>
          <p:cNvPr id="38" name="Text 31"/>
          <p:cNvSpPr txBox="1"/>
          <p:nvPr/>
        </p:nvSpPr>
        <p:spPr>
          <a:xfrm>
            <a:off x="6948526" y="3502152"/>
            <a:ext cx="1645920" cy="182880"/>
          </a:xfrm>
          <a:prstGeom prst="rect">
            <a:avLst/>
          </a:prstGeom>
          <a:noFill/>
          <a:ln/>
        </p:spPr>
        <p:txBody>
          <a:bodyPr wrap="square" lIns="0" tIns="0" rIns="0" bIns="0" rtlCol="0" anchor="ctr"/>
          <a:lstStyle/>
          <a:p>
            <a:pPr marL="0" indent="0" algn="ctr">
              <a:buNone/>
            </a:pPr>
            <a:r>
              <a:rPr lang="en-US" sz="1000" b="1" dirty="0">
                <a:solidFill>
                  <a:srgbClr val="0E7490"/>
                </a:solidFill>
                <a:latin typeface="Calibri" pitchFamily="34" charset="0"/>
                <a:ea typeface="Calibri" pitchFamily="34" charset="-122"/>
                <a:cs typeface="Calibri" pitchFamily="34" charset="-120"/>
              </a:rPr>
              <a:t>In our code</a:t>
            </a:r>
            <a:endParaRPr lang="en-US" sz="1000" dirty="0"/>
          </a:p>
        </p:txBody>
      </p:sp>
      <p:sp>
        <p:nvSpPr>
          <p:cNvPr id="39" name="Text 32"/>
          <p:cNvSpPr txBox="1"/>
          <p:nvPr/>
        </p:nvSpPr>
        <p:spPr>
          <a:xfrm>
            <a:off x="6994246" y="3685032"/>
            <a:ext cx="1554480" cy="402336"/>
          </a:xfrm>
          <a:prstGeom prst="rect">
            <a:avLst/>
          </a:prstGeom>
          <a:noFill/>
          <a:ln/>
        </p:spPr>
        <p:txBody>
          <a:bodyPr wrap="square" lIns="0" tIns="0" rIns="0" bIns="0" rtlCol="0" anchor="ctr"/>
          <a:lstStyle/>
          <a:p>
            <a:pPr marL="0" indent="0" algn="ctr">
              <a:buNone/>
            </a:pPr>
            <a:r>
              <a:rPr lang="en-US" sz="1100" b="1" dirty="0">
                <a:solidFill>
                  <a:srgbClr val="0B1F3A"/>
                </a:solidFill>
                <a:latin typeface="Calibri" pitchFamily="34" charset="0"/>
                <a:ea typeface="Calibri" pitchFamily="34" charset="-122"/>
                <a:cs typeface="Calibri" pitchFamily="34" charset="-120"/>
              </a:rPr>
              <a:t>abstract class FuelStation</a:t>
            </a:r>
            <a:endParaRPr lang="en-US" sz="1100" dirty="0"/>
          </a:p>
        </p:txBody>
      </p:sp>
      <p:sp>
        <p:nvSpPr>
          <p:cNvPr id="40" name="Shape 33"/>
          <p:cNvSpPr/>
          <p:nvPr/>
        </p:nvSpPr>
        <p:spPr>
          <a:xfrm>
            <a:off x="457200" y="4279392"/>
            <a:ext cx="8229600" cy="237744"/>
          </a:xfrm>
          <a:prstGeom prst="roundRect">
            <a:avLst>
              <a:gd name="adj" fmla="val 19231"/>
            </a:avLst>
          </a:prstGeom>
          <a:solidFill>
            <a:srgbClr val="12335C"/>
          </a:solidFill>
          <a:ln/>
        </p:spPr>
      </p:sp>
      <p:sp>
        <p:nvSpPr>
          <p:cNvPr id="41" name="Text 34"/>
          <p:cNvSpPr txBox="1"/>
          <p:nvPr/>
        </p:nvSpPr>
        <p:spPr>
          <a:xfrm>
            <a:off x="457200" y="4773168"/>
            <a:ext cx="4572000" cy="201168"/>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Smart Fuel Pump Management System</a:t>
            </a:r>
            <a:endParaRPr lang="en-US" sz="1000" dirty="0"/>
          </a:p>
        </p:txBody>
      </p:sp>
      <p:sp>
        <p:nvSpPr>
          <p:cNvPr id="42" name="Text 35"/>
          <p:cNvSpPr txBox="1"/>
          <p:nvPr/>
        </p:nvSpPr>
        <p:spPr>
          <a:xfrm>
            <a:off x="7772400" y="4773168"/>
            <a:ext cx="914400" cy="201168"/>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6400800" cy="228600"/>
          </a:xfrm>
          <a:prstGeom prst="rect">
            <a:avLst/>
          </a:prstGeom>
          <a:noFill/>
          <a:ln/>
        </p:spPr>
        <p:txBody>
          <a:bodyPr wrap="square" lIns="0" tIns="0" rIns="0" bIns="0" rtlCol="0" anchor="ctr"/>
          <a:lstStyle/>
          <a:p>
            <a:pPr marL="0" indent="0">
              <a:buNone/>
            </a:pPr>
            <a:r>
              <a:rPr lang="en-US" sz="1100" b="1" kern="0" spc="300" dirty="0">
                <a:solidFill>
                  <a:srgbClr val="0E7490"/>
                </a:solidFill>
                <a:latin typeface="Calibri" pitchFamily="34" charset="0"/>
                <a:ea typeface="Calibri" pitchFamily="34" charset="-122"/>
                <a:cs typeface="Calibri" pitchFamily="34" charset="-120"/>
              </a:rPr>
              <a:t>OOP · PILLAR 1</a:t>
            </a:r>
            <a:endParaRPr lang="en-US" sz="1100" dirty="0"/>
          </a:p>
        </p:txBody>
      </p:sp>
      <p:sp>
        <p:nvSpPr>
          <p:cNvPr id="3" name="Text 1"/>
          <p:cNvSpPr txBox="1"/>
          <p:nvPr/>
        </p:nvSpPr>
        <p:spPr>
          <a:xfrm>
            <a:off x="457200" y="502920"/>
            <a:ext cx="7498080" cy="548640"/>
          </a:xfrm>
          <a:prstGeom prst="rect">
            <a:avLst/>
          </a:prstGeom>
          <a:noFill/>
          <a:ln/>
        </p:spPr>
        <p:txBody>
          <a:bodyPr wrap="square" lIns="0" tIns="0" rIns="0" bIns="0" rtlCol="0" anchor="ctr"/>
          <a:lstStyle/>
          <a:p>
            <a:pPr marL="0" indent="0">
              <a:buNone/>
            </a:pPr>
            <a:r>
              <a:rPr lang="en-US" sz="3000" b="1" dirty="0">
                <a:solidFill>
                  <a:srgbClr val="0B1F3A"/>
                </a:solidFill>
                <a:latin typeface="Calibri" pitchFamily="34" charset="0"/>
                <a:ea typeface="Calibri" pitchFamily="34" charset="-122"/>
                <a:cs typeface="Calibri" pitchFamily="34" charset="-120"/>
              </a:rPr>
              <a:t>Encapsulation</a:t>
            </a:r>
            <a:endParaRPr lang="en-US" sz="3000" dirty="0"/>
          </a:p>
        </p:txBody>
      </p:sp>
      <p:sp>
        <p:nvSpPr>
          <p:cNvPr id="4" name="Shape 2"/>
          <p:cNvSpPr/>
          <p:nvPr/>
        </p:nvSpPr>
        <p:spPr>
          <a:xfrm>
            <a:off x="8229600" y="384048"/>
            <a:ext cx="457200" cy="457200"/>
          </a:xfrm>
          <a:prstGeom prst="ellipse">
            <a:avLst/>
          </a:prstGeom>
          <a:solidFill>
            <a:srgbClr val="0B1F3A"/>
          </a:solidFill>
          <a:ln/>
        </p:spPr>
      </p:sp>
      <p:pic>
        <p:nvPicPr>
          <p:cNvPr id="5" name="Image 0" descr="preencoded.png"/>
          <p:cNvPicPr>
            <a:picLocks noChangeAspect="1"/>
          </p:cNvPicPr>
          <p:nvPr/>
        </p:nvPicPr>
        <p:blipFill>
          <a:blip r:embed="rId3"/>
          <a:stretch>
            <a:fillRect/>
          </a:stretch>
        </p:blipFill>
        <p:spPr>
          <a:xfrm>
            <a:off x="8343900" y="498348"/>
            <a:ext cx="228600" cy="228600"/>
          </a:xfrm>
          <a:prstGeom prst="rect">
            <a:avLst/>
          </a:prstGeom>
        </p:spPr>
      </p:pic>
      <p:sp>
        <p:nvSpPr>
          <p:cNvPr id="6" name="Shape 3"/>
          <p:cNvSpPr/>
          <p:nvPr/>
        </p:nvSpPr>
        <p:spPr>
          <a:xfrm>
            <a:off x="457200" y="1097280"/>
            <a:ext cx="8229600" cy="502920"/>
          </a:xfrm>
          <a:prstGeom prst="roundRect">
            <a:avLst>
              <a:gd name="adj" fmla="val 18182"/>
            </a:avLst>
          </a:prstGeom>
          <a:solidFill>
            <a:srgbClr val="E8F7FB"/>
          </a:solidFill>
          <a:ln/>
        </p:spPr>
      </p:sp>
      <p:sp>
        <p:nvSpPr>
          <p:cNvPr id="7" name="Text 4"/>
          <p:cNvSpPr txBox="1"/>
          <p:nvPr/>
        </p:nvSpPr>
        <p:spPr>
          <a:xfrm>
            <a:off x="640080" y="1097280"/>
            <a:ext cx="7863840" cy="502920"/>
          </a:xfrm>
          <a:prstGeom prst="rect">
            <a:avLst/>
          </a:prstGeom>
          <a:noFill/>
          <a:ln/>
        </p:spPr>
        <p:txBody>
          <a:bodyPr wrap="square" lIns="0" tIns="0" rIns="0" bIns="0" rtlCol="0" anchor="ctr"/>
          <a:lstStyle/>
          <a:p>
            <a:pPr marL="0" indent="0">
              <a:buNone/>
            </a:pPr>
            <a:r>
              <a:rPr lang="en-US" sz="1250" b="1" dirty="0">
                <a:solidFill>
                  <a:srgbClr val="0E7490"/>
                </a:solidFill>
                <a:latin typeface="Calibri" pitchFamily="34" charset="0"/>
                <a:ea typeface="Calibri" pitchFamily="34" charset="-122"/>
                <a:cs typeface="Calibri" pitchFamily="34" charset="-120"/>
              </a:rPr>
              <a:t>Definition: </a:t>
            </a:r>
            <a:r>
              <a:rPr lang="en-US" sz="1250" i="1" dirty="0">
                <a:solidFill>
                  <a:srgbClr val="0B1F3A"/>
                </a:solidFill>
                <a:latin typeface="Calibri" pitchFamily="34" charset="0"/>
                <a:ea typeface="Calibri" pitchFamily="34" charset="-122"/>
                <a:cs typeface="Calibri" pitchFamily="34" charset="-120"/>
              </a:rPr>
              <a:t>Encapsulation means keeping data and the methods that work with that data together inside a class and controlling access to the data.</a:t>
            </a:r>
            <a:endParaRPr lang="en-US" sz="1250" dirty="0"/>
          </a:p>
        </p:txBody>
      </p:sp>
      <p:sp>
        <p:nvSpPr>
          <p:cNvPr id="8" name="Shape 5"/>
          <p:cNvSpPr/>
          <p:nvPr/>
        </p:nvSpPr>
        <p:spPr>
          <a:xfrm>
            <a:off x="457200" y="1737360"/>
            <a:ext cx="4480560" cy="2157984"/>
          </a:xfrm>
          <a:prstGeom prst="roundRect">
            <a:avLst>
              <a:gd name="adj" fmla="val 3390"/>
            </a:avLst>
          </a:prstGeom>
          <a:solidFill>
            <a:srgbClr val="0A1A30"/>
          </a:solidFill>
          <a:ln/>
        </p:spPr>
      </p:sp>
      <p:sp>
        <p:nvSpPr>
          <p:cNvPr id="9" name="Text 6"/>
          <p:cNvSpPr txBox="1"/>
          <p:nvPr/>
        </p:nvSpPr>
        <p:spPr>
          <a:xfrm>
            <a:off x="621792" y="1810512"/>
            <a:ext cx="4151376" cy="201168"/>
          </a:xfrm>
          <a:prstGeom prst="rect">
            <a:avLst/>
          </a:prstGeom>
          <a:noFill/>
          <a:ln/>
        </p:spPr>
        <p:txBody>
          <a:bodyPr wrap="square" lIns="0" tIns="0" rIns="0" bIns="0" rtlCol="0" anchor="ctr"/>
          <a:lstStyle/>
          <a:p>
            <a:pPr marL="0" indent="0">
              <a:buNone/>
            </a:pPr>
            <a:r>
              <a:rPr lang="en-US" sz="950" b="1" kern="0" spc="100" dirty="0">
                <a:solidFill>
                  <a:srgbClr val="67C7E0"/>
                </a:solidFill>
                <a:latin typeface="Calibri" pitchFamily="34" charset="0"/>
                <a:ea typeface="Calibri" pitchFamily="34" charset="-122"/>
                <a:cs typeface="Calibri" pitchFamily="34" charset="-120"/>
              </a:rPr>
              <a:t>class Pump</a:t>
            </a:r>
            <a:endParaRPr lang="en-US" sz="950" dirty="0"/>
          </a:p>
        </p:txBody>
      </p:sp>
      <p:sp>
        <p:nvSpPr>
          <p:cNvPr id="10" name="Text 7"/>
          <p:cNvSpPr txBox="1"/>
          <p:nvPr/>
        </p:nvSpPr>
        <p:spPr>
          <a:xfrm>
            <a:off x="621792" y="2048256"/>
            <a:ext cx="4151376" cy="173736"/>
          </a:xfrm>
          <a:prstGeom prst="rect">
            <a:avLst/>
          </a:prstGeom>
          <a:noFill/>
          <a:ln/>
        </p:spPr>
        <p:txBody>
          <a:bodyPr wrap="square" lIns="0" tIns="0" rIns="0" bIns="0" rtlCol="0" anchor="ctr"/>
          <a:lstStyle/>
          <a:p>
            <a:pPr marL="0" indent="0">
              <a:buNone/>
            </a:pPr>
            <a:r>
              <a:rPr lang="en-US" sz="1000" dirty="0">
                <a:solidFill>
                  <a:srgbClr val="C9D6E8"/>
                </a:solidFill>
                <a:latin typeface="Courier New" pitchFamily="34" charset="0"/>
                <a:ea typeface="Courier New" pitchFamily="34" charset="-122"/>
                <a:cs typeface="Courier New" pitchFamily="34" charset="-120"/>
              </a:rPr>
              <a:t>class Pump extends FuelStation {</a:t>
            </a:r>
            <a:endParaRPr lang="en-US" sz="1000" dirty="0"/>
          </a:p>
        </p:txBody>
      </p:sp>
      <p:sp>
        <p:nvSpPr>
          <p:cNvPr id="11" name="Shape 8"/>
          <p:cNvSpPr/>
          <p:nvPr/>
        </p:nvSpPr>
        <p:spPr>
          <a:xfrm>
            <a:off x="530352" y="2221992"/>
            <a:ext cx="4334256" cy="173736"/>
          </a:xfrm>
          <a:prstGeom prst="rect">
            <a:avLst/>
          </a:prstGeom>
          <a:solidFill>
            <a:srgbClr val="155E75"/>
          </a:solidFill>
          <a:ln/>
        </p:spPr>
      </p:sp>
      <p:sp>
        <p:nvSpPr>
          <p:cNvPr id="12" name="Text 9"/>
          <p:cNvSpPr txBox="1"/>
          <p:nvPr/>
        </p:nvSpPr>
        <p:spPr>
          <a:xfrm>
            <a:off x="926592" y="2221992"/>
            <a:ext cx="3846576" cy="173736"/>
          </a:xfrm>
          <a:prstGeom prst="rect">
            <a:avLst/>
          </a:prstGeom>
          <a:noFill/>
          <a:ln/>
        </p:spPr>
        <p:txBody>
          <a:bodyPr wrap="square" lIns="0" tIns="0" rIns="0" bIns="0" rtlCol="0" anchor="ctr"/>
          <a:lstStyle/>
          <a:p>
            <a:pPr marL="0" indent="0">
              <a:buNone/>
            </a:pPr>
            <a:r>
              <a:rPr lang="en-US" sz="1000" b="1" dirty="0">
                <a:solidFill>
                  <a:srgbClr val="FFFFFF"/>
                </a:solidFill>
                <a:latin typeface="Courier New" pitchFamily="34" charset="0"/>
                <a:ea typeface="Courier New" pitchFamily="34" charset="-122"/>
                <a:cs typeface="Courier New" pitchFamily="34" charset="-120"/>
              </a:rPr>
              <a:t>private String name;</a:t>
            </a:r>
            <a:endParaRPr lang="en-US" sz="1000" dirty="0"/>
          </a:p>
        </p:txBody>
      </p:sp>
      <p:sp>
        <p:nvSpPr>
          <p:cNvPr id="13" name="Text 10"/>
          <p:cNvSpPr txBox="1"/>
          <p:nvPr/>
        </p:nvSpPr>
        <p:spPr>
          <a:xfrm>
            <a:off x="3108960" y="2221992"/>
            <a:ext cx="1664208" cy="173736"/>
          </a:xfrm>
          <a:prstGeom prst="rect">
            <a:avLst/>
          </a:prstGeom>
          <a:noFill/>
          <a:ln/>
        </p:spPr>
        <p:txBody>
          <a:bodyPr wrap="square" lIns="0" tIns="0" rIns="0" bIns="0" rtlCol="0" anchor="ctr"/>
          <a:lstStyle/>
          <a:p>
            <a:pPr marL="0" indent="0" algn="r">
              <a:buNone/>
            </a:pPr>
            <a:r>
              <a:rPr lang="en-US" sz="950" b="1" dirty="0">
                <a:solidFill>
                  <a:srgbClr val="22D3EE"/>
                </a:solidFill>
                <a:latin typeface="Calibri" pitchFamily="34" charset="0"/>
                <a:ea typeface="Calibri" pitchFamily="34" charset="-122"/>
                <a:cs typeface="Calibri" pitchFamily="34" charset="-120"/>
              </a:rPr>
              <a:t>← private data</a:t>
            </a:r>
            <a:endParaRPr lang="en-US" sz="950" dirty="0"/>
          </a:p>
        </p:txBody>
      </p:sp>
      <p:sp>
        <p:nvSpPr>
          <p:cNvPr id="14" name="Shape 11"/>
          <p:cNvSpPr/>
          <p:nvPr/>
        </p:nvSpPr>
        <p:spPr>
          <a:xfrm>
            <a:off x="530352" y="2395728"/>
            <a:ext cx="4334256" cy="173736"/>
          </a:xfrm>
          <a:prstGeom prst="rect">
            <a:avLst/>
          </a:prstGeom>
          <a:solidFill>
            <a:srgbClr val="155E75"/>
          </a:solidFill>
          <a:ln/>
        </p:spPr>
      </p:sp>
      <p:sp>
        <p:nvSpPr>
          <p:cNvPr id="15" name="Text 12"/>
          <p:cNvSpPr txBox="1"/>
          <p:nvPr/>
        </p:nvSpPr>
        <p:spPr>
          <a:xfrm>
            <a:off x="926592" y="2395728"/>
            <a:ext cx="3846576" cy="173736"/>
          </a:xfrm>
          <a:prstGeom prst="rect">
            <a:avLst/>
          </a:prstGeom>
          <a:noFill/>
          <a:ln/>
        </p:spPr>
        <p:txBody>
          <a:bodyPr wrap="square" lIns="0" tIns="0" rIns="0" bIns="0" rtlCol="0" anchor="ctr"/>
          <a:lstStyle/>
          <a:p>
            <a:pPr marL="0" indent="0">
              <a:buNone/>
            </a:pPr>
            <a:r>
              <a:rPr lang="en-US" sz="1000" b="1" dirty="0">
                <a:solidFill>
                  <a:srgbClr val="FFFFFF"/>
                </a:solidFill>
                <a:latin typeface="Courier New" pitchFamily="34" charset="0"/>
                <a:ea typeface="Courier New" pitchFamily="34" charset="-122"/>
                <a:cs typeface="Courier New" pitchFamily="34" charset="-120"/>
              </a:rPr>
              <a:t>private String zone;</a:t>
            </a:r>
            <a:endParaRPr lang="en-US" sz="1000" dirty="0"/>
          </a:p>
        </p:txBody>
      </p:sp>
      <p:sp>
        <p:nvSpPr>
          <p:cNvPr id="16" name="Shape 13"/>
          <p:cNvSpPr/>
          <p:nvPr/>
        </p:nvSpPr>
        <p:spPr>
          <a:xfrm>
            <a:off x="530352" y="2569464"/>
            <a:ext cx="4334256" cy="173736"/>
          </a:xfrm>
          <a:prstGeom prst="rect">
            <a:avLst/>
          </a:prstGeom>
          <a:solidFill>
            <a:srgbClr val="155E75"/>
          </a:solidFill>
          <a:ln/>
        </p:spPr>
      </p:sp>
      <p:sp>
        <p:nvSpPr>
          <p:cNvPr id="17" name="Text 14"/>
          <p:cNvSpPr txBox="1"/>
          <p:nvPr/>
        </p:nvSpPr>
        <p:spPr>
          <a:xfrm>
            <a:off x="926592" y="2569464"/>
            <a:ext cx="3846576" cy="173736"/>
          </a:xfrm>
          <a:prstGeom prst="rect">
            <a:avLst/>
          </a:prstGeom>
          <a:noFill/>
          <a:ln/>
        </p:spPr>
        <p:txBody>
          <a:bodyPr wrap="square" lIns="0" tIns="0" rIns="0" bIns="0" rtlCol="0" anchor="ctr"/>
          <a:lstStyle/>
          <a:p>
            <a:pPr marL="0" indent="0">
              <a:buNone/>
            </a:pPr>
            <a:r>
              <a:rPr lang="en-US" sz="1000" b="1" dirty="0">
                <a:solidFill>
                  <a:srgbClr val="FFFFFF"/>
                </a:solidFill>
                <a:latin typeface="Courier New" pitchFamily="34" charset="0"/>
                <a:ea typeface="Courier New" pitchFamily="34" charset="-122"/>
                <a:cs typeface="Courier New" pitchFamily="34" charset="-120"/>
              </a:rPr>
              <a:t>private boolean open;</a:t>
            </a:r>
            <a:endParaRPr lang="en-US" sz="1000" dirty="0"/>
          </a:p>
        </p:txBody>
      </p:sp>
      <p:sp>
        <p:nvSpPr>
          <p:cNvPr id="18" name="Shape 15"/>
          <p:cNvSpPr/>
          <p:nvPr/>
        </p:nvSpPr>
        <p:spPr>
          <a:xfrm>
            <a:off x="530352" y="2743200"/>
            <a:ext cx="4334256" cy="173736"/>
          </a:xfrm>
          <a:prstGeom prst="rect">
            <a:avLst/>
          </a:prstGeom>
          <a:solidFill>
            <a:srgbClr val="155E75"/>
          </a:solidFill>
          <a:ln/>
        </p:spPr>
      </p:sp>
      <p:sp>
        <p:nvSpPr>
          <p:cNvPr id="19" name="Text 16"/>
          <p:cNvSpPr txBox="1"/>
          <p:nvPr/>
        </p:nvSpPr>
        <p:spPr>
          <a:xfrm>
            <a:off x="926592" y="2743200"/>
            <a:ext cx="3846576" cy="173736"/>
          </a:xfrm>
          <a:prstGeom prst="rect">
            <a:avLst/>
          </a:prstGeom>
          <a:noFill/>
          <a:ln/>
        </p:spPr>
        <p:txBody>
          <a:bodyPr wrap="square" lIns="0" tIns="0" rIns="0" bIns="0" rtlCol="0" anchor="ctr"/>
          <a:lstStyle/>
          <a:p>
            <a:pPr marL="0" indent="0">
              <a:buNone/>
            </a:pPr>
            <a:r>
              <a:rPr lang="en-US" sz="1000" b="1" dirty="0">
                <a:solidFill>
                  <a:srgbClr val="FFFFFF"/>
                </a:solidFill>
                <a:latin typeface="Courier New" pitchFamily="34" charset="0"/>
                <a:ea typeface="Courier New" pitchFamily="34" charset="-122"/>
                <a:cs typeface="Courier New" pitchFamily="34" charset="-120"/>
              </a:rPr>
              <a:t>private int oil;</a:t>
            </a:r>
            <a:endParaRPr lang="en-US" sz="1000" dirty="0"/>
          </a:p>
        </p:txBody>
      </p:sp>
      <p:sp>
        <p:nvSpPr>
          <p:cNvPr id="20" name="Text 17"/>
          <p:cNvSpPr txBox="1"/>
          <p:nvPr/>
        </p:nvSpPr>
        <p:spPr>
          <a:xfrm>
            <a:off x="926592" y="2916936"/>
            <a:ext cx="3846576" cy="173736"/>
          </a:xfrm>
          <a:prstGeom prst="rect">
            <a:avLst/>
          </a:prstGeom>
          <a:noFill/>
          <a:ln/>
        </p:spPr>
        <p:txBody>
          <a:bodyPr wrap="square" lIns="0" tIns="0" rIns="0" bIns="0" rtlCol="0" anchor="ctr"/>
          <a:lstStyle/>
          <a:p>
            <a:pPr marL="0" indent="0">
              <a:buNone/>
            </a:pPr>
            <a:r>
              <a:rPr lang="en-US" sz="1000" dirty="0">
                <a:solidFill>
                  <a:srgbClr val="7C9BBD"/>
                </a:solidFill>
                <a:latin typeface="Courier New" pitchFamily="34" charset="0"/>
                <a:ea typeface="Courier New" pitchFamily="34" charset="-122"/>
                <a:cs typeface="Courier New" pitchFamily="34" charset="-120"/>
              </a:rPr>
              <a:t>// ... diesel, gas, sales are private too</a:t>
            </a:r>
            <a:endParaRPr lang="en-US" sz="1000" dirty="0"/>
          </a:p>
        </p:txBody>
      </p:sp>
      <p:sp>
        <p:nvSpPr>
          <p:cNvPr id="21" name="Shape 18"/>
          <p:cNvSpPr/>
          <p:nvPr/>
        </p:nvSpPr>
        <p:spPr>
          <a:xfrm>
            <a:off x="530352" y="3090672"/>
            <a:ext cx="4334256" cy="173736"/>
          </a:xfrm>
          <a:prstGeom prst="rect">
            <a:avLst/>
          </a:prstGeom>
          <a:solidFill>
            <a:srgbClr val="155E75"/>
          </a:solidFill>
          <a:ln/>
        </p:spPr>
      </p:sp>
      <p:sp>
        <p:nvSpPr>
          <p:cNvPr id="22" name="Text 19"/>
          <p:cNvSpPr txBox="1"/>
          <p:nvPr/>
        </p:nvSpPr>
        <p:spPr>
          <a:xfrm>
            <a:off x="926592" y="3090672"/>
            <a:ext cx="3846576" cy="173736"/>
          </a:xfrm>
          <a:prstGeom prst="rect">
            <a:avLst/>
          </a:prstGeom>
          <a:noFill/>
          <a:ln/>
        </p:spPr>
        <p:txBody>
          <a:bodyPr wrap="square" lIns="0" tIns="0" rIns="0" bIns="0" rtlCol="0" anchor="ctr"/>
          <a:lstStyle/>
          <a:p>
            <a:pPr marL="0" indent="0">
              <a:buNone/>
            </a:pPr>
            <a:r>
              <a:rPr lang="en-US" sz="1000" b="1" dirty="0">
                <a:solidFill>
                  <a:srgbClr val="FFFFFF"/>
                </a:solidFill>
                <a:latin typeface="Courier New" pitchFamily="34" charset="0"/>
                <a:ea typeface="Courier New" pitchFamily="34" charset="-122"/>
                <a:cs typeface="Courier New" pitchFamily="34" charset="-120"/>
              </a:rPr>
              <a:t>public String getName() {</a:t>
            </a:r>
            <a:endParaRPr lang="en-US" sz="1000" dirty="0"/>
          </a:p>
        </p:txBody>
      </p:sp>
      <p:sp>
        <p:nvSpPr>
          <p:cNvPr id="23" name="Text 20"/>
          <p:cNvSpPr txBox="1"/>
          <p:nvPr/>
        </p:nvSpPr>
        <p:spPr>
          <a:xfrm>
            <a:off x="3108960" y="3090672"/>
            <a:ext cx="1664208" cy="173736"/>
          </a:xfrm>
          <a:prstGeom prst="rect">
            <a:avLst/>
          </a:prstGeom>
          <a:noFill/>
          <a:ln/>
        </p:spPr>
        <p:txBody>
          <a:bodyPr wrap="square" lIns="0" tIns="0" rIns="0" bIns="0" rtlCol="0" anchor="ctr"/>
          <a:lstStyle/>
          <a:p>
            <a:pPr marL="0" indent="0" algn="r">
              <a:buNone/>
            </a:pPr>
            <a:r>
              <a:rPr lang="en-US" sz="950" b="1" dirty="0">
                <a:solidFill>
                  <a:srgbClr val="22D3EE"/>
                </a:solidFill>
                <a:latin typeface="Calibri" pitchFamily="34" charset="0"/>
                <a:ea typeface="Calibri" pitchFamily="34" charset="-122"/>
                <a:cs typeface="Calibri" pitchFamily="34" charset="-120"/>
              </a:rPr>
              <a:t>← public getter</a:t>
            </a:r>
            <a:endParaRPr lang="en-US" sz="950" dirty="0"/>
          </a:p>
        </p:txBody>
      </p:sp>
      <p:sp>
        <p:nvSpPr>
          <p:cNvPr id="24" name="Text 21"/>
          <p:cNvSpPr txBox="1"/>
          <p:nvPr/>
        </p:nvSpPr>
        <p:spPr>
          <a:xfrm>
            <a:off x="1231392" y="3264408"/>
            <a:ext cx="3541776" cy="173736"/>
          </a:xfrm>
          <a:prstGeom prst="rect">
            <a:avLst/>
          </a:prstGeom>
          <a:noFill/>
          <a:ln/>
        </p:spPr>
        <p:txBody>
          <a:bodyPr wrap="square" lIns="0" tIns="0" rIns="0" bIns="0" rtlCol="0" anchor="ctr"/>
          <a:lstStyle/>
          <a:p>
            <a:pPr marL="0" indent="0">
              <a:buNone/>
            </a:pPr>
            <a:r>
              <a:rPr lang="en-US" sz="1000" dirty="0">
                <a:solidFill>
                  <a:srgbClr val="C9D6E8"/>
                </a:solidFill>
                <a:latin typeface="Courier New" pitchFamily="34" charset="0"/>
                <a:ea typeface="Courier New" pitchFamily="34" charset="-122"/>
                <a:cs typeface="Courier New" pitchFamily="34" charset="-120"/>
              </a:rPr>
              <a:t>return name;</a:t>
            </a:r>
            <a:endParaRPr lang="en-US" sz="1000" dirty="0"/>
          </a:p>
        </p:txBody>
      </p:sp>
      <p:sp>
        <p:nvSpPr>
          <p:cNvPr id="25" name="Text 22"/>
          <p:cNvSpPr txBox="1"/>
          <p:nvPr/>
        </p:nvSpPr>
        <p:spPr>
          <a:xfrm>
            <a:off x="926592" y="3438144"/>
            <a:ext cx="3846576" cy="173736"/>
          </a:xfrm>
          <a:prstGeom prst="rect">
            <a:avLst/>
          </a:prstGeom>
          <a:noFill/>
          <a:ln/>
        </p:spPr>
        <p:txBody>
          <a:bodyPr wrap="square" lIns="0" tIns="0" rIns="0" bIns="0" rtlCol="0" anchor="ctr"/>
          <a:lstStyle/>
          <a:p>
            <a:pPr marL="0" indent="0">
              <a:buNone/>
            </a:pPr>
            <a:r>
              <a:rPr lang="en-US" sz="1000" dirty="0">
                <a:solidFill>
                  <a:srgbClr val="C9D6E8"/>
                </a:solidFill>
                <a:latin typeface="Courier New" pitchFamily="34" charset="0"/>
                <a:ea typeface="Courier New" pitchFamily="34" charset="-122"/>
                <a:cs typeface="Courier New" pitchFamily="34" charset="-120"/>
              </a:rPr>
              <a:t>}</a:t>
            </a:r>
            <a:endParaRPr lang="en-US" sz="1000" dirty="0"/>
          </a:p>
        </p:txBody>
      </p:sp>
      <p:sp>
        <p:nvSpPr>
          <p:cNvPr id="26" name="Text 23"/>
          <p:cNvSpPr txBox="1"/>
          <p:nvPr/>
        </p:nvSpPr>
        <p:spPr>
          <a:xfrm>
            <a:off x="621792" y="3611880"/>
            <a:ext cx="4151376" cy="173736"/>
          </a:xfrm>
          <a:prstGeom prst="rect">
            <a:avLst/>
          </a:prstGeom>
          <a:noFill/>
          <a:ln/>
        </p:spPr>
        <p:txBody>
          <a:bodyPr wrap="square" lIns="0" tIns="0" rIns="0" bIns="0" rtlCol="0" anchor="ctr"/>
          <a:lstStyle/>
          <a:p>
            <a:pPr marL="0" indent="0">
              <a:buNone/>
            </a:pPr>
            <a:r>
              <a:rPr lang="en-US" sz="1000" dirty="0">
                <a:solidFill>
                  <a:srgbClr val="C9D6E8"/>
                </a:solidFill>
                <a:latin typeface="Courier New" pitchFamily="34" charset="0"/>
                <a:ea typeface="Courier New" pitchFamily="34" charset="-122"/>
                <a:cs typeface="Courier New" pitchFamily="34" charset="-120"/>
              </a:rPr>
              <a:t>}</a:t>
            </a:r>
            <a:endParaRPr lang="en-US" sz="1000" dirty="0"/>
          </a:p>
        </p:txBody>
      </p:sp>
      <p:sp>
        <p:nvSpPr>
          <p:cNvPr id="27" name="Shape 24"/>
          <p:cNvSpPr/>
          <p:nvPr/>
        </p:nvSpPr>
        <p:spPr>
          <a:xfrm>
            <a:off x="5120640" y="1737360"/>
            <a:ext cx="3566160" cy="2157984"/>
          </a:xfrm>
          <a:prstGeom prst="roundRect">
            <a:avLst>
              <a:gd name="adj" fmla="val 4237"/>
            </a:avLst>
          </a:prstGeom>
          <a:solidFill>
            <a:srgbClr val="F3F7FB"/>
          </a:solidFill>
          <a:ln/>
          <a:effectLst>
            <a:outerShdw blurRad="76200" dist="25400" dir="5400000" algn="bl" rotWithShape="0">
              <a:srgbClr val="000000">
                <a:alpha val="10000"/>
              </a:srgbClr>
            </a:outerShdw>
          </a:effectLst>
        </p:spPr>
      </p:sp>
      <p:sp>
        <p:nvSpPr>
          <p:cNvPr id="28" name="Text 25"/>
          <p:cNvSpPr txBox="1"/>
          <p:nvPr/>
        </p:nvSpPr>
        <p:spPr>
          <a:xfrm>
            <a:off x="5303520" y="1847088"/>
            <a:ext cx="3200400" cy="256032"/>
          </a:xfrm>
          <a:prstGeom prst="rect">
            <a:avLst/>
          </a:prstGeom>
          <a:noFill/>
          <a:ln/>
        </p:spPr>
        <p:txBody>
          <a:bodyPr wrap="square" lIns="0" tIns="0" rIns="0" bIns="0" rtlCol="0" anchor="ctr"/>
          <a:lstStyle/>
          <a:p>
            <a:pPr marL="0" indent="0">
              <a:buNone/>
            </a:pPr>
            <a:r>
              <a:rPr lang="en-US" sz="1300" b="1" dirty="0">
                <a:solidFill>
                  <a:srgbClr val="0E7490"/>
                </a:solidFill>
                <a:latin typeface="Calibri" pitchFamily="34" charset="0"/>
                <a:ea typeface="Calibri" pitchFamily="34" charset="-122"/>
                <a:cs typeface="Calibri" pitchFamily="34" charset="-120"/>
              </a:rPr>
              <a:t>How we use it</a:t>
            </a:r>
            <a:endParaRPr lang="en-US" sz="1300" dirty="0"/>
          </a:p>
        </p:txBody>
      </p:sp>
      <p:sp>
        <p:nvSpPr>
          <p:cNvPr id="29" name="Text 26"/>
          <p:cNvSpPr txBox="1"/>
          <p:nvPr/>
        </p:nvSpPr>
        <p:spPr>
          <a:xfrm>
            <a:off x="5303520" y="2176272"/>
            <a:ext cx="3200400" cy="1609344"/>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0B1F3A"/>
                </a:solidFill>
                <a:latin typeface="Calibri" pitchFamily="34" charset="0"/>
                <a:ea typeface="Calibri" pitchFamily="34" charset="-122"/>
                <a:cs typeface="Calibri" pitchFamily="34" charset="-120"/>
              </a:rPr>
              <a:t>All Pump fields (name, zone, open, oil, diesel, gas, sales) are private.</a:t>
            </a:r>
            <a:endParaRPr lang="en-US" sz="1200" dirty="0"/>
          </a:p>
          <a:p>
            <a:pPr marL="177800" indent="-177800">
              <a:spcAft>
                <a:spcPts val="600"/>
              </a:spcAft>
              <a:buSzPct val="100000"/>
              <a:buChar char="•"/>
            </a:pPr>
            <a:r>
              <a:rPr lang="en-US" sz="1200" dirty="0">
                <a:solidFill>
                  <a:srgbClr val="0B1F3A"/>
                </a:solidFill>
                <a:latin typeface="Calibri" pitchFamily="34" charset="0"/>
                <a:ea typeface="Calibri" pitchFamily="34" charset="-122"/>
                <a:cs typeface="Calibri" pitchFamily="34" charset="-120"/>
              </a:rPr>
              <a:t>Other classes read them only through getters like getName() and isOpen().</a:t>
            </a:r>
            <a:endParaRPr lang="en-US" sz="1200" dirty="0"/>
          </a:p>
          <a:p>
            <a:pPr marL="177800" indent="-177800">
              <a:spcAft>
                <a:spcPts val="600"/>
              </a:spcAft>
              <a:buSzPct val="100000"/>
              <a:buChar char="•"/>
            </a:pPr>
            <a:r>
              <a:rPr lang="en-US" sz="1200" dirty="0">
                <a:solidFill>
                  <a:srgbClr val="0B1F3A"/>
                </a:solidFill>
                <a:latin typeface="Calibri" pitchFamily="34" charset="0"/>
                <a:ea typeface="Calibri" pitchFamily="34" charset="-122"/>
                <a:cs typeface="Calibri" pitchFamily="34" charset="-120"/>
              </a:rPr>
              <a:t>There are no setters, so a Pump's data cannot be changed from outside.</a:t>
            </a:r>
            <a:endParaRPr lang="en-US" sz="1200" dirty="0"/>
          </a:p>
        </p:txBody>
      </p:sp>
      <p:sp>
        <p:nvSpPr>
          <p:cNvPr id="30" name="Shape 27"/>
          <p:cNvSpPr/>
          <p:nvPr/>
        </p:nvSpPr>
        <p:spPr>
          <a:xfrm>
            <a:off x="457200" y="4114800"/>
            <a:ext cx="8229600" cy="457200"/>
          </a:xfrm>
          <a:prstGeom prst="roundRect">
            <a:avLst>
              <a:gd name="adj" fmla="val 20000"/>
            </a:avLst>
          </a:prstGeom>
          <a:solidFill>
            <a:srgbClr val="E8F7FB"/>
          </a:solidFill>
          <a:ln/>
        </p:spPr>
      </p:sp>
      <p:sp>
        <p:nvSpPr>
          <p:cNvPr id="31" name="Shape 28"/>
          <p:cNvSpPr/>
          <p:nvPr/>
        </p:nvSpPr>
        <p:spPr>
          <a:xfrm>
            <a:off x="566928" y="4169664"/>
            <a:ext cx="347472" cy="347472"/>
          </a:xfrm>
          <a:prstGeom prst="ellipse">
            <a:avLst/>
          </a:prstGeom>
          <a:solidFill>
            <a:srgbClr val="0B1F3A"/>
          </a:solidFill>
          <a:ln/>
        </p:spPr>
      </p:sp>
      <p:pic>
        <p:nvPicPr>
          <p:cNvPr id="32" name="Image 1" descr="preencoded.png"/>
          <p:cNvPicPr>
            <a:picLocks noChangeAspect="1"/>
          </p:cNvPicPr>
          <p:nvPr/>
        </p:nvPicPr>
        <p:blipFill>
          <a:blip r:embed="rId4"/>
          <a:stretch>
            <a:fillRect/>
          </a:stretch>
        </p:blipFill>
        <p:spPr>
          <a:xfrm>
            <a:off x="653796" y="4256532"/>
            <a:ext cx="173736" cy="173736"/>
          </a:xfrm>
          <a:prstGeom prst="rect">
            <a:avLst/>
          </a:prstGeom>
        </p:spPr>
      </p:pic>
      <p:sp>
        <p:nvSpPr>
          <p:cNvPr id="33" name="Text 29"/>
          <p:cNvSpPr txBox="1"/>
          <p:nvPr/>
        </p:nvSpPr>
        <p:spPr>
          <a:xfrm>
            <a:off x="1051560" y="4114800"/>
            <a:ext cx="7498080" cy="457200"/>
          </a:xfrm>
          <a:prstGeom prst="rect">
            <a:avLst/>
          </a:prstGeom>
          <a:noFill/>
          <a:ln/>
        </p:spPr>
        <p:txBody>
          <a:bodyPr wrap="square" lIns="0" tIns="0" rIns="0" bIns="0" rtlCol="0" anchor="ctr"/>
          <a:lstStyle/>
          <a:p>
            <a:pPr marL="0" indent="0">
              <a:buNone/>
            </a:pPr>
            <a:r>
              <a:rPr lang="en-US" sz="1250" b="1" dirty="0">
                <a:solidFill>
                  <a:srgbClr val="0E7490"/>
                </a:solidFill>
                <a:latin typeface="Calibri" pitchFamily="34" charset="0"/>
                <a:ea typeface="Calibri" pitchFamily="34" charset="-122"/>
                <a:cs typeface="Calibri" pitchFamily="34" charset="-120"/>
              </a:rPr>
              <a:t>Real-life example: </a:t>
            </a:r>
            <a:r>
              <a:rPr lang="en-US" sz="1250" dirty="0">
                <a:solidFill>
                  <a:srgbClr val="0B1F3A"/>
                </a:solidFill>
                <a:latin typeface="Calibri" pitchFamily="34" charset="0"/>
                <a:ea typeface="Calibri" pitchFamily="34" charset="-122"/>
                <a:cs typeface="Calibri" pitchFamily="34" charset="-120"/>
              </a:rPr>
              <a:t>ATM machine – the user presses buttons, but the internal account data is protected.</a:t>
            </a:r>
            <a:endParaRPr lang="en-US" sz="1250" dirty="0"/>
          </a:p>
        </p:txBody>
      </p:sp>
      <p:sp>
        <p:nvSpPr>
          <p:cNvPr id="34" name="Text 30"/>
          <p:cNvSpPr txBox="1"/>
          <p:nvPr/>
        </p:nvSpPr>
        <p:spPr>
          <a:xfrm>
            <a:off x="457200" y="4773168"/>
            <a:ext cx="4572000" cy="201168"/>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Smart Fuel Pump Management System</a:t>
            </a:r>
            <a:endParaRPr lang="en-US" sz="1000" dirty="0"/>
          </a:p>
        </p:txBody>
      </p:sp>
      <p:sp>
        <p:nvSpPr>
          <p:cNvPr id="35" name="Text 31"/>
          <p:cNvSpPr txBox="1"/>
          <p:nvPr/>
        </p:nvSpPr>
        <p:spPr>
          <a:xfrm>
            <a:off x="7772400" y="4773168"/>
            <a:ext cx="914400" cy="201168"/>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6400800" cy="228600"/>
          </a:xfrm>
          <a:prstGeom prst="rect">
            <a:avLst/>
          </a:prstGeom>
          <a:noFill/>
          <a:ln/>
        </p:spPr>
        <p:txBody>
          <a:bodyPr wrap="square" lIns="0" tIns="0" rIns="0" bIns="0" rtlCol="0" anchor="ctr"/>
          <a:lstStyle/>
          <a:p>
            <a:pPr marL="0" indent="0">
              <a:buNone/>
            </a:pPr>
            <a:r>
              <a:rPr lang="en-US" sz="1100" b="1" kern="0" spc="300" dirty="0">
                <a:solidFill>
                  <a:srgbClr val="0E7490"/>
                </a:solidFill>
                <a:latin typeface="Calibri" pitchFamily="34" charset="0"/>
                <a:ea typeface="Calibri" pitchFamily="34" charset="-122"/>
                <a:cs typeface="Calibri" pitchFamily="34" charset="-120"/>
              </a:rPr>
              <a:t>OOP · PILLAR 2</a:t>
            </a:r>
            <a:endParaRPr lang="en-US" sz="1100" dirty="0"/>
          </a:p>
        </p:txBody>
      </p:sp>
      <p:sp>
        <p:nvSpPr>
          <p:cNvPr id="3" name="Text 1"/>
          <p:cNvSpPr txBox="1"/>
          <p:nvPr/>
        </p:nvSpPr>
        <p:spPr>
          <a:xfrm>
            <a:off x="457200" y="502920"/>
            <a:ext cx="7498080" cy="548640"/>
          </a:xfrm>
          <a:prstGeom prst="rect">
            <a:avLst/>
          </a:prstGeom>
          <a:noFill/>
          <a:ln/>
        </p:spPr>
        <p:txBody>
          <a:bodyPr wrap="square" lIns="0" tIns="0" rIns="0" bIns="0" rtlCol="0" anchor="ctr"/>
          <a:lstStyle/>
          <a:p>
            <a:pPr marL="0" indent="0">
              <a:buNone/>
            </a:pPr>
            <a:r>
              <a:rPr lang="en-US" sz="3000" b="1" dirty="0">
                <a:solidFill>
                  <a:srgbClr val="0B1F3A"/>
                </a:solidFill>
                <a:latin typeface="Calibri" pitchFamily="34" charset="0"/>
                <a:ea typeface="Calibri" pitchFamily="34" charset="-122"/>
                <a:cs typeface="Calibri" pitchFamily="34" charset="-120"/>
              </a:rPr>
              <a:t>Inheritance</a:t>
            </a:r>
            <a:endParaRPr lang="en-US" sz="3000" dirty="0"/>
          </a:p>
        </p:txBody>
      </p:sp>
      <p:sp>
        <p:nvSpPr>
          <p:cNvPr id="4" name="Shape 2"/>
          <p:cNvSpPr/>
          <p:nvPr/>
        </p:nvSpPr>
        <p:spPr>
          <a:xfrm>
            <a:off x="8229600" y="384048"/>
            <a:ext cx="457200" cy="457200"/>
          </a:xfrm>
          <a:prstGeom prst="ellipse">
            <a:avLst/>
          </a:prstGeom>
          <a:solidFill>
            <a:srgbClr val="0B1F3A"/>
          </a:solidFill>
          <a:ln/>
        </p:spPr>
      </p:sp>
      <p:pic>
        <p:nvPicPr>
          <p:cNvPr id="5" name="Image 0" descr="preencoded.png"/>
          <p:cNvPicPr>
            <a:picLocks noChangeAspect="1"/>
          </p:cNvPicPr>
          <p:nvPr/>
        </p:nvPicPr>
        <p:blipFill>
          <a:blip r:embed="rId3"/>
          <a:stretch>
            <a:fillRect/>
          </a:stretch>
        </p:blipFill>
        <p:spPr>
          <a:xfrm>
            <a:off x="8343900" y="498348"/>
            <a:ext cx="228600" cy="228600"/>
          </a:xfrm>
          <a:prstGeom prst="rect">
            <a:avLst/>
          </a:prstGeom>
        </p:spPr>
      </p:pic>
      <p:sp>
        <p:nvSpPr>
          <p:cNvPr id="6" name="Shape 3"/>
          <p:cNvSpPr/>
          <p:nvPr/>
        </p:nvSpPr>
        <p:spPr>
          <a:xfrm>
            <a:off x="457200" y="1097280"/>
            <a:ext cx="8229600" cy="502920"/>
          </a:xfrm>
          <a:prstGeom prst="roundRect">
            <a:avLst>
              <a:gd name="adj" fmla="val 18182"/>
            </a:avLst>
          </a:prstGeom>
          <a:solidFill>
            <a:srgbClr val="E8F7FB"/>
          </a:solidFill>
          <a:ln/>
        </p:spPr>
      </p:sp>
      <p:sp>
        <p:nvSpPr>
          <p:cNvPr id="7" name="Text 4"/>
          <p:cNvSpPr txBox="1"/>
          <p:nvPr/>
        </p:nvSpPr>
        <p:spPr>
          <a:xfrm>
            <a:off x="640080" y="1097280"/>
            <a:ext cx="7863840" cy="502920"/>
          </a:xfrm>
          <a:prstGeom prst="rect">
            <a:avLst/>
          </a:prstGeom>
          <a:noFill/>
          <a:ln/>
        </p:spPr>
        <p:txBody>
          <a:bodyPr wrap="square" lIns="0" tIns="0" rIns="0" bIns="0" rtlCol="0" anchor="ctr"/>
          <a:lstStyle/>
          <a:p>
            <a:pPr marL="0" indent="0">
              <a:buNone/>
            </a:pPr>
            <a:r>
              <a:rPr lang="en-US" sz="1250" b="1" dirty="0">
                <a:solidFill>
                  <a:srgbClr val="0E7490"/>
                </a:solidFill>
                <a:latin typeface="Calibri" pitchFamily="34" charset="0"/>
                <a:ea typeface="Calibri" pitchFamily="34" charset="-122"/>
                <a:cs typeface="Calibri" pitchFamily="34" charset="-120"/>
              </a:rPr>
              <a:t>Definition: </a:t>
            </a:r>
            <a:r>
              <a:rPr lang="en-US" sz="1250" i="1" dirty="0">
                <a:solidFill>
                  <a:srgbClr val="0B1F3A"/>
                </a:solidFill>
                <a:latin typeface="Calibri" pitchFamily="34" charset="0"/>
                <a:ea typeface="Calibri" pitchFamily="34" charset="-122"/>
                <a:cs typeface="Calibri" pitchFamily="34" charset="-120"/>
              </a:rPr>
              <a:t>Inheritance allows one class to acquire properties and methods of another class.</a:t>
            </a:r>
            <a:endParaRPr lang="en-US" sz="1250" dirty="0"/>
          </a:p>
        </p:txBody>
      </p:sp>
      <p:sp>
        <p:nvSpPr>
          <p:cNvPr id="8" name="Shape 5"/>
          <p:cNvSpPr/>
          <p:nvPr/>
        </p:nvSpPr>
        <p:spPr>
          <a:xfrm>
            <a:off x="457200" y="1737360"/>
            <a:ext cx="4480560" cy="1335024"/>
          </a:xfrm>
          <a:prstGeom prst="roundRect">
            <a:avLst>
              <a:gd name="adj" fmla="val 5479"/>
            </a:avLst>
          </a:prstGeom>
          <a:solidFill>
            <a:srgbClr val="0A1A30"/>
          </a:solidFill>
          <a:ln/>
        </p:spPr>
      </p:sp>
      <p:sp>
        <p:nvSpPr>
          <p:cNvPr id="9" name="Text 6"/>
          <p:cNvSpPr txBox="1"/>
          <p:nvPr/>
        </p:nvSpPr>
        <p:spPr>
          <a:xfrm>
            <a:off x="621792" y="1810512"/>
            <a:ext cx="4151376" cy="201168"/>
          </a:xfrm>
          <a:prstGeom prst="rect">
            <a:avLst/>
          </a:prstGeom>
          <a:noFill/>
          <a:ln/>
        </p:spPr>
        <p:txBody>
          <a:bodyPr wrap="square" lIns="0" tIns="0" rIns="0" bIns="0" rtlCol="0" anchor="ctr"/>
          <a:lstStyle/>
          <a:p>
            <a:pPr marL="0" indent="0">
              <a:buNone/>
            </a:pPr>
            <a:r>
              <a:rPr lang="en-US" sz="950" b="1" kern="0" spc="100" dirty="0">
                <a:solidFill>
                  <a:srgbClr val="67C7E0"/>
                </a:solidFill>
                <a:latin typeface="Calibri" pitchFamily="34" charset="0"/>
                <a:ea typeface="Calibri" pitchFamily="34" charset="-122"/>
                <a:cs typeface="Calibri" pitchFamily="34" charset="-120"/>
              </a:rPr>
              <a:t>parent and child classes</a:t>
            </a:r>
            <a:endParaRPr lang="en-US" sz="950" dirty="0"/>
          </a:p>
        </p:txBody>
      </p:sp>
      <p:sp>
        <p:nvSpPr>
          <p:cNvPr id="10" name="Text 7"/>
          <p:cNvSpPr txBox="1"/>
          <p:nvPr/>
        </p:nvSpPr>
        <p:spPr>
          <a:xfrm>
            <a:off x="621792" y="2048256"/>
            <a:ext cx="4151376" cy="182880"/>
          </a:xfrm>
          <a:prstGeom prst="rect">
            <a:avLst/>
          </a:prstGeom>
          <a:noFill/>
          <a:ln/>
        </p:spPr>
        <p:txBody>
          <a:bodyPr wrap="square" lIns="0" tIns="0" rIns="0" bIns="0" rtlCol="0" anchor="ctr"/>
          <a:lstStyle/>
          <a:p>
            <a:pPr marL="0" indent="0">
              <a:buNone/>
            </a:pPr>
            <a:r>
              <a:rPr lang="en-US" sz="1000" dirty="0">
                <a:solidFill>
                  <a:srgbClr val="C9D6E8"/>
                </a:solidFill>
                <a:latin typeface="Courier New" pitchFamily="34" charset="0"/>
                <a:ea typeface="Courier New" pitchFamily="34" charset="-122"/>
                <a:cs typeface="Courier New" pitchFamily="34" charset="-120"/>
              </a:rPr>
              <a:t>abstract class FuelStation {</a:t>
            </a:r>
            <a:endParaRPr lang="en-US" sz="1000" dirty="0"/>
          </a:p>
        </p:txBody>
      </p:sp>
      <p:sp>
        <p:nvSpPr>
          <p:cNvPr id="11" name="Text 8"/>
          <p:cNvSpPr txBox="1"/>
          <p:nvPr/>
        </p:nvSpPr>
        <p:spPr>
          <a:xfrm>
            <a:off x="926592" y="2231136"/>
            <a:ext cx="3846576" cy="182880"/>
          </a:xfrm>
          <a:prstGeom prst="rect">
            <a:avLst/>
          </a:prstGeom>
          <a:noFill/>
          <a:ln/>
        </p:spPr>
        <p:txBody>
          <a:bodyPr wrap="square" lIns="0" tIns="0" rIns="0" bIns="0" rtlCol="0" anchor="ctr"/>
          <a:lstStyle/>
          <a:p>
            <a:pPr marL="0" indent="0">
              <a:buNone/>
            </a:pPr>
            <a:r>
              <a:rPr lang="en-US" sz="1000" dirty="0">
                <a:solidFill>
                  <a:srgbClr val="C9D6E8"/>
                </a:solidFill>
                <a:latin typeface="Courier New" pitchFamily="34" charset="0"/>
                <a:ea typeface="Courier New" pitchFamily="34" charset="-122"/>
                <a:cs typeface="Courier New" pitchFamily="34" charset="-120"/>
              </a:rPr>
              <a:t>abstract void showInfo();</a:t>
            </a:r>
            <a:endParaRPr lang="en-US" sz="1000" dirty="0"/>
          </a:p>
        </p:txBody>
      </p:sp>
      <p:sp>
        <p:nvSpPr>
          <p:cNvPr id="12" name="Text 9"/>
          <p:cNvSpPr txBox="1"/>
          <p:nvPr/>
        </p:nvSpPr>
        <p:spPr>
          <a:xfrm>
            <a:off x="621792" y="2414016"/>
            <a:ext cx="4151376" cy="182880"/>
          </a:xfrm>
          <a:prstGeom prst="rect">
            <a:avLst/>
          </a:prstGeom>
          <a:noFill/>
          <a:ln/>
        </p:spPr>
        <p:txBody>
          <a:bodyPr wrap="square" lIns="0" tIns="0" rIns="0" bIns="0" rtlCol="0" anchor="ctr"/>
          <a:lstStyle/>
          <a:p>
            <a:pPr marL="0" indent="0">
              <a:buNone/>
            </a:pPr>
            <a:r>
              <a:rPr lang="en-US" sz="1000" dirty="0">
                <a:solidFill>
                  <a:srgbClr val="C9D6E8"/>
                </a:solidFill>
                <a:latin typeface="Courier New" pitchFamily="34" charset="0"/>
                <a:ea typeface="Courier New" pitchFamily="34" charset="-122"/>
                <a:cs typeface="Courier New" pitchFamily="34" charset="-120"/>
              </a:rPr>
              <a:t>}</a:t>
            </a:r>
            <a:endParaRPr lang="en-US" sz="1000" dirty="0"/>
          </a:p>
        </p:txBody>
      </p:sp>
      <p:sp>
        <p:nvSpPr>
          <p:cNvPr id="13" name="Shape 10"/>
          <p:cNvSpPr/>
          <p:nvPr/>
        </p:nvSpPr>
        <p:spPr>
          <a:xfrm>
            <a:off x="530352" y="2596896"/>
            <a:ext cx="4334256" cy="182880"/>
          </a:xfrm>
          <a:prstGeom prst="rect">
            <a:avLst/>
          </a:prstGeom>
          <a:solidFill>
            <a:srgbClr val="155E75"/>
          </a:solidFill>
          <a:ln/>
        </p:spPr>
      </p:sp>
      <p:sp>
        <p:nvSpPr>
          <p:cNvPr id="14" name="Text 11"/>
          <p:cNvSpPr txBox="1"/>
          <p:nvPr/>
        </p:nvSpPr>
        <p:spPr>
          <a:xfrm>
            <a:off x="621792" y="2596896"/>
            <a:ext cx="4151376" cy="182880"/>
          </a:xfrm>
          <a:prstGeom prst="rect">
            <a:avLst/>
          </a:prstGeom>
          <a:noFill/>
          <a:ln/>
        </p:spPr>
        <p:txBody>
          <a:bodyPr wrap="square" lIns="0" tIns="0" rIns="0" bIns="0" rtlCol="0" anchor="ctr"/>
          <a:lstStyle/>
          <a:p>
            <a:pPr marL="0" indent="0">
              <a:buNone/>
            </a:pPr>
            <a:r>
              <a:rPr lang="en-US" sz="1000" b="1" dirty="0">
                <a:solidFill>
                  <a:srgbClr val="FFFFFF"/>
                </a:solidFill>
                <a:latin typeface="Courier New" pitchFamily="34" charset="0"/>
                <a:ea typeface="Courier New" pitchFamily="34" charset="-122"/>
                <a:cs typeface="Courier New" pitchFamily="34" charset="-120"/>
              </a:rPr>
              <a:t>class Pump extends FuelStation {</a:t>
            </a:r>
            <a:endParaRPr lang="en-US" sz="1000" dirty="0"/>
          </a:p>
        </p:txBody>
      </p:sp>
      <p:sp>
        <p:nvSpPr>
          <p:cNvPr id="15" name="Text 12"/>
          <p:cNvSpPr txBox="1"/>
          <p:nvPr/>
        </p:nvSpPr>
        <p:spPr>
          <a:xfrm>
            <a:off x="3108960" y="2596896"/>
            <a:ext cx="1664208" cy="182880"/>
          </a:xfrm>
          <a:prstGeom prst="rect">
            <a:avLst/>
          </a:prstGeom>
          <a:noFill/>
          <a:ln/>
        </p:spPr>
        <p:txBody>
          <a:bodyPr wrap="square" lIns="0" tIns="0" rIns="0" bIns="0" rtlCol="0" anchor="ctr"/>
          <a:lstStyle/>
          <a:p>
            <a:pPr marL="0" indent="0" algn="r">
              <a:buNone/>
            </a:pPr>
            <a:r>
              <a:rPr lang="en-US" sz="950" b="1" dirty="0">
                <a:solidFill>
                  <a:srgbClr val="22D3EE"/>
                </a:solidFill>
                <a:latin typeface="Calibri" pitchFamily="34" charset="0"/>
                <a:ea typeface="Calibri" pitchFamily="34" charset="-122"/>
                <a:cs typeface="Calibri" pitchFamily="34" charset="-120"/>
              </a:rPr>
              <a:t>← child of FuelStation</a:t>
            </a:r>
            <a:endParaRPr lang="en-US" sz="950" dirty="0"/>
          </a:p>
        </p:txBody>
      </p:sp>
      <p:sp>
        <p:nvSpPr>
          <p:cNvPr id="16" name="Shape 13"/>
          <p:cNvSpPr/>
          <p:nvPr/>
        </p:nvSpPr>
        <p:spPr>
          <a:xfrm>
            <a:off x="530352" y="2779776"/>
            <a:ext cx="4334256" cy="182880"/>
          </a:xfrm>
          <a:prstGeom prst="rect">
            <a:avLst/>
          </a:prstGeom>
          <a:solidFill>
            <a:srgbClr val="155E75"/>
          </a:solidFill>
          <a:ln/>
        </p:spPr>
      </p:sp>
      <p:sp>
        <p:nvSpPr>
          <p:cNvPr id="17" name="Text 14"/>
          <p:cNvSpPr txBox="1"/>
          <p:nvPr/>
        </p:nvSpPr>
        <p:spPr>
          <a:xfrm>
            <a:off x="621792" y="2779776"/>
            <a:ext cx="4151376" cy="182880"/>
          </a:xfrm>
          <a:prstGeom prst="rect">
            <a:avLst/>
          </a:prstGeom>
          <a:noFill/>
          <a:ln/>
        </p:spPr>
        <p:txBody>
          <a:bodyPr wrap="square" lIns="0" tIns="0" rIns="0" bIns="0" rtlCol="0" anchor="ctr"/>
          <a:lstStyle/>
          <a:p>
            <a:pPr marL="0" indent="0">
              <a:buNone/>
            </a:pPr>
            <a:r>
              <a:rPr lang="en-US" sz="1000" b="1" dirty="0">
                <a:solidFill>
                  <a:srgbClr val="FFFFFF"/>
                </a:solidFill>
                <a:latin typeface="Courier New" pitchFamily="34" charset="0"/>
                <a:ea typeface="Courier New" pitchFamily="34" charset="-122"/>
                <a:cs typeface="Courier New" pitchFamily="34" charset="-120"/>
              </a:rPr>
              <a:t>public class main extends JFrame {</a:t>
            </a:r>
            <a:endParaRPr lang="en-US" sz="1000" dirty="0"/>
          </a:p>
        </p:txBody>
      </p:sp>
      <p:sp>
        <p:nvSpPr>
          <p:cNvPr id="18" name="Text 15"/>
          <p:cNvSpPr txBox="1"/>
          <p:nvPr/>
        </p:nvSpPr>
        <p:spPr>
          <a:xfrm>
            <a:off x="3108960" y="2779776"/>
            <a:ext cx="1664208" cy="182880"/>
          </a:xfrm>
          <a:prstGeom prst="rect">
            <a:avLst/>
          </a:prstGeom>
          <a:noFill/>
          <a:ln/>
        </p:spPr>
        <p:txBody>
          <a:bodyPr wrap="square" lIns="0" tIns="0" rIns="0" bIns="0" rtlCol="0" anchor="ctr"/>
          <a:lstStyle/>
          <a:p>
            <a:pPr marL="0" indent="0" algn="r">
              <a:buNone/>
            </a:pPr>
            <a:r>
              <a:rPr lang="en-US" sz="950" b="1" dirty="0">
                <a:solidFill>
                  <a:srgbClr val="22D3EE"/>
                </a:solidFill>
                <a:latin typeface="Calibri" pitchFamily="34" charset="0"/>
                <a:ea typeface="Calibri" pitchFamily="34" charset="-122"/>
                <a:cs typeface="Calibri" pitchFamily="34" charset="-120"/>
              </a:rPr>
              <a:t>← child of JFrame</a:t>
            </a:r>
            <a:endParaRPr lang="en-US" sz="950" dirty="0"/>
          </a:p>
        </p:txBody>
      </p:sp>
      <p:sp>
        <p:nvSpPr>
          <p:cNvPr id="19" name="Shape 16"/>
          <p:cNvSpPr/>
          <p:nvPr/>
        </p:nvSpPr>
        <p:spPr>
          <a:xfrm>
            <a:off x="457200" y="3200400"/>
            <a:ext cx="1371600" cy="347472"/>
          </a:xfrm>
          <a:prstGeom prst="roundRect">
            <a:avLst>
              <a:gd name="adj" fmla="val 15789"/>
            </a:avLst>
          </a:prstGeom>
          <a:solidFill>
            <a:srgbClr val="0B1F3A"/>
          </a:solidFill>
          <a:ln/>
        </p:spPr>
      </p:sp>
      <p:sp>
        <p:nvSpPr>
          <p:cNvPr id="20" name="Text 17"/>
          <p:cNvSpPr txBox="1"/>
          <p:nvPr/>
        </p:nvSpPr>
        <p:spPr>
          <a:xfrm>
            <a:off x="457200" y="3200400"/>
            <a:ext cx="1371600" cy="34747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Pump</a:t>
            </a:r>
            <a:endParaRPr lang="en-US" sz="1250" dirty="0"/>
          </a:p>
        </p:txBody>
      </p:sp>
      <p:sp>
        <p:nvSpPr>
          <p:cNvPr id="21" name="Shape 18"/>
          <p:cNvSpPr/>
          <p:nvPr/>
        </p:nvSpPr>
        <p:spPr>
          <a:xfrm>
            <a:off x="1901952" y="3236976"/>
            <a:ext cx="1234440" cy="274320"/>
          </a:xfrm>
          <a:prstGeom prst="rightArrow">
            <a:avLst/>
          </a:prstGeom>
          <a:solidFill>
            <a:srgbClr val="0E7490"/>
          </a:solidFill>
          <a:ln/>
        </p:spPr>
      </p:sp>
      <p:sp>
        <p:nvSpPr>
          <p:cNvPr id="22" name="Text 19"/>
          <p:cNvSpPr txBox="1"/>
          <p:nvPr/>
        </p:nvSpPr>
        <p:spPr>
          <a:xfrm>
            <a:off x="1901952" y="3236976"/>
            <a:ext cx="114300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extends</a:t>
            </a:r>
            <a:endParaRPr lang="en-US" sz="1050" dirty="0"/>
          </a:p>
        </p:txBody>
      </p:sp>
      <p:sp>
        <p:nvSpPr>
          <p:cNvPr id="23" name="Shape 20"/>
          <p:cNvSpPr/>
          <p:nvPr/>
        </p:nvSpPr>
        <p:spPr>
          <a:xfrm>
            <a:off x="3200400" y="3200400"/>
            <a:ext cx="1371600" cy="347472"/>
          </a:xfrm>
          <a:prstGeom prst="roundRect">
            <a:avLst>
              <a:gd name="adj" fmla="val 15789"/>
            </a:avLst>
          </a:prstGeom>
          <a:solidFill>
            <a:srgbClr val="12335C"/>
          </a:solidFill>
          <a:ln/>
        </p:spPr>
      </p:sp>
      <p:sp>
        <p:nvSpPr>
          <p:cNvPr id="24" name="Text 21"/>
          <p:cNvSpPr txBox="1"/>
          <p:nvPr/>
        </p:nvSpPr>
        <p:spPr>
          <a:xfrm>
            <a:off x="3200400" y="3200400"/>
            <a:ext cx="1371600" cy="34747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FuelStation</a:t>
            </a:r>
            <a:endParaRPr lang="en-US" sz="1250" dirty="0"/>
          </a:p>
        </p:txBody>
      </p:sp>
      <p:sp>
        <p:nvSpPr>
          <p:cNvPr id="25" name="Shape 22"/>
          <p:cNvSpPr/>
          <p:nvPr/>
        </p:nvSpPr>
        <p:spPr>
          <a:xfrm>
            <a:off x="457200" y="3657600"/>
            <a:ext cx="1371600" cy="347472"/>
          </a:xfrm>
          <a:prstGeom prst="roundRect">
            <a:avLst>
              <a:gd name="adj" fmla="val 15789"/>
            </a:avLst>
          </a:prstGeom>
          <a:solidFill>
            <a:srgbClr val="0B1F3A"/>
          </a:solidFill>
          <a:ln/>
        </p:spPr>
      </p:sp>
      <p:sp>
        <p:nvSpPr>
          <p:cNvPr id="26" name="Text 23"/>
          <p:cNvSpPr txBox="1"/>
          <p:nvPr/>
        </p:nvSpPr>
        <p:spPr>
          <a:xfrm>
            <a:off x="457200" y="3657600"/>
            <a:ext cx="1371600" cy="34747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main</a:t>
            </a:r>
            <a:endParaRPr lang="en-US" sz="1250" dirty="0"/>
          </a:p>
        </p:txBody>
      </p:sp>
      <p:sp>
        <p:nvSpPr>
          <p:cNvPr id="27" name="Shape 24"/>
          <p:cNvSpPr/>
          <p:nvPr/>
        </p:nvSpPr>
        <p:spPr>
          <a:xfrm>
            <a:off x="1901952" y="3694176"/>
            <a:ext cx="1234440" cy="274320"/>
          </a:xfrm>
          <a:prstGeom prst="rightArrow">
            <a:avLst/>
          </a:prstGeom>
          <a:solidFill>
            <a:srgbClr val="0E7490"/>
          </a:solidFill>
          <a:ln/>
        </p:spPr>
      </p:sp>
      <p:sp>
        <p:nvSpPr>
          <p:cNvPr id="28" name="Text 25"/>
          <p:cNvSpPr txBox="1"/>
          <p:nvPr/>
        </p:nvSpPr>
        <p:spPr>
          <a:xfrm>
            <a:off x="1901952" y="3694176"/>
            <a:ext cx="114300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extends</a:t>
            </a:r>
            <a:endParaRPr lang="en-US" sz="1050" dirty="0"/>
          </a:p>
        </p:txBody>
      </p:sp>
      <p:sp>
        <p:nvSpPr>
          <p:cNvPr id="29" name="Shape 26"/>
          <p:cNvSpPr/>
          <p:nvPr/>
        </p:nvSpPr>
        <p:spPr>
          <a:xfrm>
            <a:off x="3200400" y="3657600"/>
            <a:ext cx="1371600" cy="347472"/>
          </a:xfrm>
          <a:prstGeom prst="roundRect">
            <a:avLst>
              <a:gd name="adj" fmla="val 15789"/>
            </a:avLst>
          </a:prstGeom>
          <a:solidFill>
            <a:srgbClr val="12335C"/>
          </a:solidFill>
          <a:ln/>
        </p:spPr>
      </p:sp>
      <p:sp>
        <p:nvSpPr>
          <p:cNvPr id="30" name="Text 27"/>
          <p:cNvSpPr txBox="1"/>
          <p:nvPr/>
        </p:nvSpPr>
        <p:spPr>
          <a:xfrm>
            <a:off x="3200400" y="3657600"/>
            <a:ext cx="1371600" cy="34747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JFrame</a:t>
            </a:r>
            <a:endParaRPr lang="en-US" sz="1250" dirty="0"/>
          </a:p>
        </p:txBody>
      </p:sp>
      <p:sp>
        <p:nvSpPr>
          <p:cNvPr id="31" name="Shape 28"/>
          <p:cNvSpPr/>
          <p:nvPr/>
        </p:nvSpPr>
        <p:spPr>
          <a:xfrm>
            <a:off x="5120640" y="1737360"/>
            <a:ext cx="3566160" cy="2267712"/>
          </a:xfrm>
          <a:prstGeom prst="roundRect">
            <a:avLst>
              <a:gd name="adj" fmla="val 4032"/>
            </a:avLst>
          </a:prstGeom>
          <a:solidFill>
            <a:srgbClr val="F3F7FB"/>
          </a:solidFill>
          <a:ln/>
          <a:effectLst>
            <a:outerShdw blurRad="76200" dist="25400" dir="5400000" algn="bl" rotWithShape="0">
              <a:srgbClr val="000000">
                <a:alpha val="10000"/>
              </a:srgbClr>
            </a:outerShdw>
          </a:effectLst>
        </p:spPr>
      </p:sp>
      <p:sp>
        <p:nvSpPr>
          <p:cNvPr id="32" name="Text 29"/>
          <p:cNvSpPr txBox="1"/>
          <p:nvPr/>
        </p:nvSpPr>
        <p:spPr>
          <a:xfrm>
            <a:off x="5303520" y="1847088"/>
            <a:ext cx="3200400" cy="256032"/>
          </a:xfrm>
          <a:prstGeom prst="rect">
            <a:avLst/>
          </a:prstGeom>
          <a:noFill/>
          <a:ln/>
        </p:spPr>
        <p:txBody>
          <a:bodyPr wrap="square" lIns="0" tIns="0" rIns="0" bIns="0" rtlCol="0" anchor="ctr"/>
          <a:lstStyle/>
          <a:p>
            <a:pPr marL="0" indent="0">
              <a:buNone/>
            </a:pPr>
            <a:r>
              <a:rPr lang="en-US" sz="1300" b="1" dirty="0">
                <a:solidFill>
                  <a:srgbClr val="0E7490"/>
                </a:solidFill>
                <a:latin typeface="Calibri" pitchFamily="34" charset="0"/>
                <a:ea typeface="Calibri" pitchFamily="34" charset="-122"/>
                <a:cs typeface="Calibri" pitchFamily="34" charset="-120"/>
              </a:rPr>
              <a:t>In our project</a:t>
            </a:r>
            <a:endParaRPr lang="en-US" sz="1300" dirty="0"/>
          </a:p>
        </p:txBody>
      </p:sp>
      <p:sp>
        <p:nvSpPr>
          <p:cNvPr id="33" name="Text 30"/>
          <p:cNvSpPr txBox="1"/>
          <p:nvPr/>
        </p:nvSpPr>
        <p:spPr>
          <a:xfrm>
            <a:off x="5303520" y="2176272"/>
            <a:ext cx="3200400" cy="1783080"/>
          </a:xfrm>
          <a:prstGeom prst="rect">
            <a:avLst/>
          </a:prstGeom>
          <a:noFill/>
          <a:ln/>
        </p:spPr>
        <p:txBody>
          <a:bodyPr wrap="square" lIns="0" tIns="0" rIns="0" bIns="0" rtlCol="0" anchor="t"/>
          <a:lstStyle/>
          <a:p>
            <a:pPr marL="177800" indent="-177800">
              <a:spcAft>
                <a:spcPts val="600"/>
              </a:spcAft>
              <a:buSzPct val="100000"/>
              <a:buChar char="•"/>
            </a:pPr>
            <a:r>
              <a:rPr lang="en-US" sz="1250" b="1" dirty="0">
                <a:solidFill>
                  <a:srgbClr val="0B1F3A"/>
                </a:solidFill>
                <a:latin typeface="Calibri" pitchFamily="34" charset="0"/>
                <a:ea typeface="Calibri" pitchFamily="34" charset="-122"/>
                <a:cs typeface="Calibri" pitchFamily="34" charset="-120"/>
              </a:rPr>
              <a:t>Parent: </a:t>
            </a:r>
            <a:r>
              <a:rPr lang="en-US" sz="1250" dirty="0">
                <a:solidFill>
                  <a:srgbClr val="0B1F3A"/>
                </a:solidFill>
                <a:latin typeface="Calibri" pitchFamily="34" charset="0"/>
                <a:ea typeface="Calibri" pitchFamily="34" charset="-122"/>
                <a:cs typeface="Calibri" pitchFamily="34" charset="-120"/>
              </a:rPr>
              <a:t>FuelStation (abstract class).</a:t>
            </a:r>
            <a:endParaRPr lang="en-US" sz="1250" dirty="0"/>
          </a:p>
          <a:p>
            <a:pPr marL="177800" indent="-177800">
              <a:spcAft>
                <a:spcPts val="600"/>
              </a:spcAft>
              <a:buSzPct val="100000"/>
              <a:buChar char="•"/>
            </a:pPr>
            <a:r>
              <a:rPr lang="en-US" sz="1250" b="1" dirty="0">
                <a:solidFill>
                  <a:srgbClr val="0B1F3A"/>
                </a:solidFill>
                <a:latin typeface="Calibri" pitchFamily="34" charset="0"/>
                <a:ea typeface="Calibri" pitchFamily="34" charset="-122"/>
                <a:cs typeface="Calibri" pitchFamily="34" charset="-120"/>
              </a:rPr>
              <a:t>Child: </a:t>
            </a:r>
            <a:r>
              <a:rPr lang="en-US" sz="1250" dirty="0">
                <a:solidFill>
                  <a:srgbClr val="0B1F3A"/>
                </a:solidFill>
                <a:latin typeface="Calibri" pitchFamily="34" charset="0"/>
                <a:ea typeface="Calibri" pitchFamily="34" charset="-122"/>
                <a:cs typeface="Calibri" pitchFamily="34" charset="-120"/>
              </a:rPr>
              <a:t>Pump, declared with extends.</a:t>
            </a:r>
            <a:endParaRPr lang="en-US" sz="1250" dirty="0"/>
          </a:p>
          <a:p>
            <a:pPr marL="177800" indent="-177800">
              <a:spcAft>
                <a:spcPts val="600"/>
              </a:spcAft>
              <a:buSzPct val="100000"/>
              <a:buChar char="•"/>
            </a:pPr>
            <a:r>
              <a:rPr lang="en-US" sz="1250" b="1" dirty="0">
                <a:solidFill>
                  <a:srgbClr val="0B1F3A"/>
                </a:solidFill>
                <a:latin typeface="Calibri" pitchFamily="34" charset="0"/>
                <a:ea typeface="Calibri" pitchFamily="34" charset="-122"/>
                <a:cs typeface="Calibri" pitchFamily="34" charset="-120"/>
              </a:rPr>
              <a:t>Child gets: </a:t>
            </a:r>
            <a:r>
              <a:rPr lang="en-US" sz="1250" dirty="0">
                <a:solidFill>
                  <a:srgbClr val="0B1F3A"/>
                </a:solidFill>
                <a:latin typeface="Calibri" pitchFamily="34" charset="0"/>
                <a:ea typeface="Calibri" pitchFamily="34" charset="-122"/>
                <a:cs typeface="Calibri" pitchFamily="34" charset="-120"/>
              </a:rPr>
              <a:t>the showInfo() method, which Pump must implement.</a:t>
            </a:r>
            <a:endParaRPr lang="en-US" sz="1250" dirty="0"/>
          </a:p>
          <a:p>
            <a:pPr marL="177800" indent="-177800">
              <a:spcAft>
                <a:spcPts val="600"/>
              </a:spcAft>
              <a:buSzPct val="100000"/>
              <a:buChar char="•"/>
            </a:pPr>
            <a:r>
              <a:rPr lang="en-US" sz="1250" b="1" dirty="0">
                <a:solidFill>
                  <a:srgbClr val="0B1F3A"/>
                </a:solidFill>
                <a:latin typeface="Calibri" pitchFamily="34" charset="0"/>
                <a:ea typeface="Calibri" pitchFamily="34" charset="-122"/>
                <a:cs typeface="Calibri" pitchFamily="34" charset="-120"/>
              </a:rPr>
              <a:t>Also: </a:t>
            </a:r>
            <a:r>
              <a:rPr lang="en-US" sz="1250" dirty="0">
                <a:solidFill>
                  <a:srgbClr val="0B1F3A"/>
                </a:solidFill>
                <a:latin typeface="Calibri" pitchFamily="34" charset="0"/>
                <a:ea typeface="Calibri" pitchFamily="34" charset="-122"/>
                <a:cs typeface="Calibri" pitchFamily="34" charset="-120"/>
              </a:rPr>
              <a:t>main extends JFrame, so it can use setTitle(), setSize() and setVisible().</a:t>
            </a:r>
            <a:endParaRPr lang="en-US" sz="1250" dirty="0"/>
          </a:p>
        </p:txBody>
      </p:sp>
      <p:sp>
        <p:nvSpPr>
          <p:cNvPr id="34" name="Shape 31"/>
          <p:cNvSpPr/>
          <p:nvPr/>
        </p:nvSpPr>
        <p:spPr>
          <a:xfrm>
            <a:off x="457200" y="4160520"/>
            <a:ext cx="8229600" cy="457200"/>
          </a:xfrm>
          <a:prstGeom prst="roundRect">
            <a:avLst>
              <a:gd name="adj" fmla="val 20000"/>
            </a:avLst>
          </a:prstGeom>
          <a:solidFill>
            <a:srgbClr val="E8F7FB"/>
          </a:solidFill>
          <a:ln/>
        </p:spPr>
      </p:sp>
      <p:sp>
        <p:nvSpPr>
          <p:cNvPr id="35" name="Shape 32"/>
          <p:cNvSpPr/>
          <p:nvPr/>
        </p:nvSpPr>
        <p:spPr>
          <a:xfrm>
            <a:off x="566928" y="4215384"/>
            <a:ext cx="347472" cy="347472"/>
          </a:xfrm>
          <a:prstGeom prst="ellipse">
            <a:avLst/>
          </a:prstGeom>
          <a:solidFill>
            <a:srgbClr val="0B1F3A"/>
          </a:solidFill>
          <a:ln/>
        </p:spPr>
      </p:sp>
      <p:pic>
        <p:nvPicPr>
          <p:cNvPr id="36" name="Image 1" descr="preencoded.png"/>
          <p:cNvPicPr>
            <a:picLocks noChangeAspect="1"/>
          </p:cNvPicPr>
          <p:nvPr/>
        </p:nvPicPr>
        <p:blipFill>
          <a:blip r:embed="rId4"/>
          <a:stretch>
            <a:fillRect/>
          </a:stretch>
        </p:blipFill>
        <p:spPr>
          <a:xfrm>
            <a:off x="653796" y="4302252"/>
            <a:ext cx="173736" cy="173736"/>
          </a:xfrm>
          <a:prstGeom prst="rect">
            <a:avLst/>
          </a:prstGeom>
        </p:spPr>
      </p:pic>
      <p:sp>
        <p:nvSpPr>
          <p:cNvPr id="37" name="Text 33"/>
          <p:cNvSpPr txBox="1"/>
          <p:nvPr/>
        </p:nvSpPr>
        <p:spPr>
          <a:xfrm>
            <a:off x="1051560" y="4160520"/>
            <a:ext cx="7498080" cy="457200"/>
          </a:xfrm>
          <a:prstGeom prst="rect">
            <a:avLst/>
          </a:prstGeom>
          <a:noFill/>
          <a:ln/>
        </p:spPr>
        <p:txBody>
          <a:bodyPr wrap="square" lIns="0" tIns="0" rIns="0" bIns="0" rtlCol="0" anchor="ctr"/>
          <a:lstStyle/>
          <a:p>
            <a:pPr marL="0" indent="0">
              <a:buNone/>
            </a:pPr>
            <a:r>
              <a:rPr lang="en-US" sz="1250" b="1" dirty="0">
                <a:solidFill>
                  <a:srgbClr val="0E7490"/>
                </a:solidFill>
                <a:latin typeface="Calibri" pitchFamily="34" charset="0"/>
                <a:ea typeface="Calibri" pitchFamily="34" charset="-122"/>
                <a:cs typeface="Calibri" pitchFamily="34" charset="-120"/>
              </a:rPr>
              <a:t>Real-life example: </a:t>
            </a:r>
            <a:r>
              <a:rPr lang="en-US" sz="1250" dirty="0">
                <a:solidFill>
                  <a:srgbClr val="0B1F3A"/>
                </a:solidFill>
                <a:latin typeface="Calibri" pitchFamily="34" charset="0"/>
                <a:ea typeface="Calibri" pitchFamily="34" charset="-122"/>
                <a:cs typeface="Calibri" pitchFamily="34" charset="-120"/>
              </a:rPr>
              <a:t>A Car is a type of Vehicle, so it inherits what a Vehicle has.</a:t>
            </a:r>
            <a:endParaRPr lang="en-US" sz="1250" dirty="0"/>
          </a:p>
        </p:txBody>
      </p:sp>
      <p:sp>
        <p:nvSpPr>
          <p:cNvPr id="38" name="Text 34"/>
          <p:cNvSpPr txBox="1"/>
          <p:nvPr/>
        </p:nvSpPr>
        <p:spPr>
          <a:xfrm>
            <a:off x="457200" y="4773168"/>
            <a:ext cx="4572000" cy="201168"/>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Smart Fuel Pump Management System</a:t>
            </a:r>
            <a:endParaRPr lang="en-US" sz="1000" dirty="0"/>
          </a:p>
        </p:txBody>
      </p:sp>
      <p:sp>
        <p:nvSpPr>
          <p:cNvPr id="39" name="Text 35"/>
          <p:cNvSpPr txBox="1"/>
          <p:nvPr/>
        </p:nvSpPr>
        <p:spPr>
          <a:xfrm>
            <a:off x="7772400" y="4773168"/>
            <a:ext cx="914400" cy="201168"/>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6400800" cy="228600"/>
          </a:xfrm>
          <a:prstGeom prst="rect">
            <a:avLst/>
          </a:prstGeom>
          <a:noFill/>
          <a:ln/>
        </p:spPr>
        <p:txBody>
          <a:bodyPr wrap="square" lIns="0" tIns="0" rIns="0" bIns="0" rtlCol="0" anchor="ctr"/>
          <a:lstStyle/>
          <a:p>
            <a:pPr marL="0" indent="0">
              <a:buNone/>
            </a:pPr>
            <a:r>
              <a:rPr lang="en-US" sz="1100" b="1" kern="0" spc="300" dirty="0">
                <a:solidFill>
                  <a:srgbClr val="0E7490"/>
                </a:solidFill>
                <a:latin typeface="Calibri" pitchFamily="34" charset="0"/>
                <a:ea typeface="Calibri" pitchFamily="34" charset="-122"/>
                <a:cs typeface="Calibri" pitchFamily="34" charset="-120"/>
              </a:rPr>
              <a:t>OOP · PILLAR 3</a:t>
            </a:r>
            <a:endParaRPr lang="en-US" sz="1100" dirty="0"/>
          </a:p>
        </p:txBody>
      </p:sp>
      <p:sp>
        <p:nvSpPr>
          <p:cNvPr id="3" name="Text 1"/>
          <p:cNvSpPr txBox="1"/>
          <p:nvPr/>
        </p:nvSpPr>
        <p:spPr>
          <a:xfrm>
            <a:off x="457200" y="502920"/>
            <a:ext cx="7498080" cy="548640"/>
          </a:xfrm>
          <a:prstGeom prst="rect">
            <a:avLst/>
          </a:prstGeom>
          <a:noFill/>
          <a:ln/>
        </p:spPr>
        <p:txBody>
          <a:bodyPr wrap="square" lIns="0" tIns="0" rIns="0" bIns="0" rtlCol="0" anchor="ctr"/>
          <a:lstStyle/>
          <a:p>
            <a:pPr marL="0" indent="0">
              <a:buNone/>
            </a:pPr>
            <a:r>
              <a:rPr lang="en-US" sz="3000" b="1" dirty="0">
                <a:solidFill>
                  <a:srgbClr val="0B1F3A"/>
                </a:solidFill>
                <a:latin typeface="Calibri" pitchFamily="34" charset="0"/>
                <a:ea typeface="Calibri" pitchFamily="34" charset="-122"/>
                <a:cs typeface="Calibri" pitchFamily="34" charset="-120"/>
              </a:rPr>
              <a:t>Polymorphism</a:t>
            </a:r>
            <a:endParaRPr lang="en-US" sz="3000" dirty="0"/>
          </a:p>
        </p:txBody>
      </p:sp>
      <p:sp>
        <p:nvSpPr>
          <p:cNvPr id="4" name="Shape 2"/>
          <p:cNvSpPr/>
          <p:nvPr/>
        </p:nvSpPr>
        <p:spPr>
          <a:xfrm>
            <a:off x="8229600" y="384048"/>
            <a:ext cx="457200" cy="457200"/>
          </a:xfrm>
          <a:prstGeom prst="ellipse">
            <a:avLst/>
          </a:prstGeom>
          <a:solidFill>
            <a:srgbClr val="0B1F3A"/>
          </a:solidFill>
          <a:ln/>
        </p:spPr>
      </p:sp>
      <p:pic>
        <p:nvPicPr>
          <p:cNvPr id="5" name="Image 0" descr="preencoded.png"/>
          <p:cNvPicPr>
            <a:picLocks noChangeAspect="1"/>
          </p:cNvPicPr>
          <p:nvPr/>
        </p:nvPicPr>
        <p:blipFill>
          <a:blip r:embed="rId3"/>
          <a:stretch>
            <a:fillRect/>
          </a:stretch>
        </p:blipFill>
        <p:spPr>
          <a:xfrm>
            <a:off x="8343900" y="498348"/>
            <a:ext cx="228600" cy="228600"/>
          </a:xfrm>
          <a:prstGeom prst="rect">
            <a:avLst/>
          </a:prstGeom>
        </p:spPr>
      </p:pic>
      <p:sp>
        <p:nvSpPr>
          <p:cNvPr id="6" name="Shape 3"/>
          <p:cNvSpPr/>
          <p:nvPr/>
        </p:nvSpPr>
        <p:spPr>
          <a:xfrm>
            <a:off x="457200" y="1097280"/>
            <a:ext cx="8229600" cy="502920"/>
          </a:xfrm>
          <a:prstGeom prst="roundRect">
            <a:avLst>
              <a:gd name="adj" fmla="val 18182"/>
            </a:avLst>
          </a:prstGeom>
          <a:solidFill>
            <a:srgbClr val="E8F7FB"/>
          </a:solidFill>
          <a:ln/>
        </p:spPr>
      </p:sp>
      <p:sp>
        <p:nvSpPr>
          <p:cNvPr id="7" name="Text 4"/>
          <p:cNvSpPr txBox="1"/>
          <p:nvPr/>
        </p:nvSpPr>
        <p:spPr>
          <a:xfrm>
            <a:off x="640080" y="1097280"/>
            <a:ext cx="7863840" cy="502920"/>
          </a:xfrm>
          <a:prstGeom prst="rect">
            <a:avLst/>
          </a:prstGeom>
          <a:noFill/>
          <a:ln/>
        </p:spPr>
        <p:txBody>
          <a:bodyPr wrap="square" lIns="0" tIns="0" rIns="0" bIns="0" rtlCol="0" anchor="ctr"/>
          <a:lstStyle/>
          <a:p>
            <a:pPr marL="0" indent="0">
              <a:buNone/>
            </a:pPr>
            <a:r>
              <a:rPr lang="en-US" sz="1250" b="1" dirty="0">
                <a:solidFill>
                  <a:srgbClr val="0E7490"/>
                </a:solidFill>
                <a:latin typeface="Calibri" pitchFamily="34" charset="0"/>
                <a:ea typeface="Calibri" pitchFamily="34" charset="-122"/>
                <a:cs typeface="Calibri" pitchFamily="34" charset="-120"/>
              </a:rPr>
              <a:t>Definition: </a:t>
            </a:r>
            <a:r>
              <a:rPr lang="en-US" sz="1250" i="1" dirty="0">
                <a:solidFill>
                  <a:srgbClr val="0B1F3A"/>
                </a:solidFill>
                <a:latin typeface="Calibri" pitchFamily="34" charset="0"/>
                <a:ea typeface="Calibri" pitchFamily="34" charset="-122"/>
                <a:cs typeface="Calibri" pitchFamily="34" charset="-120"/>
              </a:rPr>
              <a:t>Polymorphism means one interface or method can behave differently depending on the object.</a:t>
            </a:r>
            <a:endParaRPr lang="en-US" sz="1250" dirty="0"/>
          </a:p>
        </p:txBody>
      </p:sp>
      <p:sp>
        <p:nvSpPr>
          <p:cNvPr id="8" name="Shape 5"/>
          <p:cNvSpPr/>
          <p:nvPr/>
        </p:nvSpPr>
        <p:spPr>
          <a:xfrm>
            <a:off x="457200" y="1737360"/>
            <a:ext cx="4480560" cy="2066544"/>
          </a:xfrm>
          <a:prstGeom prst="roundRect">
            <a:avLst>
              <a:gd name="adj" fmla="val 3540"/>
            </a:avLst>
          </a:prstGeom>
          <a:solidFill>
            <a:srgbClr val="0A1A30"/>
          </a:solidFill>
          <a:ln/>
        </p:spPr>
      </p:sp>
      <p:sp>
        <p:nvSpPr>
          <p:cNvPr id="9" name="Text 6"/>
          <p:cNvSpPr txBox="1"/>
          <p:nvPr/>
        </p:nvSpPr>
        <p:spPr>
          <a:xfrm>
            <a:off x="621792" y="1810512"/>
            <a:ext cx="4151376" cy="201168"/>
          </a:xfrm>
          <a:prstGeom prst="rect">
            <a:avLst/>
          </a:prstGeom>
          <a:noFill/>
          <a:ln/>
        </p:spPr>
        <p:txBody>
          <a:bodyPr wrap="square" lIns="0" tIns="0" rIns="0" bIns="0" rtlCol="0" anchor="ctr"/>
          <a:lstStyle/>
          <a:p>
            <a:pPr marL="0" indent="0">
              <a:buNone/>
            </a:pPr>
            <a:r>
              <a:rPr lang="en-US" sz="950" b="1" kern="0" spc="100" dirty="0">
                <a:solidFill>
                  <a:srgbClr val="67C7E0"/>
                </a:solidFill>
                <a:latin typeface="Calibri" pitchFamily="34" charset="0"/>
                <a:ea typeface="Calibri" pitchFamily="34" charset="-122"/>
                <a:cs typeface="Calibri" pitchFamily="34" charset="-120"/>
              </a:rPr>
              <a:t>method overriding</a:t>
            </a:r>
            <a:endParaRPr lang="en-US" sz="950" dirty="0"/>
          </a:p>
        </p:txBody>
      </p:sp>
      <p:sp>
        <p:nvSpPr>
          <p:cNvPr id="10" name="Text 7"/>
          <p:cNvSpPr txBox="1"/>
          <p:nvPr/>
        </p:nvSpPr>
        <p:spPr>
          <a:xfrm>
            <a:off x="621792" y="2048256"/>
            <a:ext cx="4151376" cy="182880"/>
          </a:xfrm>
          <a:prstGeom prst="rect">
            <a:avLst/>
          </a:prstGeom>
          <a:noFill/>
          <a:ln/>
        </p:spPr>
        <p:txBody>
          <a:bodyPr wrap="square" lIns="0" tIns="0" rIns="0" bIns="0" rtlCol="0" anchor="ctr"/>
          <a:lstStyle/>
          <a:p>
            <a:pPr marL="0" indent="0">
              <a:buNone/>
            </a:pPr>
            <a:r>
              <a:rPr lang="en-US" sz="1000" dirty="0">
                <a:solidFill>
                  <a:srgbClr val="C9D6E8"/>
                </a:solidFill>
                <a:latin typeface="Courier New" pitchFamily="34" charset="0"/>
                <a:ea typeface="Courier New" pitchFamily="34" charset="-122"/>
                <a:cs typeface="Courier New" pitchFamily="34" charset="-120"/>
              </a:rPr>
              <a:t>abstract class FuelStation {</a:t>
            </a:r>
            <a:endParaRPr lang="en-US" sz="1000" dirty="0"/>
          </a:p>
        </p:txBody>
      </p:sp>
      <p:sp>
        <p:nvSpPr>
          <p:cNvPr id="11" name="Text 8"/>
          <p:cNvSpPr txBox="1"/>
          <p:nvPr/>
        </p:nvSpPr>
        <p:spPr>
          <a:xfrm>
            <a:off x="926592" y="2231136"/>
            <a:ext cx="3846576" cy="182880"/>
          </a:xfrm>
          <a:prstGeom prst="rect">
            <a:avLst/>
          </a:prstGeom>
          <a:noFill/>
          <a:ln/>
        </p:spPr>
        <p:txBody>
          <a:bodyPr wrap="square" lIns="0" tIns="0" rIns="0" bIns="0" rtlCol="0" anchor="ctr"/>
          <a:lstStyle/>
          <a:p>
            <a:pPr marL="0" indent="0">
              <a:buNone/>
            </a:pPr>
            <a:r>
              <a:rPr lang="en-US" sz="1000" dirty="0">
                <a:solidFill>
                  <a:srgbClr val="C9D6E8"/>
                </a:solidFill>
                <a:latin typeface="Courier New" pitchFamily="34" charset="0"/>
                <a:ea typeface="Courier New" pitchFamily="34" charset="-122"/>
                <a:cs typeface="Courier New" pitchFamily="34" charset="-120"/>
              </a:rPr>
              <a:t>abstract void showInfo();</a:t>
            </a:r>
            <a:endParaRPr lang="en-US" sz="1000" dirty="0"/>
          </a:p>
        </p:txBody>
      </p:sp>
      <p:sp>
        <p:nvSpPr>
          <p:cNvPr id="12" name="Text 9"/>
          <p:cNvSpPr txBox="1"/>
          <p:nvPr/>
        </p:nvSpPr>
        <p:spPr>
          <a:xfrm>
            <a:off x="621792" y="2414016"/>
            <a:ext cx="4151376" cy="182880"/>
          </a:xfrm>
          <a:prstGeom prst="rect">
            <a:avLst/>
          </a:prstGeom>
          <a:noFill/>
          <a:ln/>
        </p:spPr>
        <p:txBody>
          <a:bodyPr wrap="square" lIns="0" tIns="0" rIns="0" bIns="0" rtlCol="0" anchor="ctr"/>
          <a:lstStyle/>
          <a:p>
            <a:pPr marL="0" indent="0">
              <a:buNone/>
            </a:pPr>
            <a:r>
              <a:rPr lang="en-US" sz="1000" dirty="0">
                <a:solidFill>
                  <a:srgbClr val="C9D6E8"/>
                </a:solidFill>
                <a:latin typeface="Courier New" pitchFamily="34" charset="0"/>
                <a:ea typeface="Courier New" pitchFamily="34" charset="-122"/>
                <a:cs typeface="Courier New" pitchFamily="34" charset="-120"/>
              </a:rPr>
              <a:t>}</a:t>
            </a:r>
            <a:endParaRPr lang="en-US" sz="1000" dirty="0"/>
          </a:p>
        </p:txBody>
      </p:sp>
      <p:sp>
        <p:nvSpPr>
          <p:cNvPr id="13" name="Text 10"/>
          <p:cNvSpPr txBox="1"/>
          <p:nvPr/>
        </p:nvSpPr>
        <p:spPr>
          <a:xfrm>
            <a:off x="621792" y="2596896"/>
            <a:ext cx="4151376" cy="182880"/>
          </a:xfrm>
          <a:prstGeom prst="rect">
            <a:avLst/>
          </a:prstGeom>
          <a:noFill/>
          <a:ln/>
        </p:spPr>
        <p:txBody>
          <a:bodyPr wrap="square" lIns="0" tIns="0" rIns="0" bIns="0" rtlCol="0" anchor="ctr"/>
          <a:lstStyle/>
          <a:p>
            <a:pPr marL="0" indent="0">
              <a:buNone/>
            </a:pPr>
            <a:r>
              <a:rPr lang="en-US" sz="1000" dirty="0">
                <a:solidFill>
                  <a:srgbClr val="C9D6E8"/>
                </a:solidFill>
                <a:latin typeface="Courier New" pitchFamily="34" charset="0"/>
                <a:ea typeface="Courier New" pitchFamily="34" charset="-122"/>
                <a:cs typeface="Courier New" pitchFamily="34" charset="-120"/>
              </a:rPr>
              <a:t>class Pump extends FuelStation {</a:t>
            </a:r>
            <a:endParaRPr lang="en-US" sz="1000" dirty="0"/>
          </a:p>
        </p:txBody>
      </p:sp>
      <p:sp>
        <p:nvSpPr>
          <p:cNvPr id="14" name="Shape 11"/>
          <p:cNvSpPr/>
          <p:nvPr/>
        </p:nvSpPr>
        <p:spPr>
          <a:xfrm>
            <a:off x="530352" y="2779776"/>
            <a:ext cx="4334256" cy="182880"/>
          </a:xfrm>
          <a:prstGeom prst="rect">
            <a:avLst/>
          </a:prstGeom>
          <a:solidFill>
            <a:srgbClr val="155E75"/>
          </a:solidFill>
          <a:ln/>
        </p:spPr>
      </p:sp>
      <p:sp>
        <p:nvSpPr>
          <p:cNvPr id="15" name="Text 12"/>
          <p:cNvSpPr txBox="1"/>
          <p:nvPr/>
        </p:nvSpPr>
        <p:spPr>
          <a:xfrm>
            <a:off x="926592" y="2779776"/>
            <a:ext cx="3846576" cy="182880"/>
          </a:xfrm>
          <a:prstGeom prst="rect">
            <a:avLst/>
          </a:prstGeom>
          <a:noFill/>
          <a:ln/>
        </p:spPr>
        <p:txBody>
          <a:bodyPr wrap="square" lIns="0" tIns="0" rIns="0" bIns="0" rtlCol="0" anchor="ctr"/>
          <a:lstStyle/>
          <a:p>
            <a:pPr marL="0" indent="0">
              <a:buNone/>
            </a:pPr>
            <a:r>
              <a:rPr lang="en-US" sz="1000" b="1" dirty="0">
                <a:solidFill>
                  <a:srgbClr val="FFFFFF"/>
                </a:solidFill>
                <a:latin typeface="Courier New" pitchFamily="34" charset="0"/>
                <a:ea typeface="Courier New" pitchFamily="34" charset="-122"/>
                <a:cs typeface="Courier New" pitchFamily="34" charset="-120"/>
              </a:rPr>
              <a:t>@Override</a:t>
            </a:r>
            <a:endParaRPr lang="en-US" sz="1000" dirty="0"/>
          </a:p>
        </p:txBody>
      </p:sp>
      <p:sp>
        <p:nvSpPr>
          <p:cNvPr id="16" name="Text 13"/>
          <p:cNvSpPr txBox="1"/>
          <p:nvPr/>
        </p:nvSpPr>
        <p:spPr>
          <a:xfrm>
            <a:off x="3108960" y="2779776"/>
            <a:ext cx="1664208" cy="182880"/>
          </a:xfrm>
          <a:prstGeom prst="rect">
            <a:avLst/>
          </a:prstGeom>
          <a:noFill/>
          <a:ln/>
        </p:spPr>
        <p:txBody>
          <a:bodyPr wrap="square" lIns="0" tIns="0" rIns="0" bIns="0" rtlCol="0" anchor="ctr"/>
          <a:lstStyle/>
          <a:p>
            <a:pPr marL="0" indent="0" algn="r">
              <a:buNone/>
            </a:pPr>
            <a:r>
              <a:rPr lang="en-US" sz="950" b="1" dirty="0">
                <a:solidFill>
                  <a:srgbClr val="22D3EE"/>
                </a:solidFill>
                <a:latin typeface="Calibri" pitchFamily="34" charset="0"/>
                <a:ea typeface="Calibri" pitchFamily="34" charset="-122"/>
                <a:cs typeface="Calibri" pitchFamily="34" charset="-120"/>
              </a:rPr>
              <a:t>← overriding</a:t>
            </a:r>
            <a:endParaRPr lang="en-US" sz="950" dirty="0"/>
          </a:p>
        </p:txBody>
      </p:sp>
      <p:sp>
        <p:nvSpPr>
          <p:cNvPr id="17" name="Shape 14"/>
          <p:cNvSpPr/>
          <p:nvPr/>
        </p:nvSpPr>
        <p:spPr>
          <a:xfrm>
            <a:off x="530352" y="2962656"/>
            <a:ext cx="4334256" cy="182880"/>
          </a:xfrm>
          <a:prstGeom prst="rect">
            <a:avLst/>
          </a:prstGeom>
          <a:solidFill>
            <a:srgbClr val="155E75"/>
          </a:solidFill>
          <a:ln/>
        </p:spPr>
      </p:sp>
      <p:sp>
        <p:nvSpPr>
          <p:cNvPr id="18" name="Text 15"/>
          <p:cNvSpPr txBox="1"/>
          <p:nvPr/>
        </p:nvSpPr>
        <p:spPr>
          <a:xfrm>
            <a:off x="926592" y="2962656"/>
            <a:ext cx="3846576" cy="182880"/>
          </a:xfrm>
          <a:prstGeom prst="rect">
            <a:avLst/>
          </a:prstGeom>
          <a:noFill/>
          <a:ln/>
        </p:spPr>
        <p:txBody>
          <a:bodyPr wrap="square" lIns="0" tIns="0" rIns="0" bIns="0" rtlCol="0" anchor="ctr"/>
          <a:lstStyle/>
          <a:p>
            <a:pPr marL="0" indent="0">
              <a:buNone/>
            </a:pPr>
            <a:r>
              <a:rPr lang="en-US" sz="1000" b="1" dirty="0">
                <a:solidFill>
                  <a:srgbClr val="FFFFFF"/>
                </a:solidFill>
                <a:latin typeface="Courier New" pitchFamily="34" charset="0"/>
                <a:ea typeface="Courier New" pitchFamily="34" charset="-122"/>
                <a:cs typeface="Courier New" pitchFamily="34" charset="-120"/>
              </a:rPr>
              <a:t>void showInfo() {</a:t>
            </a:r>
            <a:endParaRPr lang="en-US" sz="1000" dirty="0"/>
          </a:p>
        </p:txBody>
      </p:sp>
      <p:sp>
        <p:nvSpPr>
          <p:cNvPr id="19" name="Text 16"/>
          <p:cNvSpPr txBox="1"/>
          <p:nvPr/>
        </p:nvSpPr>
        <p:spPr>
          <a:xfrm>
            <a:off x="1231392" y="3145536"/>
            <a:ext cx="3541776" cy="182880"/>
          </a:xfrm>
          <a:prstGeom prst="rect">
            <a:avLst/>
          </a:prstGeom>
          <a:noFill/>
          <a:ln/>
        </p:spPr>
        <p:txBody>
          <a:bodyPr wrap="square" lIns="0" tIns="0" rIns="0" bIns="0" rtlCol="0" anchor="ctr"/>
          <a:lstStyle/>
          <a:p>
            <a:pPr marL="0" indent="0">
              <a:buNone/>
            </a:pPr>
            <a:r>
              <a:rPr lang="en-US" sz="1000" dirty="0">
                <a:solidFill>
                  <a:srgbClr val="C9D6E8"/>
                </a:solidFill>
                <a:latin typeface="Courier New" pitchFamily="34" charset="0"/>
                <a:ea typeface="Courier New" pitchFamily="34" charset="-122"/>
                <a:cs typeface="Courier New" pitchFamily="34" charset="-120"/>
              </a:rPr>
              <a:t>System.out.println(name);</a:t>
            </a:r>
            <a:endParaRPr lang="en-US" sz="1000" dirty="0"/>
          </a:p>
        </p:txBody>
      </p:sp>
      <p:sp>
        <p:nvSpPr>
          <p:cNvPr id="20" name="Text 17"/>
          <p:cNvSpPr txBox="1"/>
          <p:nvPr/>
        </p:nvSpPr>
        <p:spPr>
          <a:xfrm>
            <a:off x="926592" y="3328416"/>
            <a:ext cx="3846576" cy="182880"/>
          </a:xfrm>
          <a:prstGeom prst="rect">
            <a:avLst/>
          </a:prstGeom>
          <a:noFill/>
          <a:ln/>
        </p:spPr>
        <p:txBody>
          <a:bodyPr wrap="square" lIns="0" tIns="0" rIns="0" bIns="0" rtlCol="0" anchor="ctr"/>
          <a:lstStyle/>
          <a:p>
            <a:pPr marL="0" indent="0">
              <a:buNone/>
            </a:pPr>
            <a:r>
              <a:rPr lang="en-US" sz="1000" dirty="0">
                <a:solidFill>
                  <a:srgbClr val="C9D6E8"/>
                </a:solidFill>
                <a:latin typeface="Courier New" pitchFamily="34" charset="0"/>
                <a:ea typeface="Courier New" pitchFamily="34" charset="-122"/>
                <a:cs typeface="Courier New" pitchFamily="34" charset="-120"/>
              </a:rPr>
              <a:t>}</a:t>
            </a:r>
            <a:endParaRPr lang="en-US" sz="1000" dirty="0"/>
          </a:p>
        </p:txBody>
      </p:sp>
      <p:sp>
        <p:nvSpPr>
          <p:cNvPr id="21" name="Text 18"/>
          <p:cNvSpPr txBox="1"/>
          <p:nvPr/>
        </p:nvSpPr>
        <p:spPr>
          <a:xfrm>
            <a:off x="621792" y="3511296"/>
            <a:ext cx="4151376" cy="182880"/>
          </a:xfrm>
          <a:prstGeom prst="rect">
            <a:avLst/>
          </a:prstGeom>
          <a:noFill/>
          <a:ln/>
        </p:spPr>
        <p:txBody>
          <a:bodyPr wrap="square" lIns="0" tIns="0" rIns="0" bIns="0" rtlCol="0" anchor="ctr"/>
          <a:lstStyle/>
          <a:p>
            <a:pPr marL="0" indent="0">
              <a:buNone/>
            </a:pPr>
            <a:r>
              <a:rPr lang="en-US" sz="1000" dirty="0">
                <a:solidFill>
                  <a:srgbClr val="C9D6E8"/>
                </a:solidFill>
                <a:latin typeface="Courier New" pitchFamily="34" charset="0"/>
                <a:ea typeface="Courier New" pitchFamily="34" charset="-122"/>
                <a:cs typeface="Courier New" pitchFamily="34" charset="-120"/>
              </a:rPr>
              <a:t>}</a:t>
            </a:r>
            <a:endParaRPr lang="en-US" sz="1000" dirty="0"/>
          </a:p>
        </p:txBody>
      </p:sp>
      <p:sp>
        <p:nvSpPr>
          <p:cNvPr id="22" name="Shape 19"/>
          <p:cNvSpPr/>
          <p:nvPr/>
        </p:nvSpPr>
        <p:spPr>
          <a:xfrm>
            <a:off x="5120640" y="1737360"/>
            <a:ext cx="3566160" cy="2066544"/>
          </a:xfrm>
          <a:prstGeom prst="roundRect">
            <a:avLst>
              <a:gd name="adj" fmla="val 4425"/>
            </a:avLst>
          </a:prstGeom>
          <a:solidFill>
            <a:srgbClr val="F3F7FB"/>
          </a:solidFill>
          <a:ln/>
          <a:effectLst>
            <a:outerShdw blurRad="76200" dist="25400" dir="5400000" algn="bl" rotWithShape="0">
              <a:srgbClr val="000000">
                <a:alpha val="10000"/>
              </a:srgbClr>
            </a:outerShdw>
          </a:effectLst>
        </p:spPr>
      </p:sp>
      <p:sp>
        <p:nvSpPr>
          <p:cNvPr id="23" name="Text 20"/>
          <p:cNvSpPr txBox="1"/>
          <p:nvPr/>
        </p:nvSpPr>
        <p:spPr>
          <a:xfrm>
            <a:off x="5303520" y="1847088"/>
            <a:ext cx="3200400" cy="256032"/>
          </a:xfrm>
          <a:prstGeom prst="rect">
            <a:avLst/>
          </a:prstGeom>
          <a:noFill/>
          <a:ln/>
        </p:spPr>
        <p:txBody>
          <a:bodyPr wrap="square" lIns="0" tIns="0" rIns="0" bIns="0" rtlCol="0" anchor="ctr"/>
          <a:lstStyle/>
          <a:p>
            <a:pPr marL="0" indent="0">
              <a:buNone/>
            </a:pPr>
            <a:r>
              <a:rPr lang="en-US" sz="1300" b="1" dirty="0">
                <a:solidFill>
                  <a:srgbClr val="0E7490"/>
                </a:solidFill>
                <a:latin typeface="Calibri" pitchFamily="34" charset="0"/>
                <a:ea typeface="Calibri" pitchFamily="34" charset="-122"/>
                <a:cs typeface="Calibri" pitchFamily="34" charset="-120"/>
              </a:rPr>
              <a:t>Polymorphism in our code</a:t>
            </a:r>
            <a:endParaRPr lang="en-US" sz="1300" dirty="0"/>
          </a:p>
        </p:txBody>
      </p:sp>
      <p:sp>
        <p:nvSpPr>
          <p:cNvPr id="24" name="Shape 21"/>
          <p:cNvSpPr/>
          <p:nvPr/>
        </p:nvSpPr>
        <p:spPr>
          <a:xfrm>
            <a:off x="5303520" y="2276856"/>
            <a:ext cx="219456" cy="219456"/>
          </a:xfrm>
          <a:prstGeom prst="ellipse">
            <a:avLst/>
          </a:prstGeom>
          <a:solidFill>
            <a:srgbClr val="16A34A"/>
          </a:solidFill>
          <a:ln/>
        </p:spPr>
      </p:sp>
      <p:pic>
        <p:nvPicPr>
          <p:cNvPr id="25" name="Image 1" descr="preencoded.png"/>
          <p:cNvPicPr>
            <a:picLocks noChangeAspect="1"/>
          </p:cNvPicPr>
          <p:nvPr/>
        </p:nvPicPr>
        <p:blipFill>
          <a:blip r:embed="rId4"/>
          <a:stretch>
            <a:fillRect/>
          </a:stretch>
        </p:blipFill>
        <p:spPr>
          <a:xfrm>
            <a:off x="5352898" y="2326234"/>
            <a:ext cx="120701" cy="120701"/>
          </a:xfrm>
          <a:prstGeom prst="rect">
            <a:avLst/>
          </a:prstGeom>
        </p:spPr>
      </p:pic>
      <p:sp>
        <p:nvSpPr>
          <p:cNvPr id="26" name="Text 22"/>
          <p:cNvSpPr txBox="1"/>
          <p:nvPr/>
        </p:nvSpPr>
        <p:spPr>
          <a:xfrm>
            <a:off x="5623560" y="2212848"/>
            <a:ext cx="292608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Overriding: </a:t>
            </a:r>
            <a:r>
              <a:rPr lang="en-US" sz="1100" dirty="0">
                <a:solidFill>
                  <a:srgbClr val="0B1F3A"/>
                </a:solidFill>
                <a:latin typeface="Calibri" pitchFamily="34" charset="0"/>
                <a:ea typeface="Calibri" pitchFamily="34" charset="-122"/>
                <a:cs typeface="Calibri" pitchFamily="34" charset="-120"/>
              </a:rPr>
              <a:t>Pump.showInfo() replaces FuelStation.showInfo().</a:t>
            </a:r>
            <a:endParaRPr lang="en-US" sz="1100" dirty="0"/>
          </a:p>
        </p:txBody>
      </p:sp>
      <p:sp>
        <p:nvSpPr>
          <p:cNvPr id="27" name="Shape 23"/>
          <p:cNvSpPr/>
          <p:nvPr/>
        </p:nvSpPr>
        <p:spPr>
          <a:xfrm>
            <a:off x="5303520" y="2679192"/>
            <a:ext cx="219456" cy="219456"/>
          </a:xfrm>
          <a:prstGeom prst="ellipse">
            <a:avLst/>
          </a:prstGeom>
          <a:solidFill>
            <a:srgbClr val="16A34A"/>
          </a:solidFill>
          <a:ln/>
        </p:spPr>
      </p:sp>
      <p:pic>
        <p:nvPicPr>
          <p:cNvPr id="28" name="Image 2" descr="preencoded.png"/>
          <p:cNvPicPr>
            <a:picLocks noChangeAspect="1"/>
          </p:cNvPicPr>
          <p:nvPr/>
        </p:nvPicPr>
        <p:blipFill>
          <a:blip r:embed="rId4"/>
          <a:stretch>
            <a:fillRect/>
          </a:stretch>
        </p:blipFill>
        <p:spPr>
          <a:xfrm>
            <a:off x="5352898" y="2728570"/>
            <a:ext cx="120701" cy="120701"/>
          </a:xfrm>
          <a:prstGeom prst="rect">
            <a:avLst/>
          </a:prstGeom>
        </p:spPr>
      </p:pic>
      <p:sp>
        <p:nvSpPr>
          <p:cNvPr id="29" name="Text 24"/>
          <p:cNvSpPr txBox="1"/>
          <p:nvPr/>
        </p:nvSpPr>
        <p:spPr>
          <a:xfrm>
            <a:off x="5623560" y="2615184"/>
            <a:ext cx="292608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Overloaded call: </a:t>
            </a:r>
            <a:r>
              <a:rPr lang="en-US" sz="1100" dirty="0">
                <a:solidFill>
                  <a:srgbClr val="0B1F3A"/>
                </a:solidFill>
                <a:latin typeface="Calibri" pitchFamily="34" charset="0"/>
                <a:ea typeface="Calibri" pitchFamily="34" charset="-122"/>
                <a:cs typeface="Calibri" pitchFamily="34" charset="-120"/>
              </a:rPr>
              <a:t>showMessageDialog() is used with different arguments.</a:t>
            </a:r>
            <a:endParaRPr lang="en-US" sz="1100" dirty="0"/>
          </a:p>
        </p:txBody>
      </p:sp>
      <p:sp>
        <p:nvSpPr>
          <p:cNvPr id="30" name="Shape 25"/>
          <p:cNvSpPr/>
          <p:nvPr/>
        </p:nvSpPr>
        <p:spPr>
          <a:xfrm>
            <a:off x="5303520" y="3081528"/>
            <a:ext cx="219456" cy="219456"/>
          </a:xfrm>
          <a:prstGeom prst="ellipse">
            <a:avLst/>
          </a:prstGeom>
          <a:solidFill>
            <a:srgbClr val="94A3B8"/>
          </a:solidFill>
          <a:ln/>
        </p:spPr>
      </p:sp>
      <p:pic>
        <p:nvPicPr>
          <p:cNvPr id="31" name="Image 3" descr="preencoded.png"/>
          <p:cNvPicPr>
            <a:picLocks noChangeAspect="1"/>
          </p:cNvPicPr>
          <p:nvPr/>
        </p:nvPicPr>
        <p:blipFill>
          <a:blip r:embed="rId5"/>
          <a:stretch>
            <a:fillRect/>
          </a:stretch>
        </p:blipFill>
        <p:spPr>
          <a:xfrm>
            <a:off x="5352898" y="3130906"/>
            <a:ext cx="120701" cy="120701"/>
          </a:xfrm>
          <a:prstGeom prst="rect">
            <a:avLst/>
          </a:prstGeom>
        </p:spPr>
      </p:pic>
      <p:sp>
        <p:nvSpPr>
          <p:cNvPr id="32" name="Text 26"/>
          <p:cNvSpPr txBox="1"/>
          <p:nvPr/>
        </p:nvSpPr>
        <p:spPr>
          <a:xfrm>
            <a:off x="5623560" y="3017520"/>
            <a:ext cx="292608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Parent reference = child object: </a:t>
            </a:r>
            <a:r>
              <a:rPr lang="en-US" sz="1100" dirty="0">
                <a:solidFill>
                  <a:srgbClr val="5B6B82"/>
                </a:solidFill>
                <a:latin typeface="Calibri" pitchFamily="34" charset="0"/>
                <a:ea typeface="Calibri" pitchFamily="34" charset="-122"/>
                <a:cs typeface="Calibri" pitchFamily="34" charset="-120"/>
              </a:rPr>
              <a:t>not used.</a:t>
            </a:r>
            <a:endParaRPr lang="en-US" sz="1100" dirty="0"/>
          </a:p>
        </p:txBody>
      </p:sp>
      <p:sp>
        <p:nvSpPr>
          <p:cNvPr id="33" name="Shape 27"/>
          <p:cNvSpPr/>
          <p:nvPr/>
        </p:nvSpPr>
        <p:spPr>
          <a:xfrm>
            <a:off x="5303520" y="3483864"/>
            <a:ext cx="219456" cy="219456"/>
          </a:xfrm>
          <a:prstGeom prst="ellipse">
            <a:avLst/>
          </a:prstGeom>
          <a:solidFill>
            <a:srgbClr val="94A3B8"/>
          </a:solidFill>
          <a:ln/>
        </p:spPr>
      </p:sp>
      <p:pic>
        <p:nvPicPr>
          <p:cNvPr id="34" name="Image 4" descr="preencoded.png"/>
          <p:cNvPicPr>
            <a:picLocks noChangeAspect="1"/>
          </p:cNvPicPr>
          <p:nvPr/>
        </p:nvPicPr>
        <p:blipFill>
          <a:blip r:embed="rId5"/>
          <a:stretch>
            <a:fillRect/>
          </a:stretch>
        </p:blipFill>
        <p:spPr>
          <a:xfrm>
            <a:off x="5352898" y="3533242"/>
            <a:ext cx="120701" cy="120701"/>
          </a:xfrm>
          <a:prstGeom prst="rect">
            <a:avLst/>
          </a:prstGeom>
        </p:spPr>
      </p:pic>
      <p:sp>
        <p:nvSpPr>
          <p:cNvPr id="35" name="Text 28"/>
          <p:cNvSpPr txBox="1"/>
          <p:nvPr/>
        </p:nvSpPr>
        <p:spPr>
          <a:xfrm>
            <a:off x="5623560" y="3419856"/>
            <a:ext cx="292608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Our own overloaded methods: </a:t>
            </a:r>
            <a:r>
              <a:rPr lang="en-US" sz="1100" dirty="0">
                <a:solidFill>
                  <a:srgbClr val="5B6B82"/>
                </a:solidFill>
                <a:latin typeface="Calibri" pitchFamily="34" charset="0"/>
                <a:ea typeface="Calibri" pitchFamily="34" charset="-122"/>
                <a:cs typeface="Calibri" pitchFamily="34" charset="-120"/>
              </a:rPr>
              <a:t>not used.</a:t>
            </a:r>
            <a:endParaRPr lang="en-US" sz="1100" dirty="0"/>
          </a:p>
        </p:txBody>
      </p:sp>
      <p:sp>
        <p:nvSpPr>
          <p:cNvPr id="36" name="Shape 29"/>
          <p:cNvSpPr/>
          <p:nvPr/>
        </p:nvSpPr>
        <p:spPr>
          <a:xfrm>
            <a:off x="457200" y="4114800"/>
            <a:ext cx="8229600" cy="457200"/>
          </a:xfrm>
          <a:prstGeom prst="roundRect">
            <a:avLst>
              <a:gd name="adj" fmla="val 20000"/>
            </a:avLst>
          </a:prstGeom>
          <a:solidFill>
            <a:srgbClr val="E8F7FB"/>
          </a:solidFill>
          <a:ln/>
        </p:spPr>
      </p:sp>
      <p:sp>
        <p:nvSpPr>
          <p:cNvPr id="37" name="Shape 30"/>
          <p:cNvSpPr/>
          <p:nvPr/>
        </p:nvSpPr>
        <p:spPr>
          <a:xfrm>
            <a:off x="566928" y="4169664"/>
            <a:ext cx="347472" cy="347472"/>
          </a:xfrm>
          <a:prstGeom prst="ellipse">
            <a:avLst/>
          </a:prstGeom>
          <a:solidFill>
            <a:srgbClr val="0B1F3A"/>
          </a:solidFill>
          <a:ln/>
        </p:spPr>
      </p:sp>
      <p:pic>
        <p:nvPicPr>
          <p:cNvPr id="38" name="Image 5" descr="preencoded.png"/>
          <p:cNvPicPr>
            <a:picLocks noChangeAspect="1"/>
          </p:cNvPicPr>
          <p:nvPr/>
        </p:nvPicPr>
        <p:blipFill>
          <a:blip r:embed="rId6"/>
          <a:stretch>
            <a:fillRect/>
          </a:stretch>
        </p:blipFill>
        <p:spPr>
          <a:xfrm>
            <a:off x="653796" y="4256532"/>
            <a:ext cx="173736" cy="173736"/>
          </a:xfrm>
          <a:prstGeom prst="rect">
            <a:avLst/>
          </a:prstGeom>
        </p:spPr>
      </p:pic>
      <p:sp>
        <p:nvSpPr>
          <p:cNvPr id="39" name="Text 31"/>
          <p:cNvSpPr txBox="1"/>
          <p:nvPr/>
        </p:nvSpPr>
        <p:spPr>
          <a:xfrm>
            <a:off x="1051560" y="4114800"/>
            <a:ext cx="7498080" cy="457200"/>
          </a:xfrm>
          <a:prstGeom prst="rect">
            <a:avLst/>
          </a:prstGeom>
          <a:noFill/>
          <a:ln/>
        </p:spPr>
        <p:txBody>
          <a:bodyPr wrap="square" lIns="0" tIns="0" rIns="0" bIns="0" rtlCol="0" anchor="ctr"/>
          <a:lstStyle/>
          <a:p>
            <a:pPr marL="0" indent="0">
              <a:buNone/>
            </a:pPr>
            <a:r>
              <a:rPr lang="en-US" sz="1250" b="1" dirty="0">
                <a:solidFill>
                  <a:srgbClr val="0E7490"/>
                </a:solidFill>
                <a:latin typeface="Calibri" pitchFamily="34" charset="0"/>
                <a:ea typeface="Calibri" pitchFamily="34" charset="-122"/>
                <a:cs typeface="Calibri" pitchFamily="34" charset="-120"/>
              </a:rPr>
              <a:t>Real-life example: </a:t>
            </a:r>
            <a:r>
              <a:rPr lang="en-US" sz="1250" dirty="0">
                <a:solidFill>
                  <a:srgbClr val="0B1F3A"/>
                </a:solidFill>
                <a:latin typeface="Calibri" pitchFamily="34" charset="0"/>
                <a:ea typeface="Calibri" pitchFamily="34" charset="-122"/>
                <a:cs typeface="Calibri" pitchFamily="34" charset="-120"/>
              </a:rPr>
              <a:t>A person can behave as a student, employee or customer depending on the situation.</a:t>
            </a:r>
            <a:endParaRPr lang="en-US" sz="1250" dirty="0"/>
          </a:p>
        </p:txBody>
      </p:sp>
      <p:sp>
        <p:nvSpPr>
          <p:cNvPr id="40" name="Text 32"/>
          <p:cNvSpPr txBox="1"/>
          <p:nvPr/>
        </p:nvSpPr>
        <p:spPr>
          <a:xfrm>
            <a:off x="457200" y="4773168"/>
            <a:ext cx="4572000" cy="201168"/>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Smart Fuel Pump Management System</a:t>
            </a:r>
            <a:endParaRPr lang="en-US" sz="1000" dirty="0"/>
          </a:p>
        </p:txBody>
      </p:sp>
      <p:sp>
        <p:nvSpPr>
          <p:cNvPr id="41" name="Text 33"/>
          <p:cNvSpPr txBox="1"/>
          <p:nvPr/>
        </p:nvSpPr>
        <p:spPr>
          <a:xfrm>
            <a:off x="7772400" y="4773168"/>
            <a:ext cx="914400" cy="201168"/>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6400800" cy="228600"/>
          </a:xfrm>
          <a:prstGeom prst="rect">
            <a:avLst/>
          </a:prstGeom>
          <a:noFill/>
          <a:ln/>
        </p:spPr>
        <p:txBody>
          <a:bodyPr wrap="square" lIns="0" tIns="0" rIns="0" bIns="0" rtlCol="0" anchor="ctr"/>
          <a:lstStyle/>
          <a:p>
            <a:pPr marL="0" indent="0">
              <a:buNone/>
            </a:pPr>
            <a:r>
              <a:rPr lang="en-US" sz="1100" b="1" kern="0" spc="300" dirty="0">
                <a:solidFill>
                  <a:srgbClr val="0E7490"/>
                </a:solidFill>
                <a:latin typeface="Calibri" pitchFamily="34" charset="0"/>
                <a:ea typeface="Calibri" pitchFamily="34" charset="-122"/>
                <a:cs typeface="Calibri" pitchFamily="34" charset="-120"/>
              </a:rPr>
              <a:t>OOP · PILLAR 4</a:t>
            </a:r>
            <a:endParaRPr lang="en-US" sz="1100" dirty="0"/>
          </a:p>
        </p:txBody>
      </p:sp>
      <p:sp>
        <p:nvSpPr>
          <p:cNvPr id="3" name="Text 1"/>
          <p:cNvSpPr txBox="1"/>
          <p:nvPr/>
        </p:nvSpPr>
        <p:spPr>
          <a:xfrm>
            <a:off x="457200" y="502920"/>
            <a:ext cx="7498080" cy="548640"/>
          </a:xfrm>
          <a:prstGeom prst="rect">
            <a:avLst/>
          </a:prstGeom>
          <a:noFill/>
          <a:ln/>
        </p:spPr>
        <p:txBody>
          <a:bodyPr wrap="square" lIns="0" tIns="0" rIns="0" bIns="0" rtlCol="0" anchor="ctr"/>
          <a:lstStyle/>
          <a:p>
            <a:pPr marL="0" indent="0">
              <a:buNone/>
            </a:pPr>
            <a:r>
              <a:rPr lang="en-US" sz="3000" b="1" dirty="0">
                <a:solidFill>
                  <a:srgbClr val="0B1F3A"/>
                </a:solidFill>
                <a:latin typeface="Calibri" pitchFamily="34" charset="0"/>
                <a:ea typeface="Calibri" pitchFamily="34" charset="-122"/>
                <a:cs typeface="Calibri" pitchFamily="34" charset="-120"/>
              </a:rPr>
              <a:t>Abstraction</a:t>
            </a:r>
            <a:endParaRPr lang="en-US" sz="3000" dirty="0"/>
          </a:p>
        </p:txBody>
      </p:sp>
      <p:sp>
        <p:nvSpPr>
          <p:cNvPr id="4" name="Shape 2"/>
          <p:cNvSpPr/>
          <p:nvPr/>
        </p:nvSpPr>
        <p:spPr>
          <a:xfrm>
            <a:off x="8229600" y="384048"/>
            <a:ext cx="457200" cy="457200"/>
          </a:xfrm>
          <a:prstGeom prst="ellipse">
            <a:avLst/>
          </a:prstGeom>
          <a:solidFill>
            <a:srgbClr val="0B1F3A"/>
          </a:solidFill>
          <a:ln/>
        </p:spPr>
      </p:sp>
      <p:pic>
        <p:nvPicPr>
          <p:cNvPr id="5" name="Image 0" descr="preencoded.png"/>
          <p:cNvPicPr>
            <a:picLocks noChangeAspect="1"/>
          </p:cNvPicPr>
          <p:nvPr/>
        </p:nvPicPr>
        <p:blipFill>
          <a:blip r:embed="rId3"/>
          <a:stretch>
            <a:fillRect/>
          </a:stretch>
        </p:blipFill>
        <p:spPr>
          <a:xfrm>
            <a:off x="8343900" y="498348"/>
            <a:ext cx="228600" cy="228600"/>
          </a:xfrm>
          <a:prstGeom prst="rect">
            <a:avLst/>
          </a:prstGeom>
        </p:spPr>
      </p:pic>
      <p:sp>
        <p:nvSpPr>
          <p:cNvPr id="6" name="Shape 3"/>
          <p:cNvSpPr/>
          <p:nvPr/>
        </p:nvSpPr>
        <p:spPr>
          <a:xfrm>
            <a:off x="457200" y="1097280"/>
            <a:ext cx="8229600" cy="502920"/>
          </a:xfrm>
          <a:prstGeom prst="roundRect">
            <a:avLst>
              <a:gd name="adj" fmla="val 18182"/>
            </a:avLst>
          </a:prstGeom>
          <a:solidFill>
            <a:srgbClr val="E8F7FB"/>
          </a:solidFill>
          <a:ln/>
        </p:spPr>
      </p:sp>
      <p:sp>
        <p:nvSpPr>
          <p:cNvPr id="7" name="Text 4"/>
          <p:cNvSpPr txBox="1"/>
          <p:nvPr/>
        </p:nvSpPr>
        <p:spPr>
          <a:xfrm>
            <a:off x="640080" y="1097280"/>
            <a:ext cx="7863840" cy="502920"/>
          </a:xfrm>
          <a:prstGeom prst="rect">
            <a:avLst/>
          </a:prstGeom>
          <a:noFill/>
          <a:ln/>
        </p:spPr>
        <p:txBody>
          <a:bodyPr wrap="square" lIns="0" tIns="0" rIns="0" bIns="0" rtlCol="0" anchor="ctr"/>
          <a:lstStyle/>
          <a:p>
            <a:pPr marL="0" indent="0">
              <a:buNone/>
            </a:pPr>
            <a:r>
              <a:rPr lang="en-US" sz="1250" b="1" dirty="0">
                <a:solidFill>
                  <a:srgbClr val="0E7490"/>
                </a:solidFill>
                <a:latin typeface="Calibri" pitchFamily="34" charset="0"/>
                <a:ea typeface="Calibri" pitchFamily="34" charset="-122"/>
                <a:cs typeface="Calibri" pitchFamily="34" charset="-120"/>
              </a:rPr>
              <a:t>Definition: </a:t>
            </a:r>
            <a:r>
              <a:rPr lang="en-US" sz="1250" i="1" dirty="0">
                <a:solidFill>
                  <a:srgbClr val="0B1F3A"/>
                </a:solidFill>
                <a:latin typeface="Calibri" pitchFamily="34" charset="0"/>
                <a:ea typeface="Calibri" pitchFamily="34" charset="-122"/>
                <a:cs typeface="Calibri" pitchFamily="34" charset="-120"/>
              </a:rPr>
              <a:t>Abstraction means hiding unnecessary implementation details and showing only the important features.</a:t>
            </a:r>
            <a:endParaRPr lang="en-US" sz="1250" dirty="0"/>
          </a:p>
        </p:txBody>
      </p:sp>
      <p:sp>
        <p:nvSpPr>
          <p:cNvPr id="8" name="Shape 5"/>
          <p:cNvSpPr/>
          <p:nvPr/>
        </p:nvSpPr>
        <p:spPr>
          <a:xfrm>
            <a:off x="457200" y="1737360"/>
            <a:ext cx="4480560" cy="1335024"/>
          </a:xfrm>
          <a:prstGeom prst="roundRect">
            <a:avLst>
              <a:gd name="adj" fmla="val 5479"/>
            </a:avLst>
          </a:prstGeom>
          <a:solidFill>
            <a:srgbClr val="0A1A30"/>
          </a:solidFill>
          <a:ln/>
        </p:spPr>
      </p:sp>
      <p:sp>
        <p:nvSpPr>
          <p:cNvPr id="9" name="Text 6"/>
          <p:cNvSpPr txBox="1"/>
          <p:nvPr/>
        </p:nvSpPr>
        <p:spPr>
          <a:xfrm>
            <a:off x="621792" y="1810512"/>
            <a:ext cx="4151376" cy="201168"/>
          </a:xfrm>
          <a:prstGeom prst="rect">
            <a:avLst/>
          </a:prstGeom>
          <a:noFill/>
          <a:ln/>
        </p:spPr>
        <p:txBody>
          <a:bodyPr wrap="square" lIns="0" tIns="0" rIns="0" bIns="0" rtlCol="0" anchor="ctr"/>
          <a:lstStyle/>
          <a:p>
            <a:pPr marL="0" indent="0">
              <a:buNone/>
            </a:pPr>
            <a:r>
              <a:rPr lang="en-US" sz="950" b="1" kern="0" spc="100" dirty="0">
                <a:solidFill>
                  <a:srgbClr val="67C7E0"/>
                </a:solidFill>
                <a:latin typeface="Calibri" pitchFamily="34" charset="0"/>
                <a:ea typeface="Calibri" pitchFamily="34" charset="-122"/>
                <a:cs typeface="Calibri" pitchFamily="34" charset="-120"/>
              </a:rPr>
              <a:t>abstract class in our code (no interface is used)</a:t>
            </a:r>
            <a:endParaRPr lang="en-US" sz="950" dirty="0"/>
          </a:p>
        </p:txBody>
      </p:sp>
      <p:sp>
        <p:nvSpPr>
          <p:cNvPr id="10" name="Shape 7"/>
          <p:cNvSpPr/>
          <p:nvPr/>
        </p:nvSpPr>
        <p:spPr>
          <a:xfrm>
            <a:off x="530352" y="2048256"/>
            <a:ext cx="4334256" cy="182880"/>
          </a:xfrm>
          <a:prstGeom prst="rect">
            <a:avLst/>
          </a:prstGeom>
          <a:solidFill>
            <a:srgbClr val="155E75"/>
          </a:solidFill>
          <a:ln/>
        </p:spPr>
      </p:sp>
      <p:sp>
        <p:nvSpPr>
          <p:cNvPr id="11" name="Text 8"/>
          <p:cNvSpPr txBox="1"/>
          <p:nvPr/>
        </p:nvSpPr>
        <p:spPr>
          <a:xfrm>
            <a:off x="621792" y="2048256"/>
            <a:ext cx="4151376" cy="182880"/>
          </a:xfrm>
          <a:prstGeom prst="rect">
            <a:avLst/>
          </a:prstGeom>
          <a:noFill/>
          <a:ln/>
        </p:spPr>
        <p:txBody>
          <a:bodyPr wrap="square" lIns="0" tIns="0" rIns="0" bIns="0" rtlCol="0" anchor="ctr"/>
          <a:lstStyle/>
          <a:p>
            <a:pPr marL="0" indent="0">
              <a:buNone/>
            </a:pPr>
            <a:r>
              <a:rPr lang="en-US" sz="1000" b="1" dirty="0">
                <a:solidFill>
                  <a:srgbClr val="FFFFFF"/>
                </a:solidFill>
                <a:latin typeface="Courier New" pitchFamily="34" charset="0"/>
                <a:ea typeface="Courier New" pitchFamily="34" charset="-122"/>
                <a:cs typeface="Courier New" pitchFamily="34" charset="-120"/>
              </a:rPr>
              <a:t>abstract class FuelStation {</a:t>
            </a:r>
            <a:endParaRPr lang="en-US" sz="1000" dirty="0"/>
          </a:p>
        </p:txBody>
      </p:sp>
      <p:sp>
        <p:nvSpPr>
          <p:cNvPr id="12" name="Text 9"/>
          <p:cNvSpPr txBox="1"/>
          <p:nvPr/>
        </p:nvSpPr>
        <p:spPr>
          <a:xfrm>
            <a:off x="3108960" y="2048256"/>
            <a:ext cx="1664208" cy="182880"/>
          </a:xfrm>
          <a:prstGeom prst="rect">
            <a:avLst/>
          </a:prstGeom>
          <a:noFill/>
          <a:ln/>
        </p:spPr>
        <p:txBody>
          <a:bodyPr wrap="square" lIns="0" tIns="0" rIns="0" bIns="0" rtlCol="0" anchor="ctr"/>
          <a:lstStyle/>
          <a:p>
            <a:pPr marL="0" indent="0" algn="r">
              <a:buNone/>
            </a:pPr>
            <a:r>
              <a:rPr lang="en-US" sz="950" b="1" dirty="0">
                <a:solidFill>
                  <a:srgbClr val="22D3EE"/>
                </a:solidFill>
                <a:latin typeface="Calibri" pitchFamily="34" charset="0"/>
                <a:ea typeface="Calibri" pitchFamily="34" charset="-122"/>
                <a:cs typeface="Calibri" pitchFamily="34" charset="-120"/>
              </a:rPr>
              <a:t>← abstract class</a:t>
            </a:r>
            <a:endParaRPr lang="en-US" sz="950" dirty="0"/>
          </a:p>
        </p:txBody>
      </p:sp>
      <p:sp>
        <p:nvSpPr>
          <p:cNvPr id="13" name="Shape 10"/>
          <p:cNvSpPr/>
          <p:nvPr/>
        </p:nvSpPr>
        <p:spPr>
          <a:xfrm>
            <a:off x="530352" y="2231136"/>
            <a:ext cx="4334256" cy="182880"/>
          </a:xfrm>
          <a:prstGeom prst="rect">
            <a:avLst/>
          </a:prstGeom>
          <a:solidFill>
            <a:srgbClr val="155E75"/>
          </a:solidFill>
          <a:ln/>
        </p:spPr>
      </p:sp>
      <p:sp>
        <p:nvSpPr>
          <p:cNvPr id="14" name="Text 11"/>
          <p:cNvSpPr txBox="1"/>
          <p:nvPr/>
        </p:nvSpPr>
        <p:spPr>
          <a:xfrm>
            <a:off x="926592" y="2231136"/>
            <a:ext cx="3846576" cy="182880"/>
          </a:xfrm>
          <a:prstGeom prst="rect">
            <a:avLst/>
          </a:prstGeom>
          <a:noFill/>
          <a:ln/>
        </p:spPr>
        <p:txBody>
          <a:bodyPr wrap="square" lIns="0" tIns="0" rIns="0" bIns="0" rtlCol="0" anchor="ctr"/>
          <a:lstStyle/>
          <a:p>
            <a:pPr marL="0" indent="0">
              <a:buNone/>
            </a:pPr>
            <a:r>
              <a:rPr lang="en-US" sz="1000" b="1" dirty="0">
                <a:solidFill>
                  <a:srgbClr val="FFFFFF"/>
                </a:solidFill>
                <a:latin typeface="Courier New" pitchFamily="34" charset="0"/>
                <a:ea typeface="Courier New" pitchFamily="34" charset="-122"/>
                <a:cs typeface="Courier New" pitchFamily="34" charset="-120"/>
              </a:rPr>
              <a:t>abstract void showInfo();</a:t>
            </a:r>
            <a:endParaRPr lang="en-US" sz="1000" dirty="0"/>
          </a:p>
        </p:txBody>
      </p:sp>
      <p:sp>
        <p:nvSpPr>
          <p:cNvPr id="15" name="Text 12"/>
          <p:cNvSpPr txBox="1"/>
          <p:nvPr/>
        </p:nvSpPr>
        <p:spPr>
          <a:xfrm>
            <a:off x="3108960" y="2231136"/>
            <a:ext cx="1664208" cy="182880"/>
          </a:xfrm>
          <a:prstGeom prst="rect">
            <a:avLst/>
          </a:prstGeom>
          <a:noFill/>
          <a:ln/>
        </p:spPr>
        <p:txBody>
          <a:bodyPr wrap="square" lIns="0" tIns="0" rIns="0" bIns="0" rtlCol="0" anchor="ctr"/>
          <a:lstStyle/>
          <a:p>
            <a:pPr marL="0" indent="0" algn="r">
              <a:buNone/>
            </a:pPr>
            <a:r>
              <a:rPr lang="en-US" sz="950" b="1" dirty="0">
                <a:solidFill>
                  <a:srgbClr val="22D3EE"/>
                </a:solidFill>
                <a:latin typeface="Calibri" pitchFamily="34" charset="0"/>
                <a:ea typeface="Calibri" pitchFamily="34" charset="-122"/>
                <a:cs typeface="Calibri" pitchFamily="34" charset="-120"/>
              </a:rPr>
              <a:t>← no body</a:t>
            </a:r>
            <a:endParaRPr lang="en-US" sz="950" dirty="0"/>
          </a:p>
        </p:txBody>
      </p:sp>
      <p:sp>
        <p:nvSpPr>
          <p:cNvPr id="16" name="Text 13"/>
          <p:cNvSpPr txBox="1"/>
          <p:nvPr/>
        </p:nvSpPr>
        <p:spPr>
          <a:xfrm>
            <a:off x="621792" y="2414016"/>
            <a:ext cx="4151376" cy="182880"/>
          </a:xfrm>
          <a:prstGeom prst="rect">
            <a:avLst/>
          </a:prstGeom>
          <a:noFill/>
          <a:ln/>
        </p:spPr>
        <p:txBody>
          <a:bodyPr wrap="square" lIns="0" tIns="0" rIns="0" bIns="0" rtlCol="0" anchor="ctr"/>
          <a:lstStyle/>
          <a:p>
            <a:pPr marL="0" indent="0">
              <a:buNone/>
            </a:pPr>
            <a:r>
              <a:rPr lang="en-US" sz="1000" dirty="0">
                <a:solidFill>
                  <a:srgbClr val="C9D6E8"/>
                </a:solidFill>
                <a:latin typeface="Courier New" pitchFamily="34" charset="0"/>
                <a:ea typeface="Courier New" pitchFamily="34" charset="-122"/>
                <a:cs typeface="Courier New" pitchFamily="34" charset="-120"/>
              </a:rPr>
              <a:t>}</a:t>
            </a:r>
            <a:endParaRPr lang="en-US" sz="1000" dirty="0"/>
          </a:p>
        </p:txBody>
      </p:sp>
      <p:sp>
        <p:nvSpPr>
          <p:cNvPr id="17" name="Text 14"/>
          <p:cNvSpPr txBox="1"/>
          <p:nvPr/>
        </p:nvSpPr>
        <p:spPr>
          <a:xfrm>
            <a:off x="621792" y="2596896"/>
            <a:ext cx="4151376" cy="182880"/>
          </a:xfrm>
          <a:prstGeom prst="rect">
            <a:avLst/>
          </a:prstGeom>
          <a:noFill/>
          <a:ln/>
        </p:spPr>
        <p:txBody>
          <a:bodyPr wrap="square" lIns="0" tIns="0" rIns="0" bIns="0" rtlCol="0" anchor="ctr"/>
          <a:lstStyle/>
          <a:p>
            <a:pPr marL="0" indent="0">
              <a:buNone/>
            </a:pPr>
            <a:r>
              <a:rPr lang="en-US" sz="1000" dirty="0">
                <a:solidFill>
                  <a:srgbClr val="C9D6E8"/>
                </a:solidFill>
                <a:latin typeface="Courier New" pitchFamily="34" charset="0"/>
                <a:ea typeface="Courier New" pitchFamily="34" charset="-122"/>
                <a:cs typeface="Courier New" pitchFamily="34" charset="-120"/>
              </a:rPr>
              <a:t>class Pump extends FuelStation {</a:t>
            </a:r>
            <a:endParaRPr lang="en-US" sz="1000" dirty="0"/>
          </a:p>
        </p:txBody>
      </p:sp>
      <p:sp>
        <p:nvSpPr>
          <p:cNvPr id="18" name="Text 15"/>
          <p:cNvSpPr txBox="1"/>
          <p:nvPr/>
        </p:nvSpPr>
        <p:spPr>
          <a:xfrm>
            <a:off x="926592" y="2779776"/>
            <a:ext cx="3846576" cy="182880"/>
          </a:xfrm>
          <a:prstGeom prst="rect">
            <a:avLst/>
          </a:prstGeom>
          <a:noFill/>
          <a:ln/>
        </p:spPr>
        <p:txBody>
          <a:bodyPr wrap="square" lIns="0" tIns="0" rIns="0" bIns="0" rtlCol="0" anchor="ctr"/>
          <a:lstStyle/>
          <a:p>
            <a:pPr marL="0" indent="0">
              <a:buNone/>
            </a:pPr>
            <a:r>
              <a:rPr lang="en-US" sz="1000" dirty="0">
                <a:solidFill>
                  <a:srgbClr val="C9D6E8"/>
                </a:solidFill>
                <a:latin typeface="Courier New" pitchFamily="34" charset="0"/>
                <a:ea typeface="Courier New" pitchFamily="34" charset="-122"/>
                <a:cs typeface="Courier New" pitchFamily="34" charset="-120"/>
              </a:rPr>
              <a:t>@Override void showInfo() { ... }</a:t>
            </a:r>
            <a:endParaRPr lang="en-US" sz="1000" dirty="0"/>
          </a:p>
        </p:txBody>
      </p:sp>
      <p:sp>
        <p:nvSpPr>
          <p:cNvPr id="19" name="Shape 16"/>
          <p:cNvSpPr/>
          <p:nvPr/>
        </p:nvSpPr>
        <p:spPr>
          <a:xfrm>
            <a:off x="457200" y="3200400"/>
            <a:ext cx="4480560" cy="804672"/>
          </a:xfrm>
          <a:prstGeom prst="roundRect">
            <a:avLst>
              <a:gd name="adj" fmla="val 11364"/>
            </a:avLst>
          </a:prstGeom>
          <a:solidFill>
            <a:srgbClr val="F3F7FB"/>
          </a:solidFill>
          <a:ln/>
          <a:effectLst>
            <a:outerShdw blurRad="76200" dist="25400" dir="5400000" algn="bl" rotWithShape="0">
              <a:srgbClr val="000000">
                <a:alpha val="10000"/>
              </a:srgbClr>
            </a:outerShdw>
          </a:effectLst>
        </p:spPr>
      </p:sp>
      <p:sp>
        <p:nvSpPr>
          <p:cNvPr id="20" name="Text 17"/>
          <p:cNvSpPr txBox="1"/>
          <p:nvPr/>
        </p:nvSpPr>
        <p:spPr>
          <a:xfrm>
            <a:off x="640080" y="3246120"/>
            <a:ext cx="4114800" cy="713232"/>
          </a:xfrm>
          <a:prstGeom prst="rect">
            <a:avLst/>
          </a:prstGeom>
          <a:noFill/>
          <a:ln/>
        </p:spPr>
        <p:txBody>
          <a:bodyPr wrap="square" lIns="0" tIns="0" rIns="0" bIns="0" rtlCol="0" anchor="ctr"/>
          <a:lstStyle/>
          <a:p>
            <a:pPr marL="0" indent="0">
              <a:buNone/>
            </a:pPr>
            <a:r>
              <a:rPr lang="en-US" sz="1150" b="1" dirty="0">
                <a:solidFill>
                  <a:srgbClr val="0E7490"/>
                </a:solidFill>
                <a:latin typeface="Calibri" pitchFamily="34" charset="0"/>
                <a:ea typeface="Calibri" pitchFamily="34" charset="-122"/>
                <a:cs typeface="Calibri" pitchFamily="34" charset="-120"/>
              </a:rPr>
              <a:t>Also abstraction in a simple sense</a:t>
            </a:r>
            <a:endParaRPr lang="en-US" sz="1150" dirty="0"/>
          </a:p>
          <a:p>
            <a:pPr marL="0" indent="0">
              <a:buNone/>
            </a:pPr>
            <a:r>
              <a:rPr lang="en-US" sz="1150" b="1" dirty="0">
                <a:solidFill>
                  <a:srgbClr val="0B1F3A"/>
                </a:solidFill>
                <a:latin typeface="Calibri" pitchFamily="34" charset="0"/>
                <a:ea typeface="Calibri" pitchFamily="34" charset="-122"/>
                <a:cs typeface="Calibri" pitchFamily="34" charset="-120"/>
              </a:rPr>
              <a:t>findPump(name) </a:t>
            </a:r>
            <a:r>
              <a:rPr lang="en-US" sz="1150" dirty="0">
                <a:solidFill>
                  <a:srgbClr val="0B1F3A"/>
                </a:solidFill>
                <a:latin typeface="Calibri" pitchFamily="34" charset="0"/>
                <a:ea typeface="Calibri" pitchFamily="34" charset="-122"/>
                <a:cs typeface="Calibri" pitchFamily="34" charset="-120"/>
              </a:rPr>
              <a:t>hides the search loop.</a:t>
            </a:r>
            <a:endParaRPr lang="en-US" sz="1150" dirty="0"/>
          </a:p>
          <a:p>
            <a:pPr marL="0" indent="0">
              <a:buNone/>
            </a:pPr>
            <a:r>
              <a:rPr lang="en-US" sz="1150" b="1" dirty="0">
                <a:solidFill>
                  <a:srgbClr val="0B1F3A"/>
                </a:solidFill>
                <a:latin typeface="Calibri" pitchFamily="34" charset="0"/>
                <a:ea typeface="Calibri" pitchFamily="34" charset="-122"/>
                <a:cs typeface="Calibri" pitchFamily="34" charset="-120"/>
              </a:rPr>
              <a:t>showTable(...) </a:t>
            </a:r>
            <a:r>
              <a:rPr lang="en-US" sz="1150" dirty="0">
                <a:solidFill>
                  <a:srgbClr val="0B1F3A"/>
                </a:solidFill>
                <a:latin typeface="Calibri" pitchFamily="34" charset="0"/>
                <a:ea typeface="Calibri" pitchFamily="34" charset="-122"/>
                <a:cs typeface="Calibri" pitchFamily="34" charset="-120"/>
              </a:rPr>
              <a:t>hides the JTable set-up code.</a:t>
            </a:r>
            <a:endParaRPr lang="en-US" sz="1150" dirty="0"/>
          </a:p>
        </p:txBody>
      </p:sp>
      <p:sp>
        <p:nvSpPr>
          <p:cNvPr id="21" name="Shape 18"/>
          <p:cNvSpPr/>
          <p:nvPr/>
        </p:nvSpPr>
        <p:spPr>
          <a:xfrm>
            <a:off x="5120640" y="1737360"/>
            <a:ext cx="3566160" cy="685800"/>
          </a:xfrm>
          <a:prstGeom prst="roundRect">
            <a:avLst>
              <a:gd name="adj" fmla="val 13333"/>
            </a:avLst>
          </a:prstGeom>
          <a:solidFill>
            <a:srgbClr val="F3F7FB"/>
          </a:solidFill>
          <a:ln/>
          <a:effectLst>
            <a:outerShdw blurRad="76200" dist="25400" dir="5400000" algn="bl" rotWithShape="0">
              <a:srgbClr val="000000">
                <a:alpha val="10000"/>
              </a:srgbClr>
            </a:outerShdw>
          </a:effectLst>
        </p:spPr>
      </p:sp>
      <p:sp>
        <p:nvSpPr>
          <p:cNvPr id="22" name="Text 19"/>
          <p:cNvSpPr txBox="1"/>
          <p:nvPr/>
        </p:nvSpPr>
        <p:spPr>
          <a:xfrm>
            <a:off x="5257800" y="1737360"/>
            <a:ext cx="914400" cy="685800"/>
          </a:xfrm>
          <a:prstGeom prst="rect">
            <a:avLst/>
          </a:prstGeom>
          <a:noFill/>
          <a:ln/>
        </p:spPr>
        <p:txBody>
          <a:bodyPr wrap="square" lIns="0" tIns="0" rIns="0" bIns="0" rtlCol="0" anchor="ctr"/>
          <a:lstStyle/>
          <a:p>
            <a:pPr marL="0" indent="0">
              <a:buNone/>
            </a:pPr>
            <a:r>
              <a:rPr lang="en-US" sz="1050" b="1" kern="0" spc="100" dirty="0">
                <a:solidFill>
                  <a:srgbClr val="0E7490"/>
                </a:solidFill>
                <a:latin typeface="Calibri" pitchFamily="34" charset="0"/>
                <a:ea typeface="Calibri" pitchFamily="34" charset="-122"/>
                <a:cs typeface="Calibri" pitchFamily="34" charset="-120"/>
              </a:rPr>
              <a:t>HIDDEN</a:t>
            </a:r>
            <a:endParaRPr lang="en-US" sz="1050" dirty="0"/>
          </a:p>
        </p:txBody>
      </p:sp>
      <p:sp>
        <p:nvSpPr>
          <p:cNvPr id="23" name="Text 20"/>
          <p:cNvSpPr txBox="1"/>
          <p:nvPr/>
        </p:nvSpPr>
        <p:spPr>
          <a:xfrm>
            <a:off x="6217920" y="1737360"/>
            <a:ext cx="2377440" cy="685800"/>
          </a:xfrm>
          <a:prstGeom prst="rect">
            <a:avLst/>
          </a:prstGeom>
          <a:noFill/>
          <a:ln/>
        </p:spPr>
        <p:txBody>
          <a:bodyPr wrap="square" lIns="0" tIns="0" rIns="0" bIns="0" rtlCol="0" anchor="ctr"/>
          <a:lstStyle/>
          <a:p>
            <a:pPr marL="0" indent="0">
              <a:buNone/>
            </a:pPr>
            <a:r>
              <a:rPr lang="en-US" sz="1150" dirty="0">
                <a:solidFill>
                  <a:srgbClr val="0B1F3A"/>
                </a:solidFill>
                <a:latin typeface="Calibri" pitchFamily="34" charset="0"/>
                <a:ea typeface="Calibri" pitchFamily="34" charset="-122"/>
                <a:cs typeface="Calibri" pitchFamily="34" charset="-120"/>
              </a:rPr>
              <a:t>How each station prints its info (the method body).</a:t>
            </a:r>
            <a:endParaRPr lang="en-US" sz="1150" dirty="0"/>
          </a:p>
        </p:txBody>
      </p:sp>
      <p:sp>
        <p:nvSpPr>
          <p:cNvPr id="24" name="Shape 21"/>
          <p:cNvSpPr/>
          <p:nvPr/>
        </p:nvSpPr>
        <p:spPr>
          <a:xfrm>
            <a:off x="5120640" y="2514600"/>
            <a:ext cx="3566160" cy="685800"/>
          </a:xfrm>
          <a:prstGeom prst="roundRect">
            <a:avLst>
              <a:gd name="adj" fmla="val 13333"/>
            </a:avLst>
          </a:prstGeom>
          <a:solidFill>
            <a:srgbClr val="F3F7FB"/>
          </a:solidFill>
          <a:ln/>
          <a:effectLst>
            <a:outerShdw blurRad="76200" dist="25400" dir="5400000" algn="bl" rotWithShape="0">
              <a:srgbClr val="000000">
                <a:alpha val="10000"/>
              </a:srgbClr>
            </a:outerShdw>
          </a:effectLst>
        </p:spPr>
      </p:sp>
      <p:sp>
        <p:nvSpPr>
          <p:cNvPr id="25" name="Text 22"/>
          <p:cNvSpPr txBox="1"/>
          <p:nvPr/>
        </p:nvSpPr>
        <p:spPr>
          <a:xfrm>
            <a:off x="5257800" y="2514600"/>
            <a:ext cx="914400" cy="685800"/>
          </a:xfrm>
          <a:prstGeom prst="rect">
            <a:avLst/>
          </a:prstGeom>
          <a:noFill/>
          <a:ln/>
        </p:spPr>
        <p:txBody>
          <a:bodyPr wrap="square" lIns="0" tIns="0" rIns="0" bIns="0" rtlCol="0" anchor="ctr"/>
          <a:lstStyle/>
          <a:p>
            <a:pPr marL="0" indent="0">
              <a:buNone/>
            </a:pPr>
            <a:r>
              <a:rPr lang="en-US" sz="1050" b="1" kern="0" spc="100" dirty="0">
                <a:solidFill>
                  <a:srgbClr val="0E7490"/>
                </a:solidFill>
                <a:latin typeface="Calibri" pitchFamily="34" charset="0"/>
                <a:ea typeface="Calibri" pitchFamily="34" charset="-122"/>
                <a:cs typeface="Calibri" pitchFamily="34" charset="-120"/>
              </a:rPr>
              <a:t>EXPOSED</a:t>
            </a:r>
            <a:endParaRPr lang="en-US" sz="1050" dirty="0"/>
          </a:p>
        </p:txBody>
      </p:sp>
      <p:sp>
        <p:nvSpPr>
          <p:cNvPr id="26" name="Text 23"/>
          <p:cNvSpPr txBox="1"/>
          <p:nvPr/>
        </p:nvSpPr>
        <p:spPr>
          <a:xfrm>
            <a:off x="6217920" y="2514600"/>
            <a:ext cx="2377440" cy="685800"/>
          </a:xfrm>
          <a:prstGeom prst="rect">
            <a:avLst/>
          </a:prstGeom>
          <a:noFill/>
          <a:ln/>
        </p:spPr>
        <p:txBody>
          <a:bodyPr wrap="square" lIns="0" tIns="0" rIns="0" bIns="0" rtlCol="0" anchor="ctr"/>
          <a:lstStyle/>
          <a:p>
            <a:pPr marL="0" indent="0">
              <a:buNone/>
            </a:pPr>
            <a:r>
              <a:rPr lang="en-US" sz="1150" dirty="0">
                <a:solidFill>
                  <a:srgbClr val="0B1F3A"/>
                </a:solidFill>
                <a:latin typeface="Calibri" pitchFamily="34" charset="0"/>
                <a:ea typeface="Calibri" pitchFamily="34" charset="-122"/>
                <a:cs typeface="Calibri" pitchFamily="34" charset="-120"/>
              </a:rPr>
              <a:t>Only the method name and rule: showInfo().</a:t>
            </a:r>
            <a:endParaRPr lang="en-US" sz="1150" dirty="0"/>
          </a:p>
        </p:txBody>
      </p:sp>
      <p:sp>
        <p:nvSpPr>
          <p:cNvPr id="27" name="Shape 24"/>
          <p:cNvSpPr/>
          <p:nvPr/>
        </p:nvSpPr>
        <p:spPr>
          <a:xfrm>
            <a:off x="5120640" y="3291840"/>
            <a:ext cx="3566160" cy="685800"/>
          </a:xfrm>
          <a:prstGeom prst="roundRect">
            <a:avLst>
              <a:gd name="adj" fmla="val 13333"/>
            </a:avLst>
          </a:prstGeom>
          <a:solidFill>
            <a:srgbClr val="F3F7FB"/>
          </a:solidFill>
          <a:ln/>
          <a:effectLst>
            <a:outerShdw blurRad="76200" dist="25400" dir="5400000" algn="bl" rotWithShape="0">
              <a:srgbClr val="000000">
                <a:alpha val="10000"/>
              </a:srgbClr>
            </a:outerShdw>
          </a:effectLst>
        </p:spPr>
      </p:sp>
      <p:sp>
        <p:nvSpPr>
          <p:cNvPr id="28" name="Text 25"/>
          <p:cNvSpPr txBox="1"/>
          <p:nvPr/>
        </p:nvSpPr>
        <p:spPr>
          <a:xfrm>
            <a:off x="5257800" y="3291840"/>
            <a:ext cx="914400" cy="685800"/>
          </a:xfrm>
          <a:prstGeom prst="rect">
            <a:avLst/>
          </a:prstGeom>
          <a:noFill/>
          <a:ln/>
        </p:spPr>
        <p:txBody>
          <a:bodyPr wrap="square" lIns="0" tIns="0" rIns="0" bIns="0" rtlCol="0" anchor="ctr"/>
          <a:lstStyle/>
          <a:p>
            <a:pPr marL="0" indent="0">
              <a:buNone/>
            </a:pPr>
            <a:r>
              <a:rPr lang="en-US" sz="1050" b="1" kern="0" spc="100" dirty="0">
                <a:solidFill>
                  <a:srgbClr val="0E7490"/>
                </a:solidFill>
                <a:latin typeface="Calibri" pitchFamily="34" charset="0"/>
                <a:ea typeface="Calibri" pitchFamily="34" charset="-122"/>
                <a:cs typeface="Calibri" pitchFamily="34" charset="-120"/>
              </a:rPr>
              <a:t>WHY USEFUL</a:t>
            </a:r>
            <a:endParaRPr lang="en-US" sz="1050" dirty="0"/>
          </a:p>
        </p:txBody>
      </p:sp>
      <p:sp>
        <p:nvSpPr>
          <p:cNvPr id="29" name="Text 26"/>
          <p:cNvSpPr txBox="1"/>
          <p:nvPr/>
        </p:nvSpPr>
        <p:spPr>
          <a:xfrm>
            <a:off x="6217920" y="3291840"/>
            <a:ext cx="2377440" cy="685800"/>
          </a:xfrm>
          <a:prstGeom prst="rect">
            <a:avLst/>
          </a:prstGeom>
          <a:noFill/>
          <a:ln/>
        </p:spPr>
        <p:txBody>
          <a:bodyPr wrap="square" lIns="0" tIns="0" rIns="0" bIns="0" rtlCol="0" anchor="ctr"/>
          <a:lstStyle/>
          <a:p>
            <a:pPr marL="0" indent="0">
              <a:buNone/>
            </a:pPr>
            <a:r>
              <a:rPr lang="en-US" sz="1150" dirty="0">
                <a:solidFill>
                  <a:srgbClr val="0B1F3A"/>
                </a:solidFill>
                <a:latin typeface="Calibri" pitchFamily="34" charset="0"/>
                <a:ea typeface="Calibri" pitchFamily="34" charset="-122"/>
                <a:cs typeface="Calibri" pitchFamily="34" charset="-120"/>
              </a:rPr>
              <a:t>Every FuelStation follows the same rule without sharing details.</a:t>
            </a:r>
            <a:endParaRPr lang="en-US" sz="1150" dirty="0"/>
          </a:p>
        </p:txBody>
      </p:sp>
      <p:sp>
        <p:nvSpPr>
          <p:cNvPr id="30" name="Shape 27"/>
          <p:cNvSpPr/>
          <p:nvPr/>
        </p:nvSpPr>
        <p:spPr>
          <a:xfrm>
            <a:off x="457200" y="4114800"/>
            <a:ext cx="8229600" cy="457200"/>
          </a:xfrm>
          <a:prstGeom prst="roundRect">
            <a:avLst>
              <a:gd name="adj" fmla="val 20000"/>
            </a:avLst>
          </a:prstGeom>
          <a:solidFill>
            <a:srgbClr val="E8F7FB"/>
          </a:solidFill>
          <a:ln/>
        </p:spPr>
      </p:sp>
      <p:sp>
        <p:nvSpPr>
          <p:cNvPr id="31" name="Shape 28"/>
          <p:cNvSpPr/>
          <p:nvPr/>
        </p:nvSpPr>
        <p:spPr>
          <a:xfrm>
            <a:off x="566928" y="4169664"/>
            <a:ext cx="347472" cy="347472"/>
          </a:xfrm>
          <a:prstGeom prst="ellipse">
            <a:avLst/>
          </a:prstGeom>
          <a:solidFill>
            <a:srgbClr val="0B1F3A"/>
          </a:solidFill>
          <a:ln/>
        </p:spPr>
      </p:sp>
      <p:pic>
        <p:nvPicPr>
          <p:cNvPr id="32" name="Image 1" descr="preencoded.png"/>
          <p:cNvPicPr>
            <a:picLocks noChangeAspect="1"/>
          </p:cNvPicPr>
          <p:nvPr/>
        </p:nvPicPr>
        <p:blipFill>
          <a:blip r:embed="rId4"/>
          <a:stretch>
            <a:fillRect/>
          </a:stretch>
        </p:blipFill>
        <p:spPr>
          <a:xfrm>
            <a:off x="653796" y="4256532"/>
            <a:ext cx="173736" cy="173736"/>
          </a:xfrm>
          <a:prstGeom prst="rect">
            <a:avLst/>
          </a:prstGeom>
        </p:spPr>
      </p:pic>
      <p:sp>
        <p:nvSpPr>
          <p:cNvPr id="33" name="Text 29"/>
          <p:cNvSpPr txBox="1"/>
          <p:nvPr/>
        </p:nvSpPr>
        <p:spPr>
          <a:xfrm>
            <a:off x="1051560" y="4114800"/>
            <a:ext cx="7498080" cy="457200"/>
          </a:xfrm>
          <a:prstGeom prst="rect">
            <a:avLst/>
          </a:prstGeom>
          <a:noFill/>
          <a:ln/>
        </p:spPr>
        <p:txBody>
          <a:bodyPr wrap="square" lIns="0" tIns="0" rIns="0" bIns="0" rtlCol="0" anchor="ctr"/>
          <a:lstStyle/>
          <a:p>
            <a:pPr marL="0" indent="0">
              <a:buNone/>
            </a:pPr>
            <a:r>
              <a:rPr lang="en-US" sz="1250" b="1" dirty="0">
                <a:solidFill>
                  <a:srgbClr val="0E7490"/>
                </a:solidFill>
                <a:latin typeface="Calibri" pitchFamily="34" charset="0"/>
                <a:ea typeface="Calibri" pitchFamily="34" charset="-122"/>
                <a:cs typeface="Calibri" pitchFamily="34" charset="-120"/>
              </a:rPr>
              <a:t>Real-life example: </a:t>
            </a:r>
            <a:r>
              <a:rPr lang="en-US" sz="1250" dirty="0">
                <a:solidFill>
                  <a:srgbClr val="0B1F3A"/>
                </a:solidFill>
                <a:latin typeface="Calibri" pitchFamily="34" charset="0"/>
                <a:ea typeface="Calibri" pitchFamily="34" charset="-122"/>
                <a:cs typeface="Calibri" pitchFamily="34" charset="-120"/>
              </a:rPr>
              <a:t>Driving a car – we use the steering wheel and pedals without knowing the engine details.</a:t>
            </a:r>
            <a:endParaRPr lang="en-US" sz="1250" dirty="0"/>
          </a:p>
        </p:txBody>
      </p:sp>
      <p:sp>
        <p:nvSpPr>
          <p:cNvPr id="34" name="Text 30"/>
          <p:cNvSpPr txBox="1"/>
          <p:nvPr/>
        </p:nvSpPr>
        <p:spPr>
          <a:xfrm>
            <a:off x="457200" y="4773168"/>
            <a:ext cx="4572000" cy="201168"/>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Smart Fuel Pump Management System</a:t>
            </a:r>
            <a:endParaRPr lang="en-US" sz="1000" dirty="0"/>
          </a:p>
        </p:txBody>
      </p:sp>
      <p:sp>
        <p:nvSpPr>
          <p:cNvPr id="35" name="Text 31"/>
          <p:cNvSpPr txBox="1"/>
          <p:nvPr/>
        </p:nvSpPr>
        <p:spPr>
          <a:xfrm>
            <a:off x="7772400" y="4773168"/>
            <a:ext cx="914400" cy="201168"/>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6400800" cy="228600"/>
          </a:xfrm>
          <a:prstGeom prst="rect">
            <a:avLst/>
          </a:prstGeom>
          <a:noFill/>
          <a:ln/>
        </p:spPr>
        <p:txBody>
          <a:bodyPr wrap="square" lIns="0" tIns="0" rIns="0" bIns="0" rtlCol="0" anchor="ctr"/>
          <a:lstStyle/>
          <a:p>
            <a:pPr marL="0" indent="0">
              <a:buNone/>
            </a:pPr>
            <a:r>
              <a:rPr lang="en-US" sz="1100" b="1" kern="0" spc="300" dirty="0">
                <a:solidFill>
                  <a:srgbClr val="0E7490"/>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02920"/>
            <a:ext cx="7498080" cy="548640"/>
          </a:xfrm>
          <a:prstGeom prst="rect">
            <a:avLst/>
          </a:prstGeom>
          <a:noFill/>
          <a:ln/>
        </p:spPr>
        <p:txBody>
          <a:bodyPr wrap="square" lIns="0" tIns="0" rIns="0" bIns="0" rtlCol="0" anchor="ctr"/>
          <a:lstStyle/>
          <a:p>
            <a:pPr marL="0" indent="0">
              <a:buNone/>
            </a:pPr>
            <a:r>
              <a:rPr lang="en-US" sz="3000" b="1" dirty="0">
                <a:solidFill>
                  <a:srgbClr val="0B1F3A"/>
                </a:solidFill>
                <a:latin typeface="Calibri" pitchFamily="34" charset="0"/>
                <a:ea typeface="Calibri" pitchFamily="34" charset="-122"/>
                <a:cs typeface="Calibri" pitchFamily="34" charset="-120"/>
              </a:rPr>
              <a:t>OOP in Our Project</a:t>
            </a:r>
            <a:endParaRPr lang="en-US" sz="3000" dirty="0"/>
          </a:p>
        </p:txBody>
      </p:sp>
      <p:sp>
        <p:nvSpPr>
          <p:cNvPr id="4" name="Shape 2"/>
          <p:cNvSpPr/>
          <p:nvPr/>
        </p:nvSpPr>
        <p:spPr>
          <a:xfrm>
            <a:off x="8229600" y="384048"/>
            <a:ext cx="457200" cy="457200"/>
          </a:xfrm>
          <a:prstGeom prst="ellipse">
            <a:avLst/>
          </a:prstGeom>
          <a:solidFill>
            <a:srgbClr val="0B1F3A"/>
          </a:solidFill>
          <a:ln/>
        </p:spPr>
      </p:sp>
      <p:pic>
        <p:nvPicPr>
          <p:cNvPr id="5" name="Image 0" descr="preencoded.png"/>
          <p:cNvPicPr>
            <a:picLocks noChangeAspect="1"/>
          </p:cNvPicPr>
          <p:nvPr/>
        </p:nvPicPr>
        <p:blipFill>
          <a:blip r:embed="rId3"/>
          <a:stretch>
            <a:fillRect/>
          </a:stretch>
        </p:blipFill>
        <p:spPr>
          <a:xfrm>
            <a:off x="8343900" y="498348"/>
            <a:ext cx="228600" cy="228600"/>
          </a:xfrm>
          <a:prstGeom prst="rect">
            <a:avLst/>
          </a:prstGeom>
        </p:spPr>
      </p:pic>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2798064"/>
        </p:xfrm>
        <a:graphic>
          <a:graphicData uri="http://schemas.openxmlformats.org/drawingml/2006/table">
            <a:tbl>
              <a:tblPr/>
              <a:tblGrid>
                <a:gridCol w="155448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OOP Pillar</a:t>
                      </a:r>
                      <a:endParaRPr lang="en-US" sz="1250" dirty="0">
                        <a:latin typeface="Calibri" charset="0"/>
                        <a:ea typeface="Calibri" charset="0"/>
                        <a:cs typeface="Calibri" charset="0"/>
                      </a:endParaRPr>
                    </a:p>
                  </a:txBody>
                  <a:tcPr marL="73152" marR="73152" marT="73152" marB="73152" anchor="ctr">
                    <a:lnL w="9525" cap="flat" cmpd="sng" algn="ctr">
                      <a:solidFill>
                        <a:srgbClr val="D6E2EE"/>
                      </a:solidFill>
                      <a:prstDash val="solid"/>
                      <a:round/>
                      <a:headEnd type="none" w="med" len="med"/>
                      <a:tailEnd type="none" w="med" len="med"/>
                    </a:lnL>
                    <a:lnR w="9525" cap="flat" cmpd="sng" algn="ctr">
                      <a:solidFill>
                        <a:srgbClr val="D6E2EE"/>
                      </a:solidFill>
                      <a:prstDash val="solid"/>
                      <a:round/>
                      <a:headEnd type="none" w="med" len="med"/>
                      <a:tailEnd type="none" w="med" len="med"/>
                    </a:lnR>
                    <a:lnT w="9525" cap="flat" cmpd="sng" algn="ctr">
                      <a:solidFill>
                        <a:srgbClr val="D6E2EE"/>
                      </a:solidFill>
                      <a:prstDash val="solid"/>
                      <a:round/>
                      <a:headEnd type="none" w="med" len="med"/>
                      <a:tailEnd type="none" w="med" len="med"/>
                    </a:lnT>
                    <a:lnB w="9525" cap="flat" cmpd="sng" algn="ctr">
                      <a:solidFill>
                        <a:srgbClr val="D6E2EE"/>
                      </a:solidFill>
                      <a:prstDash val="solid"/>
                      <a:round/>
                      <a:headEnd type="none" w="med" len="med"/>
                      <a:tailEnd type="none" w="med" len="med"/>
                    </a:lnB>
                    <a:solidFill>
                      <a:srgbClr val="0B1F3A"/>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How it is used</a:t>
                      </a:r>
                      <a:endParaRPr lang="en-US" sz="1250" dirty="0">
                        <a:latin typeface="Calibri" charset="0"/>
                        <a:ea typeface="Calibri" charset="0"/>
                        <a:cs typeface="Calibri" charset="0"/>
                      </a:endParaRPr>
                    </a:p>
                  </a:txBody>
                  <a:tcPr marL="73152" marR="73152" marT="73152" marB="73152" anchor="ctr">
                    <a:lnL w="9525" cap="flat" cmpd="sng" algn="ctr">
                      <a:solidFill>
                        <a:srgbClr val="D6E2EE"/>
                      </a:solidFill>
                      <a:prstDash val="solid"/>
                      <a:round/>
                      <a:headEnd type="none" w="med" len="med"/>
                      <a:tailEnd type="none" w="med" len="med"/>
                    </a:lnL>
                    <a:lnR w="9525" cap="flat" cmpd="sng" algn="ctr">
                      <a:solidFill>
                        <a:srgbClr val="D6E2EE"/>
                      </a:solidFill>
                      <a:prstDash val="solid"/>
                      <a:round/>
                      <a:headEnd type="none" w="med" len="med"/>
                      <a:tailEnd type="none" w="med" len="med"/>
                    </a:lnR>
                    <a:lnT w="9525" cap="flat" cmpd="sng" algn="ctr">
                      <a:solidFill>
                        <a:srgbClr val="D6E2EE"/>
                      </a:solidFill>
                      <a:prstDash val="solid"/>
                      <a:round/>
                      <a:headEnd type="none" w="med" len="med"/>
                      <a:tailEnd type="none" w="med" len="med"/>
                    </a:lnT>
                    <a:lnB w="9525" cap="flat" cmpd="sng" algn="ctr">
                      <a:solidFill>
                        <a:srgbClr val="D6E2EE"/>
                      </a:solidFill>
                      <a:prstDash val="solid"/>
                      <a:round/>
                      <a:headEnd type="none" w="med" len="med"/>
                      <a:tailEnd type="none" w="med" len="med"/>
                    </a:lnB>
                    <a:solidFill>
                      <a:srgbClr val="0B1F3A"/>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Example from our code</a:t>
                      </a:r>
                      <a:endParaRPr lang="en-US" sz="1250" dirty="0">
                        <a:latin typeface="Calibri" charset="0"/>
                        <a:ea typeface="Calibri" charset="0"/>
                        <a:cs typeface="Calibri" charset="0"/>
                      </a:endParaRPr>
                    </a:p>
                  </a:txBody>
                  <a:tcPr marL="73152" marR="73152" marT="73152" marB="73152" anchor="ctr">
                    <a:lnL w="9525" cap="flat" cmpd="sng" algn="ctr">
                      <a:solidFill>
                        <a:srgbClr val="D6E2EE"/>
                      </a:solidFill>
                      <a:prstDash val="solid"/>
                      <a:round/>
                      <a:headEnd type="none" w="med" len="med"/>
                      <a:tailEnd type="none" w="med" len="med"/>
                    </a:lnL>
                    <a:lnR w="9525" cap="flat" cmpd="sng" algn="ctr">
                      <a:solidFill>
                        <a:srgbClr val="D6E2EE"/>
                      </a:solidFill>
                      <a:prstDash val="solid"/>
                      <a:round/>
                      <a:headEnd type="none" w="med" len="med"/>
                      <a:tailEnd type="none" w="med" len="med"/>
                    </a:lnR>
                    <a:lnT w="9525" cap="flat" cmpd="sng" algn="ctr">
                      <a:solidFill>
                        <a:srgbClr val="D6E2EE"/>
                      </a:solidFill>
                      <a:prstDash val="solid"/>
                      <a:round/>
                      <a:headEnd type="none" w="med" len="med"/>
                      <a:tailEnd type="none" w="med" len="med"/>
                    </a:lnT>
                    <a:lnB w="9525" cap="flat" cmpd="sng" algn="ctr">
                      <a:solidFill>
                        <a:srgbClr val="D6E2EE"/>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603504">
                <a:tc>
                  <a:txBody>
                    <a:bodyPr/>
                    <a:lstStyle/>
                    <a:p>
                      <a:pPr marL="0" indent="0">
                        <a:buNone/>
                      </a:pPr>
                      <a:r>
                        <a:rPr lang="en-US" sz="1250" b="1" dirty="0">
                          <a:solidFill>
                            <a:srgbClr val="0B1F3A"/>
                          </a:solidFill>
                          <a:latin typeface="Calibri" pitchFamily="34" charset="0"/>
                          <a:ea typeface="Calibri" pitchFamily="34" charset="-122"/>
                          <a:cs typeface="Calibri" pitchFamily="34" charset="-120"/>
                        </a:rPr>
                        <a:t>Encapsulation</a:t>
                      </a:r>
                      <a:endParaRPr lang="en-US" sz="1250" dirty="0">
                        <a:latin typeface="Calibri" charset="0"/>
                        <a:ea typeface="Calibri" charset="0"/>
                        <a:cs typeface="Calibri" charset="0"/>
                      </a:endParaRPr>
                    </a:p>
                  </a:txBody>
                  <a:tcPr marL="73152" marR="73152" marT="73152" marB="73152" anchor="ctr">
                    <a:lnL w="9525" cap="flat" cmpd="sng" algn="ctr">
                      <a:solidFill>
                        <a:srgbClr val="D6E2EE"/>
                      </a:solidFill>
                      <a:prstDash val="solid"/>
                      <a:round/>
                      <a:headEnd type="none" w="med" len="med"/>
                      <a:tailEnd type="none" w="med" len="med"/>
                    </a:lnL>
                    <a:lnR w="9525" cap="flat" cmpd="sng" algn="ctr">
                      <a:solidFill>
                        <a:srgbClr val="D6E2EE"/>
                      </a:solidFill>
                      <a:prstDash val="solid"/>
                      <a:round/>
                      <a:headEnd type="none" w="med" len="med"/>
                      <a:tailEnd type="none" w="med" len="med"/>
                    </a:lnR>
                    <a:lnT w="9525" cap="flat" cmpd="sng" algn="ctr">
                      <a:solidFill>
                        <a:srgbClr val="D6E2EE"/>
                      </a:solidFill>
                      <a:prstDash val="solid"/>
                      <a:round/>
                      <a:headEnd type="none" w="med" len="med"/>
                      <a:tailEnd type="none" w="med" len="med"/>
                    </a:lnT>
                    <a:lnB w="9525" cap="flat" cmpd="sng" algn="ctr">
                      <a:solidFill>
                        <a:srgbClr val="D6E2EE"/>
                      </a:solidFill>
                      <a:prstDash val="solid"/>
                      <a:round/>
                      <a:headEnd type="none" w="med" len="med"/>
                      <a:tailEnd type="none" w="med" len="med"/>
                    </a:lnB>
                    <a:solidFill>
                      <a:srgbClr val="E8F7FB"/>
                    </a:solidFill>
                  </a:tcPr>
                </a:tc>
                <a:tc>
                  <a:txBody>
                    <a:bodyPr/>
                    <a:lstStyle/>
                    <a:p>
                      <a:pPr marL="0" indent="0">
                        <a:buNone/>
                      </a:pPr>
                      <a:r>
                        <a:rPr lang="en-US" sz="1150" dirty="0">
                          <a:solidFill>
                            <a:srgbClr val="0B1F3A"/>
                          </a:solidFill>
                          <a:latin typeface="Calibri" pitchFamily="34" charset="0"/>
                          <a:ea typeface="Calibri" pitchFamily="34" charset="-122"/>
                          <a:cs typeface="Calibri" pitchFamily="34" charset="-120"/>
                        </a:rPr>
                        <a:t>Pump fields are private and read through public getters.</a:t>
                      </a:r>
                      <a:endParaRPr lang="en-US" sz="1150" dirty="0">
                        <a:latin typeface="Calibri" charset="0"/>
                        <a:ea typeface="Calibri" charset="0"/>
                        <a:cs typeface="Calibri" charset="0"/>
                      </a:endParaRPr>
                    </a:p>
                  </a:txBody>
                  <a:tcPr marL="73152" marR="73152" marT="73152" marB="73152" anchor="ctr">
                    <a:lnL w="9525" cap="flat" cmpd="sng" algn="ctr">
                      <a:solidFill>
                        <a:srgbClr val="D6E2EE"/>
                      </a:solidFill>
                      <a:prstDash val="solid"/>
                      <a:round/>
                      <a:headEnd type="none" w="med" len="med"/>
                      <a:tailEnd type="none" w="med" len="med"/>
                    </a:lnL>
                    <a:lnR w="9525" cap="flat" cmpd="sng" algn="ctr">
                      <a:solidFill>
                        <a:srgbClr val="D6E2EE"/>
                      </a:solidFill>
                      <a:prstDash val="solid"/>
                      <a:round/>
                      <a:headEnd type="none" w="med" len="med"/>
                      <a:tailEnd type="none" w="med" len="med"/>
                    </a:lnR>
                    <a:lnT w="9525" cap="flat" cmpd="sng" algn="ctr">
                      <a:solidFill>
                        <a:srgbClr val="D6E2EE"/>
                      </a:solidFill>
                      <a:prstDash val="solid"/>
                      <a:round/>
                      <a:headEnd type="none" w="med" len="med"/>
                      <a:tailEnd type="none" w="med" len="med"/>
                    </a:lnT>
                    <a:lnB w="9525" cap="flat" cmpd="sng" algn="ctr">
                      <a:solidFill>
                        <a:srgbClr val="D6E2EE"/>
                      </a:solidFill>
                      <a:prstDash val="solid"/>
                      <a:round/>
                      <a:headEnd type="none" w="med" len="med"/>
                      <a:tailEnd type="none" w="med" len="med"/>
                    </a:lnB>
                  </a:tcPr>
                </a:tc>
                <a:tc>
                  <a:txBody>
                    <a:bodyPr/>
                    <a:lstStyle/>
                    <a:p>
                      <a:pPr marL="0" indent="0">
                        <a:buNone/>
                      </a:pPr>
                      <a:r>
                        <a:rPr lang="en-US" sz="1050" dirty="0">
                          <a:solidFill>
                            <a:srgbClr val="0B1F3A"/>
                          </a:solidFill>
                          <a:latin typeface="Courier New" pitchFamily="34" charset="0"/>
                          <a:ea typeface="Courier New" pitchFamily="34" charset="-122"/>
                          <a:cs typeface="Courier New" pitchFamily="34" charset="-120"/>
                        </a:rPr>
                        <a:t>private String name;</a:t>
                      </a:r>
                      <a:endParaRPr lang="en-US" sz="1050" dirty="0">
                        <a:latin typeface="Courier New" charset="0"/>
                        <a:ea typeface="Courier New" charset="0"/>
                        <a:cs typeface="Courier New" charset="0"/>
                      </a:endParaRPr>
                    </a:p>
                    <a:p>
                      <a:pPr marL="0" indent="0">
                        <a:buNone/>
                      </a:pPr>
                      <a:r>
                        <a:rPr lang="en-US" sz="1050" dirty="0">
                          <a:solidFill>
                            <a:srgbClr val="0B1F3A"/>
                          </a:solidFill>
                          <a:latin typeface="Courier New" pitchFamily="34" charset="0"/>
                          <a:ea typeface="Courier New" pitchFamily="34" charset="-122"/>
                          <a:cs typeface="Courier New" pitchFamily="34" charset="-120"/>
                        </a:rPr>
                        <a:t>public String getName()</a:t>
                      </a:r>
                      <a:endParaRPr lang="en-US" sz="1050" dirty="0">
                        <a:latin typeface="Courier New" charset="0"/>
                        <a:ea typeface="Courier New" charset="0"/>
                        <a:cs typeface="Courier New" charset="0"/>
                      </a:endParaRPr>
                    </a:p>
                  </a:txBody>
                  <a:tcPr marL="73152" marR="73152" marT="73152" marB="73152" anchor="ctr">
                    <a:lnL w="9525" cap="flat" cmpd="sng" algn="ctr">
                      <a:solidFill>
                        <a:srgbClr val="D6E2EE"/>
                      </a:solidFill>
                      <a:prstDash val="solid"/>
                      <a:round/>
                      <a:headEnd type="none" w="med" len="med"/>
                      <a:tailEnd type="none" w="med" len="med"/>
                    </a:lnL>
                    <a:lnR w="9525" cap="flat" cmpd="sng" algn="ctr">
                      <a:solidFill>
                        <a:srgbClr val="D6E2EE"/>
                      </a:solidFill>
                      <a:prstDash val="solid"/>
                      <a:round/>
                      <a:headEnd type="none" w="med" len="med"/>
                      <a:tailEnd type="none" w="med" len="med"/>
                    </a:lnR>
                    <a:lnT w="9525" cap="flat" cmpd="sng" algn="ctr">
                      <a:solidFill>
                        <a:srgbClr val="D6E2EE"/>
                      </a:solidFill>
                      <a:prstDash val="solid"/>
                      <a:round/>
                      <a:headEnd type="none" w="med" len="med"/>
                      <a:tailEnd type="none" w="med" len="med"/>
                    </a:lnT>
                    <a:lnB w="9525" cap="flat" cmpd="sng" algn="ctr">
                      <a:solidFill>
                        <a:srgbClr val="D6E2EE"/>
                      </a:solidFill>
                      <a:prstDash val="solid"/>
                      <a:round/>
                      <a:headEnd type="none" w="med" len="med"/>
                      <a:tailEnd type="none" w="med" len="med"/>
                    </a:lnB>
                  </a:tcPr>
                </a:tc>
                <a:extLst>
                  <a:ext uri="{0D108BD9-81ED-4DB2-BD59-A6C34878D82A}">
                    <a16:rowId xmlns:a16="http://schemas.microsoft.com/office/drawing/2014/main" val="10001"/>
                  </a:ext>
                </a:extLst>
              </a:tr>
              <a:tr h="603504">
                <a:tc>
                  <a:txBody>
                    <a:bodyPr/>
                    <a:lstStyle/>
                    <a:p>
                      <a:pPr marL="0" indent="0">
                        <a:buNone/>
                      </a:pPr>
                      <a:r>
                        <a:rPr lang="en-US" sz="1250" b="1" dirty="0">
                          <a:solidFill>
                            <a:srgbClr val="0B1F3A"/>
                          </a:solidFill>
                          <a:latin typeface="Calibri" pitchFamily="34" charset="0"/>
                          <a:ea typeface="Calibri" pitchFamily="34" charset="-122"/>
                          <a:cs typeface="Calibri" pitchFamily="34" charset="-120"/>
                        </a:rPr>
                        <a:t>Inheritance</a:t>
                      </a:r>
                      <a:endParaRPr lang="en-US" sz="1250" dirty="0">
                        <a:latin typeface="Calibri" charset="0"/>
                        <a:ea typeface="Calibri" charset="0"/>
                        <a:cs typeface="Calibri" charset="0"/>
                      </a:endParaRPr>
                    </a:p>
                  </a:txBody>
                  <a:tcPr marL="73152" marR="73152" marT="73152" marB="73152" anchor="ctr">
                    <a:lnL w="9525" cap="flat" cmpd="sng" algn="ctr">
                      <a:solidFill>
                        <a:srgbClr val="D6E2EE"/>
                      </a:solidFill>
                      <a:prstDash val="solid"/>
                      <a:round/>
                      <a:headEnd type="none" w="med" len="med"/>
                      <a:tailEnd type="none" w="med" len="med"/>
                    </a:lnL>
                    <a:lnR w="9525" cap="flat" cmpd="sng" algn="ctr">
                      <a:solidFill>
                        <a:srgbClr val="D6E2EE"/>
                      </a:solidFill>
                      <a:prstDash val="solid"/>
                      <a:round/>
                      <a:headEnd type="none" w="med" len="med"/>
                      <a:tailEnd type="none" w="med" len="med"/>
                    </a:lnR>
                    <a:lnT w="9525" cap="flat" cmpd="sng" algn="ctr">
                      <a:solidFill>
                        <a:srgbClr val="D6E2EE"/>
                      </a:solidFill>
                      <a:prstDash val="solid"/>
                      <a:round/>
                      <a:headEnd type="none" w="med" len="med"/>
                      <a:tailEnd type="none" w="med" len="med"/>
                    </a:lnT>
                    <a:lnB w="9525" cap="flat" cmpd="sng" algn="ctr">
                      <a:solidFill>
                        <a:srgbClr val="D6E2EE"/>
                      </a:solidFill>
                      <a:prstDash val="solid"/>
                      <a:round/>
                      <a:headEnd type="none" w="med" len="med"/>
                      <a:tailEnd type="none" w="med" len="med"/>
                    </a:lnB>
                    <a:solidFill>
                      <a:srgbClr val="E8F7FB"/>
                    </a:solidFill>
                  </a:tcPr>
                </a:tc>
                <a:tc>
                  <a:txBody>
                    <a:bodyPr/>
                    <a:lstStyle/>
                    <a:p>
                      <a:pPr marL="0" indent="0">
                        <a:buNone/>
                      </a:pPr>
                      <a:r>
                        <a:rPr lang="en-US" sz="1150" dirty="0">
                          <a:solidFill>
                            <a:srgbClr val="0B1F3A"/>
                          </a:solidFill>
                          <a:latin typeface="Calibri" pitchFamily="34" charset="0"/>
                          <a:ea typeface="Calibri" pitchFamily="34" charset="-122"/>
                          <a:cs typeface="Calibri" pitchFamily="34" charset="-120"/>
                        </a:rPr>
                        <a:t>Pump extends the abstract class FuelStation. main extends JFrame.</a:t>
                      </a:r>
                      <a:endParaRPr lang="en-US" sz="1150" dirty="0">
                        <a:latin typeface="Calibri" charset="0"/>
                        <a:ea typeface="Calibri" charset="0"/>
                        <a:cs typeface="Calibri" charset="0"/>
                      </a:endParaRPr>
                    </a:p>
                  </a:txBody>
                  <a:tcPr marL="73152" marR="73152" marT="73152" marB="73152" anchor="ctr">
                    <a:lnL w="9525" cap="flat" cmpd="sng" algn="ctr">
                      <a:solidFill>
                        <a:srgbClr val="D6E2EE"/>
                      </a:solidFill>
                      <a:prstDash val="solid"/>
                      <a:round/>
                      <a:headEnd type="none" w="med" len="med"/>
                      <a:tailEnd type="none" w="med" len="med"/>
                    </a:lnL>
                    <a:lnR w="9525" cap="flat" cmpd="sng" algn="ctr">
                      <a:solidFill>
                        <a:srgbClr val="D6E2EE"/>
                      </a:solidFill>
                      <a:prstDash val="solid"/>
                      <a:round/>
                      <a:headEnd type="none" w="med" len="med"/>
                      <a:tailEnd type="none" w="med" len="med"/>
                    </a:lnR>
                    <a:lnT w="9525" cap="flat" cmpd="sng" algn="ctr">
                      <a:solidFill>
                        <a:srgbClr val="D6E2EE"/>
                      </a:solidFill>
                      <a:prstDash val="solid"/>
                      <a:round/>
                      <a:headEnd type="none" w="med" len="med"/>
                      <a:tailEnd type="none" w="med" len="med"/>
                    </a:lnT>
                    <a:lnB w="9525" cap="flat" cmpd="sng" algn="ctr">
                      <a:solidFill>
                        <a:srgbClr val="D6E2EE"/>
                      </a:solidFill>
                      <a:prstDash val="solid"/>
                      <a:round/>
                      <a:headEnd type="none" w="med" len="med"/>
                      <a:tailEnd type="none" w="med" len="med"/>
                    </a:lnB>
                  </a:tcPr>
                </a:tc>
                <a:tc>
                  <a:txBody>
                    <a:bodyPr/>
                    <a:lstStyle/>
                    <a:p>
                      <a:pPr marL="0" indent="0">
                        <a:buNone/>
                      </a:pPr>
                      <a:r>
                        <a:rPr lang="en-US" sz="1050" dirty="0">
                          <a:solidFill>
                            <a:srgbClr val="0B1F3A"/>
                          </a:solidFill>
                          <a:latin typeface="Courier New" pitchFamily="34" charset="0"/>
                          <a:ea typeface="Courier New" pitchFamily="34" charset="-122"/>
                          <a:cs typeface="Courier New" pitchFamily="34" charset="-120"/>
                        </a:rPr>
                        <a:t>class Pump extends FuelStation</a:t>
                      </a:r>
                      <a:endParaRPr lang="en-US" sz="1050" dirty="0">
                        <a:latin typeface="Courier New" charset="0"/>
                        <a:ea typeface="Courier New" charset="0"/>
                        <a:cs typeface="Courier New" charset="0"/>
                      </a:endParaRPr>
                    </a:p>
                  </a:txBody>
                  <a:tcPr marL="73152" marR="73152" marT="73152" marB="73152" anchor="ctr">
                    <a:lnL w="9525" cap="flat" cmpd="sng" algn="ctr">
                      <a:solidFill>
                        <a:srgbClr val="D6E2EE"/>
                      </a:solidFill>
                      <a:prstDash val="solid"/>
                      <a:round/>
                      <a:headEnd type="none" w="med" len="med"/>
                      <a:tailEnd type="none" w="med" len="med"/>
                    </a:lnL>
                    <a:lnR w="9525" cap="flat" cmpd="sng" algn="ctr">
                      <a:solidFill>
                        <a:srgbClr val="D6E2EE"/>
                      </a:solidFill>
                      <a:prstDash val="solid"/>
                      <a:round/>
                      <a:headEnd type="none" w="med" len="med"/>
                      <a:tailEnd type="none" w="med" len="med"/>
                    </a:lnR>
                    <a:lnT w="9525" cap="flat" cmpd="sng" algn="ctr">
                      <a:solidFill>
                        <a:srgbClr val="D6E2EE"/>
                      </a:solidFill>
                      <a:prstDash val="solid"/>
                      <a:round/>
                      <a:headEnd type="none" w="med" len="med"/>
                      <a:tailEnd type="none" w="med" len="med"/>
                    </a:lnT>
                    <a:lnB w="9525" cap="flat" cmpd="sng" algn="ctr">
                      <a:solidFill>
                        <a:srgbClr val="D6E2EE"/>
                      </a:solidFill>
                      <a:prstDash val="solid"/>
                      <a:round/>
                      <a:headEnd type="none" w="med" len="med"/>
                      <a:tailEnd type="none" w="med" len="med"/>
                    </a:lnB>
                  </a:tcPr>
                </a:tc>
                <a:extLst>
                  <a:ext uri="{0D108BD9-81ED-4DB2-BD59-A6C34878D82A}">
                    <a16:rowId xmlns:a16="http://schemas.microsoft.com/office/drawing/2014/main" val="10002"/>
                  </a:ext>
                </a:extLst>
              </a:tr>
              <a:tr h="603504">
                <a:tc>
                  <a:txBody>
                    <a:bodyPr/>
                    <a:lstStyle/>
                    <a:p>
                      <a:pPr marL="0" indent="0">
                        <a:buNone/>
                      </a:pPr>
                      <a:r>
                        <a:rPr lang="en-US" sz="1250" b="1" dirty="0">
                          <a:solidFill>
                            <a:srgbClr val="0B1F3A"/>
                          </a:solidFill>
                          <a:latin typeface="Calibri" pitchFamily="34" charset="0"/>
                          <a:ea typeface="Calibri" pitchFamily="34" charset="-122"/>
                          <a:cs typeface="Calibri" pitchFamily="34" charset="-120"/>
                        </a:rPr>
                        <a:t>Polymorphism</a:t>
                      </a:r>
                      <a:endParaRPr lang="en-US" sz="1250" dirty="0">
                        <a:latin typeface="Calibri" charset="0"/>
                        <a:ea typeface="Calibri" charset="0"/>
                        <a:cs typeface="Calibri" charset="0"/>
                      </a:endParaRPr>
                    </a:p>
                  </a:txBody>
                  <a:tcPr marL="73152" marR="73152" marT="73152" marB="73152" anchor="ctr">
                    <a:lnL w="9525" cap="flat" cmpd="sng" algn="ctr">
                      <a:solidFill>
                        <a:srgbClr val="D6E2EE"/>
                      </a:solidFill>
                      <a:prstDash val="solid"/>
                      <a:round/>
                      <a:headEnd type="none" w="med" len="med"/>
                      <a:tailEnd type="none" w="med" len="med"/>
                    </a:lnL>
                    <a:lnR w="9525" cap="flat" cmpd="sng" algn="ctr">
                      <a:solidFill>
                        <a:srgbClr val="D6E2EE"/>
                      </a:solidFill>
                      <a:prstDash val="solid"/>
                      <a:round/>
                      <a:headEnd type="none" w="med" len="med"/>
                      <a:tailEnd type="none" w="med" len="med"/>
                    </a:lnR>
                    <a:lnT w="9525" cap="flat" cmpd="sng" algn="ctr">
                      <a:solidFill>
                        <a:srgbClr val="D6E2EE"/>
                      </a:solidFill>
                      <a:prstDash val="solid"/>
                      <a:round/>
                      <a:headEnd type="none" w="med" len="med"/>
                      <a:tailEnd type="none" w="med" len="med"/>
                    </a:lnT>
                    <a:lnB w="9525" cap="flat" cmpd="sng" algn="ctr">
                      <a:solidFill>
                        <a:srgbClr val="D6E2EE"/>
                      </a:solidFill>
                      <a:prstDash val="solid"/>
                      <a:round/>
                      <a:headEnd type="none" w="med" len="med"/>
                      <a:tailEnd type="none" w="med" len="med"/>
                    </a:lnB>
                    <a:solidFill>
                      <a:srgbClr val="E8F7FB"/>
                    </a:solidFill>
                  </a:tcPr>
                </a:tc>
                <a:tc>
                  <a:txBody>
                    <a:bodyPr/>
                    <a:lstStyle/>
                    <a:p>
                      <a:pPr marL="0" indent="0">
                        <a:buNone/>
                      </a:pPr>
                      <a:r>
                        <a:rPr lang="en-US" sz="1150" dirty="0">
                          <a:solidFill>
                            <a:srgbClr val="0B1F3A"/>
                          </a:solidFill>
                          <a:latin typeface="Calibri" pitchFamily="34" charset="0"/>
                          <a:ea typeface="Calibri" pitchFamily="34" charset="-122"/>
                          <a:cs typeface="Calibri" pitchFamily="34" charset="-120"/>
                        </a:rPr>
                        <a:t>Pump overrides showInfo() from FuelStation.</a:t>
                      </a:r>
                      <a:endParaRPr lang="en-US" sz="1150" dirty="0">
                        <a:latin typeface="Calibri" charset="0"/>
                        <a:ea typeface="Calibri" charset="0"/>
                        <a:cs typeface="Calibri" charset="0"/>
                      </a:endParaRPr>
                    </a:p>
                  </a:txBody>
                  <a:tcPr marL="73152" marR="73152" marT="73152" marB="73152" anchor="ctr">
                    <a:lnL w="9525" cap="flat" cmpd="sng" algn="ctr">
                      <a:solidFill>
                        <a:srgbClr val="D6E2EE"/>
                      </a:solidFill>
                      <a:prstDash val="solid"/>
                      <a:round/>
                      <a:headEnd type="none" w="med" len="med"/>
                      <a:tailEnd type="none" w="med" len="med"/>
                    </a:lnL>
                    <a:lnR w="9525" cap="flat" cmpd="sng" algn="ctr">
                      <a:solidFill>
                        <a:srgbClr val="D6E2EE"/>
                      </a:solidFill>
                      <a:prstDash val="solid"/>
                      <a:round/>
                      <a:headEnd type="none" w="med" len="med"/>
                      <a:tailEnd type="none" w="med" len="med"/>
                    </a:lnR>
                    <a:lnT w="9525" cap="flat" cmpd="sng" algn="ctr">
                      <a:solidFill>
                        <a:srgbClr val="D6E2EE"/>
                      </a:solidFill>
                      <a:prstDash val="solid"/>
                      <a:round/>
                      <a:headEnd type="none" w="med" len="med"/>
                      <a:tailEnd type="none" w="med" len="med"/>
                    </a:lnT>
                    <a:lnB w="9525" cap="flat" cmpd="sng" algn="ctr">
                      <a:solidFill>
                        <a:srgbClr val="D6E2EE"/>
                      </a:solidFill>
                      <a:prstDash val="solid"/>
                      <a:round/>
                      <a:headEnd type="none" w="med" len="med"/>
                      <a:tailEnd type="none" w="med" len="med"/>
                    </a:lnB>
                  </a:tcPr>
                </a:tc>
                <a:tc>
                  <a:txBody>
                    <a:bodyPr/>
                    <a:lstStyle/>
                    <a:p>
                      <a:pPr marL="0" indent="0">
                        <a:buNone/>
                      </a:pPr>
                      <a:r>
                        <a:rPr lang="en-US" sz="1050" dirty="0">
                          <a:solidFill>
                            <a:srgbClr val="0B1F3A"/>
                          </a:solidFill>
                          <a:latin typeface="Courier New" pitchFamily="34" charset="0"/>
                          <a:ea typeface="Courier New" pitchFamily="34" charset="-122"/>
                          <a:cs typeface="Courier New" pitchFamily="34" charset="-120"/>
                        </a:rPr>
                        <a:t>@Override</a:t>
                      </a:r>
                      <a:endParaRPr lang="en-US" sz="1050" dirty="0">
                        <a:latin typeface="Courier New" charset="0"/>
                        <a:ea typeface="Courier New" charset="0"/>
                        <a:cs typeface="Courier New" charset="0"/>
                      </a:endParaRPr>
                    </a:p>
                    <a:p>
                      <a:pPr marL="0" indent="0">
                        <a:buNone/>
                      </a:pPr>
                      <a:r>
                        <a:rPr lang="en-US" sz="1050" dirty="0">
                          <a:solidFill>
                            <a:srgbClr val="0B1F3A"/>
                          </a:solidFill>
                          <a:latin typeface="Courier New" pitchFamily="34" charset="0"/>
                          <a:ea typeface="Courier New" pitchFamily="34" charset="-122"/>
                          <a:cs typeface="Courier New" pitchFamily="34" charset="-120"/>
                        </a:rPr>
                        <a:t>void showInfo()</a:t>
                      </a:r>
                      <a:endParaRPr lang="en-US" sz="1050" dirty="0">
                        <a:latin typeface="Courier New" charset="0"/>
                        <a:ea typeface="Courier New" charset="0"/>
                        <a:cs typeface="Courier New" charset="0"/>
                      </a:endParaRPr>
                    </a:p>
                  </a:txBody>
                  <a:tcPr marL="73152" marR="73152" marT="73152" marB="73152" anchor="ctr">
                    <a:lnL w="9525" cap="flat" cmpd="sng" algn="ctr">
                      <a:solidFill>
                        <a:srgbClr val="D6E2EE"/>
                      </a:solidFill>
                      <a:prstDash val="solid"/>
                      <a:round/>
                      <a:headEnd type="none" w="med" len="med"/>
                      <a:tailEnd type="none" w="med" len="med"/>
                    </a:lnL>
                    <a:lnR w="9525" cap="flat" cmpd="sng" algn="ctr">
                      <a:solidFill>
                        <a:srgbClr val="D6E2EE"/>
                      </a:solidFill>
                      <a:prstDash val="solid"/>
                      <a:round/>
                      <a:headEnd type="none" w="med" len="med"/>
                      <a:tailEnd type="none" w="med" len="med"/>
                    </a:lnR>
                    <a:lnT w="9525" cap="flat" cmpd="sng" algn="ctr">
                      <a:solidFill>
                        <a:srgbClr val="D6E2EE"/>
                      </a:solidFill>
                      <a:prstDash val="solid"/>
                      <a:round/>
                      <a:headEnd type="none" w="med" len="med"/>
                      <a:tailEnd type="none" w="med" len="med"/>
                    </a:lnT>
                    <a:lnB w="9525" cap="flat" cmpd="sng" algn="ctr">
                      <a:solidFill>
                        <a:srgbClr val="D6E2EE"/>
                      </a:solidFill>
                      <a:prstDash val="solid"/>
                      <a:round/>
                      <a:headEnd type="none" w="med" len="med"/>
                      <a:tailEnd type="none" w="med" len="med"/>
                    </a:lnB>
                  </a:tcPr>
                </a:tc>
                <a:extLst>
                  <a:ext uri="{0D108BD9-81ED-4DB2-BD59-A6C34878D82A}">
                    <a16:rowId xmlns:a16="http://schemas.microsoft.com/office/drawing/2014/main" val="10003"/>
                  </a:ext>
                </a:extLst>
              </a:tr>
              <a:tr h="603504">
                <a:tc>
                  <a:txBody>
                    <a:bodyPr/>
                    <a:lstStyle/>
                    <a:p>
                      <a:pPr marL="0" indent="0">
                        <a:buNone/>
                      </a:pPr>
                      <a:r>
                        <a:rPr lang="en-US" sz="1250" b="1" dirty="0">
                          <a:solidFill>
                            <a:srgbClr val="0B1F3A"/>
                          </a:solidFill>
                          <a:latin typeface="Calibri" pitchFamily="34" charset="0"/>
                          <a:ea typeface="Calibri" pitchFamily="34" charset="-122"/>
                          <a:cs typeface="Calibri" pitchFamily="34" charset="-120"/>
                        </a:rPr>
                        <a:t>Abstraction</a:t>
                      </a:r>
                      <a:endParaRPr lang="en-US" sz="1250" dirty="0">
                        <a:latin typeface="Calibri" charset="0"/>
                        <a:ea typeface="Calibri" charset="0"/>
                        <a:cs typeface="Calibri" charset="0"/>
                      </a:endParaRPr>
                    </a:p>
                  </a:txBody>
                  <a:tcPr marL="73152" marR="73152" marT="73152" marB="73152" anchor="ctr">
                    <a:lnL w="9525" cap="flat" cmpd="sng" algn="ctr">
                      <a:solidFill>
                        <a:srgbClr val="D6E2EE"/>
                      </a:solidFill>
                      <a:prstDash val="solid"/>
                      <a:round/>
                      <a:headEnd type="none" w="med" len="med"/>
                      <a:tailEnd type="none" w="med" len="med"/>
                    </a:lnL>
                    <a:lnR w="9525" cap="flat" cmpd="sng" algn="ctr">
                      <a:solidFill>
                        <a:srgbClr val="D6E2EE"/>
                      </a:solidFill>
                      <a:prstDash val="solid"/>
                      <a:round/>
                      <a:headEnd type="none" w="med" len="med"/>
                      <a:tailEnd type="none" w="med" len="med"/>
                    </a:lnR>
                    <a:lnT w="9525" cap="flat" cmpd="sng" algn="ctr">
                      <a:solidFill>
                        <a:srgbClr val="D6E2EE"/>
                      </a:solidFill>
                      <a:prstDash val="solid"/>
                      <a:round/>
                      <a:headEnd type="none" w="med" len="med"/>
                      <a:tailEnd type="none" w="med" len="med"/>
                    </a:lnT>
                    <a:lnB w="9525" cap="flat" cmpd="sng" algn="ctr">
                      <a:solidFill>
                        <a:srgbClr val="D6E2EE"/>
                      </a:solidFill>
                      <a:prstDash val="solid"/>
                      <a:round/>
                      <a:headEnd type="none" w="med" len="med"/>
                      <a:tailEnd type="none" w="med" len="med"/>
                    </a:lnB>
                    <a:solidFill>
                      <a:srgbClr val="E8F7FB"/>
                    </a:solidFill>
                  </a:tcPr>
                </a:tc>
                <a:tc>
                  <a:txBody>
                    <a:bodyPr/>
                    <a:lstStyle/>
                    <a:p>
                      <a:pPr marL="0" indent="0">
                        <a:buNone/>
                      </a:pPr>
                      <a:r>
                        <a:rPr lang="en-US" sz="1150" dirty="0">
                          <a:solidFill>
                            <a:srgbClr val="0B1F3A"/>
                          </a:solidFill>
                          <a:latin typeface="Calibri" pitchFamily="34" charset="0"/>
                          <a:ea typeface="Calibri" pitchFamily="34" charset="-122"/>
                          <a:cs typeface="Calibri" pitchFamily="34" charset="-120"/>
                        </a:rPr>
                        <a:t>FuelStation is an abstract class with an abstract method.</a:t>
                      </a:r>
                      <a:endParaRPr lang="en-US" sz="1150" dirty="0">
                        <a:latin typeface="Calibri" charset="0"/>
                        <a:ea typeface="Calibri" charset="0"/>
                        <a:cs typeface="Calibri" charset="0"/>
                      </a:endParaRPr>
                    </a:p>
                  </a:txBody>
                  <a:tcPr marL="73152" marR="73152" marT="73152" marB="73152" anchor="ctr">
                    <a:lnL w="9525" cap="flat" cmpd="sng" algn="ctr">
                      <a:solidFill>
                        <a:srgbClr val="D6E2EE"/>
                      </a:solidFill>
                      <a:prstDash val="solid"/>
                      <a:round/>
                      <a:headEnd type="none" w="med" len="med"/>
                      <a:tailEnd type="none" w="med" len="med"/>
                    </a:lnL>
                    <a:lnR w="9525" cap="flat" cmpd="sng" algn="ctr">
                      <a:solidFill>
                        <a:srgbClr val="D6E2EE"/>
                      </a:solidFill>
                      <a:prstDash val="solid"/>
                      <a:round/>
                      <a:headEnd type="none" w="med" len="med"/>
                      <a:tailEnd type="none" w="med" len="med"/>
                    </a:lnR>
                    <a:lnT w="9525" cap="flat" cmpd="sng" algn="ctr">
                      <a:solidFill>
                        <a:srgbClr val="D6E2EE"/>
                      </a:solidFill>
                      <a:prstDash val="solid"/>
                      <a:round/>
                      <a:headEnd type="none" w="med" len="med"/>
                      <a:tailEnd type="none" w="med" len="med"/>
                    </a:lnT>
                    <a:lnB w="9525" cap="flat" cmpd="sng" algn="ctr">
                      <a:solidFill>
                        <a:srgbClr val="D6E2EE"/>
                      </a:solidFill>
                      <a:prstDash val="solid"/>
                      <a:round/>
                      <a:headEnd type="none" w="med" len="med"/>
                      <a:tailEnd type="none" w="med" len="med"/>
                    </a:lnB>
                  </a:tcPr>
                </a:tc>
                <a:tc>
                  <a:txBody>
                    <a:bodyPr/>
                    <a:lstStyle/>
                    <a:p>
                      <a:pPr marL="0" indent="0">
                        <a:buNone/>
                      </a:pPr>
                      <a:r>
                        <a:rPr lang="en-US" sz="1050" dirty="0">
                          <a:solidFill>
                            <a:srgbClr val="0B1F3A"/>
                          </a:solidFill>
                          <a:latin typeface="Courier New" pitchFamily="34" charset="0"/>
                          <a:ea typeface="Courier New" pitchFamily="34" charset="-122"/>
                          <a:cs typeface="Courier New" pitchFamily="34" charset="-120"/>
                        </a:rPr>
                        <a:t>abstract class FuelStation {</a:t>
                      </a:r>
                      <a:endParaRPr lang="en-US" sz="1050" dirty="0">
                        <a:latin typeface="Courier New" charset="0"/>
                        <a:ea typeface="Courier New" charset="0"/>
                        <a:cs typeface="Courier New" charset="0"/>
                      </a:endParaRPr>
                    </a:p>
                    <a:p>
                      <a:pPr marL="0" indent="0">
                        <a:buNone/>
                      </a:pPr>
                      <a:r>
                        <a:rPr lang="en-US" sz="1050" dirty="0">
                          <a:solidFill>
                            <a:srgbClr val="0B1F3A"/>
                          </a:solidFill>
                          <a:latin typeface="Courier New" pitchFamily="34" charset="0"/>
                          <a:ea typeface="Courier New" pitchFamily="34" charset="-122"/>
                          <a:cs typeface="Courier New" pitchFamily="34" charset="-120"/>
                        </a:rPr>
                        <a:t>  abstract void showInfo(); }</a:t>
                      </a:r>
                      <a:endParaRPr lang="en-US" sz="1050" dirty="0">
                        <a:latin typeface="Courier New" charset="0"/>
                        <a:ea typeface="Courier New" charset="0"/>
                        <a:cs typeface="Courier New" charset="0"/>
                      </a:endParaRPr>
                    </a:p>
                  </a:txBody>
                  <a:tcPr marL="73152" marR="73152" marT="73152" marB="73152" anchor="ctr">
                    <a:lnL w="9525" cap="flat" cmpd="sng" algn="ctr">
                      <a:solidFill>
                        <a:srgbClr val="D6E2EE"/>
                      </a:solidFill>
                      <a:prstDash val="solid"/>
                      <a:round/>
                      <a:headEnd type="none" w="med" len="med"/>
                      <a:tailEnd type="none" w="med" len="med"/>
                    </a:lnL>
                    <a:lnR w="9525" cap="flat" cmpd="sng" algn="ctr">
                      <a:solidFill>
                        <a:srgbClr val="D6E2EE"/>
                      </a:solidFill>
                      <a:prstDash val="solid"/>
                      <a:round/>
                      <a:headEnd type="none" w="med" len="med"/>
                      <a:tailEnd type="none" w="med" len="med"/>
                    </a:lnR>
                    <a:lnT w="9525" cap="flat" cmpd="sng" algn="ctr">
                      <a:solidFill>
                        <a:srgbClr val="D6E2EE"/>
                      </a:solidFill>
                      <a:prstDash val="solid"/>
                      <a:round/>
                      <a:headEnd type="none" w="med" len="med"/>
                      <a:tailEnd type="none" w="med" len="med"/>
                    </a:lnT>
                    <a:lnB w="9525" cap="flat" cmpd="sng" algn="ctr">
                      <a:solidFill>
                        <a:srgbClr val="D6E2EE"/>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3"/>
          <p:cNvSpPr txBox="1"/>
          <p:nvPr/>
        </p:nvSpPr>
        <p:spPr>
          <a:xfrm>
            <a:off x="457200" y="4224528"/>
            <a:ext cx="868680" cy="310896"/>
          </a:xfrm>
          <a:prstGeom prst="rect">
            <a:avLst/>
          </a:prstGeom>
          <a:noFill/>
          <a:ln/>
        </p:spPr>
        <p:txBody>
          <a:bodyPr wrap="square" lIns="0" tIns="0" rIns="0" bIns="0" rtlCol="0" anchor="ctr"/>
          <a:lstStyle/>
          <a:p>
            <a:pPr marL="0" indent="0">
              <a:buNone/>
            </a:pPr>
            <a:r>
              <a:rPr lang="en-US" sz="1150" b="1" dirty="0">
                <a:solidFill>
                  <a:srgbClr val="0E7490"/>
                </a:solidFill>
                <a:latin typeface="Calibri" pitchFamily="34" charset="0"/>
                <a:ea typeface="Calibri" pitchFamily="34" charset="-122"/>
                <a:cs typeface="Calibri" pitchFamily="34" charset="-120"/>
              </a:rPr>
              <a:t>Also used:</a:t>
            </a:r>
            <a:endParaRPr lang="en-US" sz="1150" dirty="0"/>
          </a:p>
        </p:txBody>
      </p:sp>
      <p:sp>
        <p:nvSpPr>
          <p:cNvPr id="8" name="Shape 4"/>
          <p:cNvSpPr/>
          <p:nvPr/>
        </p:nvSpPr>
        <p:spPr>
          <a:xfrm>
            <a:off x="1325880" y="4224528"/>
            <a:ext cx="1170432" cy="310896"/>
          </a:xfrm>
          <a:prstGeom prst="roundRect">
            <a:avLst>
              <a:gd name="adj" fmla="val 50000"/>
            </a:avLst>
          </a:prstGeom>
          <a:solidFill>
            <a:srgbClr val="0B1F3A"/>
          </a:solidFill>
          <a:ln/>
        </p:spPr>
      </p:sp>
      <p:sp>
        <p:nvSpPr>
          <p:cNvPr id="9" name="Text 5"/>
          <p:cNvSpPr txBox="1"/>
          <p:nvPr/>
        </p:nvSpPr>
        <p:spPr>
          <a:xfrm>
            <a:off x="1325880" y="4224528"/>
            <a:ext cx="1170432"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Class &amp; Object</a:t>
            </a:r>
            <a:endParaRPr lang="en-US" sz="1050" dirty="0"/>
          </a:p>
        </p:txBody>
      </p:sp>
      <p:sp>
        <p:nvSpPr>
          <p:cNvPr id="10" name="Shape 6"/>
          <p:cNvSpPr/>
          <p:nvPr/>
        </p:nvSpPr>
        <p:spPr>
          <a:xfrm>
            <a:off x="2587752" y="4224528"/>
            <a:ext cx="978408" cy="310896"/>
          </a:xfrm>
          <a:prstGeom prst="roundRect">
            <a:avLst>
              <a:gd name="adj" fmla="val 50000"/>
            </a:avLst>
          </a:prstGeom>
          <a:solidFill>
            <a:srgbClr val="0B1F3A"/>
          </a:solidFill>
          <a:ln/>
        </p:spPr>
      </p:sp>
      <p:sp>
        <p:nvSpPr>
          <p:cNvPr id="6" name="Text 7"/>
          <p:cNvSpPr txBox="1"/>
          <p:nvPr/>
        </p:nvSpPr>
        <p:spPr>
          <a:xfrm>
            <a:off x="2587752" y="4224528"/>
            <a:ext cx="978408"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Constructor</a:t>
            </a:r>
            <a:endParaRPr lang="en-US" sz="1050" dirty="0"/>
          </a:p>
        </p:txBody>
      </p:sp>
      <p:sp>
        <p:nvSpPr>
          <p:cNvPr id="12" name="Shape 8"/>
          <p:cNvSpPr/>
          <p:nvPr/>
        </p:nvSpPr>
        <p:spPr>
          <a:xfrm>
            <a:off x="3657600" y="4224528"/>
            <a:ext cx="850392" cy="310896"/>
          </a:xfrm>
          <a:prstGeom prst="roundRect">
            <a:avLst>
              <a:gd name="adj" fmla="val 50000"/>
            </a:avLst>
          </a:prstGeom>
          <a:solidFill>
            <a:srgbClr val="0B1F3A"/>
          </a:solidFill>
          <a:ln/>
        </p:spPr>
      </p:sp>
      <p:sp>
        <p:nvSpPr>
          <p:cNvPr id="13" name="Text 9"/>
          <p:cNvSpPr txBox="1"/>
          <p:nvPr/>
        </p:nvSpPr>
        <p:spPr>
          <a:xfrm>
            <a:off x="3657600" y="4224528"/>
            <a:ext cx="850392"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ArrayList</a:t>
            </a:r>
            <a:endParaRPr lang="en-US" sz="1050" dirty="0"/>
          </a:p>
        </p:txBody>
      </p:sp>
      <p:sp>
        <p:nvSpPr>
          <p:cNvPr id="14" name="Shape 10"/>
          <p:cNvSpPr/>
          <p:nvPr/>
        </p:nvSpPr>
        <p:spPr>
          <a:xfrm>
            <a:off x="4599432" y="4224528"/>
            <a:ext cx="1042416" cy="310896"/>
          </a:xfrm>
          <a:prstGeom prst="roundRect">
            <a:avLst>
              <a:gd name="adj" fmla="val 50000"/>
            </a:avLst>
          </a:prstGeom>
          <a:solidFill>
            <a:srgbClr val="0B1F3A"/>
          </a:solidFill>
          <a:ln/>
        </p:spPr>
      </p:sp>
      <p:sp>
        <p:nvSpPr>
          <p:cNvPr id="15" name="Text 11"/>
          <p:cNvSpPr txBox="1"/>
          <p:nvPr/>
        </p:nvSpPr>
        <p:spPr>
          <a:xfrm>
            <a:off x="4599432" y="4224528"/>
            <a:ext cx="104241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static final</a:t>
            </a:r>
            <a:endParaRPr lang="en-US" sz="1050" dirty="0"/>
          </a:p>
        </p:txBody>
      </p:sp>
      <p:sp>
        <p:nvSpPr>
          <p:cNvPr id="16" name="Shape 12"/>
          <p:cNvSpPr/>
          <p:nvPr/>
        </p:nvSpPr>
        <p:spPr>
          <a:xfrm>
            <a:off x="5733288" y="4224528"/>
            <a:ext cx="978408" cy="310896"/>
          </a:xfrm>
          <a:prstGeom prst="roundRect">
            <a:avLst>
              <a:gd name="adj" fmla="val 50000"/>
            </a:avLst>
          </a:prstGeom>
          <a:solidFill>
            <a:srgbClr val="0B1F3A"/>
          </a:solidFill>
          <a:ln/>
        </p:spPr>
      </p:sp>
      <p:sp>
        <p:nvSpPr>
          <p:cNvPr id="17" name="Text 13"/>
          <p:cNvSpPr txBox="1"/>
          <p:nvPr/>
        </p:nvSpPr>
        <p:spPr>
          <a:xfrm>
            <a:off x="5733288" y="4224528"/>
            <a:ext cx="978408"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try / catch</a:t>
            </a:r>
            <a:endParaRPr lang="en-US" sz="1050" dirty="0"/>
          </a:p>
        </p:txBody>
      </p:sp>
      <p:sp>
        <p:nvSpPr>
          <p:cNvPr id="18" name="Shape 14"/>
          <p:cNvSpPr/>
          <p:nvPr/>
        </p:nvSpPr>
        <p:spPr>
          <a:xfrm>
            <a:off x="6803136" y="4224528"/>
            <a:ext cx="1362456" cy="310896"/>
          </a:xfrm>
          <a:prstGeom prst="roundRect">
            <a:avLst>
              <a:gd name="adj" fmla="val 50000"/>
            </a:avLst>
          </a:prstGeom>
          <a:solidFill>
            <a:srgbClr val="0B1F3A"/>
          </a:solidFill>
          <a:ln/>
        </p:spPr>
      </p:sp>
      <p:sp>
        <p:nvSpPr>
          <p:cNvPr id="19" name="Text 15"/>
          <p:cNvSpPr txBox="1"/>
          <p:nvPr/>
        </p:nvSpPr>
        <p:spPr>
          <a:xfrm>
            <a:off x="6803136" y="4224528"/>
            <a:ext cx="136245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Lambda (e -&gt; ...)</a:t>
            </a:r>
            <a:endParaRPr lang="en-US" sz="1050" dirty="0"/>
          </a:p>
        </p:txBody>
      </p:sp>
      <p:sp>
        <p:nvSpPr>
          <p:cNvPr id="20" name="Text 16"/>
          <p:cNvSpPr txBox="1"/>
          <p:nvPr/>
        </p:nvSpPr>
        <p:spPr>
          <a:xfrm>
            <a:off x="457200" y="4773168"/>
            <a:ext cx="4572000" cy="201168"/>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Smart Fuel Pump Management System</a:t>
            </a:r>
            <a:endParaRPr lang="en-US" sz="1000" dirty="0"/>
          </a:p>
        </p:txBody>
      </p:sp>
      <p:sp>
        <p:nvSpPr>
          <p:cNvPr id="21" name="Text 17"/>
          <p:cNvSpPr txBox="1"/>
          <p:nvPr/>
        </p:nvSpPr>
        <p:spPr>
          <a:xfrm>
            <a:off x="7772400" y="4773168"/>
            <a:ext cx="914400" cy="201168"/>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6400800" cy="228600"/>
          </a:xfrm>
          <a:prstGeom prst="rect">
            <a:avLst/>
          </a:prstGeom>
          <a:noFill/>
          <a:ln/>
        </p:spPr>
        <p:txBody>
          <a:bodyPr wrap="square" lIns="0" tIns="0" rIns="0" bIns="0" rtlCol="0" anchor="ctr"/>
          <a:lstStyle/>
          <a:p>
            <a:pPr marL="0" indent="0">
              <a:buNone/>
            </a:pPr>
            <a:r>
              <a:rPr lang="en-US" sz="1100" b="1" kern="0" spc="300" dirty="0">
                <a:solidFill>
                  <a:srgbClr val="0E7490"/>
                </a:solidFill>
                <a:latin typeface="Calibri" pitchFamily="34" charset="0"/>
                <a:ea typeface="Calibri" pitchFamily="34" charset="-122"/>
                <a:cs typeface="Calibri" pitchFamily="34" charset="-120"/>
              </a:rPr>
              <a:t>JAVA SWING</a:t>
            </a:r>
            <a:endParaRPr lang="en-US" sz="1100" dirty="0"/>
          </a:p>
        </p:txBody>
      </p:sp>
      <p:sp>
        <p:nvSpPr>
          <p:cNvPr id="3" name="Text 1"/>
          <p:cNvSpPr txBox="1"/>
          <p:nvPr/>
        </p:nvSpPr>
        <p:spPr>
          <a:xfrm>
            <a:off x="457200" y="502920"/>
            <a:ext cx="7498080" cy="548640"/>
          </a:xfrm>
          <a:prstGeom prst="rect">
            <a:avLst/>
          </a:prstGeom>
          <a:noFill/>
          <a:ln/>
        </p:spPr>
        <p:txBody>
          <a:bodyPr wrap="square" lIns="0" tIns="0" rIns="0" bIns="0" rtlCol="0" anchor="ctr"/>
          <a:lstStyle/>
          <a:p>
            <a:pPr marL="0" indent="0">
              <a:buNone/>
            </a:pPr>
            <a:r>
              <a:rPr lang="en-US" sz="3000" b="1" dirty="0">
                <a:solidFill>
                  <a:srgbClr val="0B1F3A"/>
                </a:solidFill>
                <a:latin typeface="Calibri" pitchFamily="34" charset="0"/>
                <a:ea typeface="Calibri" pitchFamily="34" charset="-122"/>
                <a:cs typeface="Calibri" pitchFamily="34" charset="-120"/>
              </a:rPr>
              <a:t>Java Swing GUI</a:t>
            </a:r>
            <a:endParaRPr lang="en-US" sz="3000" dirty="0"/>
          </a:p>
        </p:txBody>
      </p:sp>
      <p:sp>
        <p:nvSpPr>
          <p:cNvPr id="4" name="Shape 2"/>
          <p:cNvSpPr/>
          <p:nvPr/>
        </p:nvSpPr>
        <p:spPr>
          <a:xfrm>
            <a:off x="8229600" y="384048"/>
            <a:ext cx="457200" cy="457200"/>
          </a:xfrm>
          <a:prstGeom prst="ellipse">
            <a:avLst/>
          </a:prstGeom>
          <a:solidFill>
            <a:srgbClr val="0B1F3A"/>
          </a:solidFill>
          <a:ln/>
        </p:spPr>
      </p:sp>
      <p:pic>
        <p:nvPicPr>
          <p:cNvPr id="5" name="Image 0" descr="preencoded.png"/>
          <p:cNvPicPr>
            <a:picLocks noChangeAspect="1"/>
          </p:cNvPicPr>
          <p:nvPr/>
        </p:nvPicPr>
        <p:blipFill>
          <a:blip r:embed="rId3"/>
          <a:stretch>
            <a:fillRect/>
          </a:stretch>
        </p:blipFill>
        <p:spPr>
          <a:xfrm>
            <a:off x="8343900" y="498348"/>
            <a:ext cx="228600" cy="228600"/>
          </a:xfrm>
          <a:prstGeom prst="rect">
            <a:avLst/>
          </a:prstGeom>
        </p:spPr>
      </p:pic>
      <p:sp>
        <p:nvSpPr>
          <p:cNvPr id="6" name="Shape 3"/>
          <p:cNvSpPr/>
          <p:nvPr/>
        </p:nvSpPr>
        <p:spPr>
          <a:xfrm>
            <a:off x="457200" y="1188720"/>
            <a:ext cx="4023360" cy="731520"/>
          </a:xfrm>
          <a:prstGeom prst="roundRect">
            <a:avLst>
              <a:gd name="adj" fmla="val 12500"/>
            </a:avLst>
          </a:prstGeom>
          <a:solidFill>
            <a:srgbClr val="FFFFFF"/>
          </a:solidFill>
          <a:ln w="9525">
            <a:solidFill>
              <a:srgbClr val="D6E2EE"/>
            </a:solidFill>
            <a:prstDash val="solid"/>
          </a:ln>
          <a:effectLst>
            <a:outerShdw blurRad="76200" dist="25400" dir="5400000" algn="bl" rotWithShape="0">
              <a:srgbClr val="000000">
                <a:alpha val="10000"/>
              </a:srgbClr>
            </a:outerShdw>
          </a:effectLst>
        </p:spPr>
      </p:sp>
      <p:sp>
        <p:nvSpPr>
          <p:cNvPr id="7" name="Text 4"/>
          <p:cNvSpPr txBox="1"/>
          <p:nvPr/>
        </p:nvSpPr>
        <p:spPr>
          <a:xfrm>
            <a:off x="594360" y="1243584"/>
            <a:ext cx="3749040" cy="256032"/>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JFrame   </a:t>
            </a:r>
            <a:r>
              <a:rPr lang="en-US" sz="1100" dirty="0">
                <a:solidFill>
                  <a:srgbClr val="5B6B82"/>
                </a:solidFill>
                <a:latin typeface="Calibri" pitchFamily="34" charset="0"/>
                <a:ea typeface="Calibri" pitchFamily="34" charset="-122"/>
                <a:cs typeface="Calibri" pitchFamily="34" charset="-120"/>
              </a:rPr>
              <a:t>main window (1100 × 650)</a:t>
            </a:r>
            <a:endParaRPr lang="en-US" sz="1200" dirty="0"/>
          </a:p>
        </p:txBody>
      </p:sp>
      <p:sp>
        <p:nvSpPr>
          <p:cNvPr id="8" name="Shape 5"/>
          <p:cNvSpPr/>
          <p:nvPr/>
        </p:nvSpPr>
        <p:spPr>
          <a:xfrm>
            <a:off x="594360" y="1554480"/>
            <a:ext cx="3749040" cy="292608"/>
          </a:xfrm>
          <a:prstGeom prst="roundRect">
            <a:avLst>
              <a:gd name="adj" fmla="val 15625"/>
            </a:avLst>
          </a:prstGeom>
          <a:solidFill>
            <a:srgbClr val="0A1A30"/>
          </a:solidFill>
          <a:ln/>
        </p:spPr>
      </p:sp>
      <p:sp>
        <p:nvSpPr>
          <p:cNvPr id="9" name="Text 6"/>
          <p:cNvSpPr txBox="1"/>
          <p:nvPr/>
        </p:nvSpPr>
        <p:spPr>
          <a:xfrm>
            <a:off x="685800" y="1554480"/>
            <a:ext cx="3611880" cy="292608"/>
          </a:xfrm>
          <a:prstGeom prst="rect">
            <a:avLst/>
          </a:prstGeom>
          <a:noFill/>
          <a:ln/>
        </p:spPr>
        <p:txBody>
          <a:bodyPr wrap="square" lIns="0" tIns="0" rIns="0" bIns="0" rtlCol="0" anchor="ctr"/>
          <a:lstStyle/>
          <a:p>
            <a:pPr marL="0" indent="0">
              <a:buNone/>
            </a:pPr>
            <a:r>
              <a:rPr lang="en-US" sz="1000" dirty="0">
                <a:solidFill>
                  <a:srgbClr val="C9D6E8"/>
                </a:solidFill>
                <a:latin typeface="Courier New" pitchFamily="34" charset="0"/>
                <a:ea typeface="Courier New" pitchFamily="34" charset="-122"/>
                <a:cs typeface="Courier New" pitchFamily="34" charset="-120"/>
              </a:rPr>
              <a:t>public class main extends JFrame</a:t>
            </a:r>
            <a:endParaRPr lang="en-US" sz="1000" dirty="0"/>
          </a:p>
        </p:txBody>
      </p:sp>
      <p:sp>
        <p:nvSpPr>
          <p:cNvPr id="10" name="Shape 7"/>
          <p:cNvSpPr/>
          <p:nvPr/>
        </p:nvSpPr>
        <p:spPr>
          <a:xfrm>
            <a:off x="457200" y="2029968"/>
            <a:ext cx="4023360" cy="731520"/>
          </a:xfrm>
          <a:prstGeom prst="roundRect">
            <a:avLst>
              <a:gd name="adj" fmla="val 12500"/>
            </a:avLst>
          </a:prstGeom>
          <a:solidFill>
            <a:srgbClr val="FFFFFF"/>
          </a:solidFill>
          <a:ln w="9525">
            <a:solidFill>
              <a:srgbClr val="D6E2EE"/>
            </a:solidFill>
            <a:prstDash val="solid"/>
          </a:ln>
          <a:effectLst>
            <a:outerShdw blurRad="76200" dist="25400" dir="5400000" algn="bl" rotWithShape="0">
              <a:srgbClr val="000000">
                <a:alpha val="10000"/>
              </a:srgbClr>
            </a:outerShdw>
          </a:effectLst>
        </p:spPr>
      </p:sp>
      <p:sp>
        <p:nvSpPr>
          <p:cNvPr id="11" name="Text 8"/>
          <p:cNvSpPr txBox="1"/>
          <p:nvPr/>
        </p:nvSpPr>
        <p:spPr>
          <a:xfrm>
            <a:off x="594360" y="2084832"/>
            <a:ext cx="3749040" cy="256032"/>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JPanel   </a:t>
            </a:r>
            <a:r>
              <a:rPr lang="en-US" sz="1100" dirty="0">
                <a:solidFill>
                  <a:srgbClr val="5B6B82"/>
                </a:solidFill>
                <a:latin typeface="Calibri" pitchFamily="34" charset="0"/>
                <a:ea typeface="Calibri" pitchFamily="34" charset="-122"/>
                <a:cs typeface="Calibri" pitchFamily="34" charset="-120"/>
              </a:rPr>
              <a:t>holds the screens</a:t>
            </a:r>
            <a:endParaRPr lang="en-US" sz="1200" dirty="0"/>
          </a:p>
        </p:txBody>
      </p:sp>
      <p:sp>
        <p:nvSpPr>
          <p:cNvPr id="12" name="Shape 9"/>
          <p:cNvSpPr/>
          <p:nvPr/>
        </p:nvSpPr>
        <p:spPr>
          <a:xfrm>
            <a:off x="594360" y="2395728"/>
            <a:ext cx="3749040" cy="292608"/>
          </a:xfrm>
          <a:prstGeom prst="roundRect">
            <a:avLst>
              <a:gd name="adj" fmla="val 15625"/>
            </a:avLst>
          </a:prstGeom>
          <a:solidFill>
            <a:srgbClr val="0A1A30"/>
          </a:solidFill>
          <a:ln/>
        </p:spPr>
      </p:sp>
      <p:sp>
        <p:nvSpPr>
          <p:cNvPr id="13" name="Text 10"/>
          <p:cNvSpPr txBox="1"/>
          <p:nvPr/>
        </p:nvSpPr>
        <p:spPr>
          <a:xfrm>
            <a:off x="685800" y="2395728"/>
            <a:ext cx="3611880" cy="292608"/>
          </a:xfrm>
          <a:prstGeom prst="rect">
            <a:avLst/>
          </a:prstGeom>
          <a:noFill/>
          <a:ln/>
        </p:spPr>
        <p:txBody>
          <a:bodyPr wrap="square" lIns="0" tIns="0" rIns="0" bIns="0" rtlCol="0" anchor="ctr"/>
          <a:lstStyle/>
          <a:p>
            <a:pPr marL="0" indent="0">
              <a:buNone/>
            </a:pPr>
            <a:r>
              <a:rPr lang="en-US" sz="1000" dirty="0">
                <a:solidFill>
                  <a:srgbClr val="C9D6E8"/>
                </a:solidFill>
                <a:latin typeface="Courier New" pitchFamily="34" charset="0"/>
                <a:ea typeface="Courier New" pitchFamily="34" charset="-122"/>
                <a:cs typeface="Courier New" pitchFamily="34" charset="-120"/>
              </a:rPr>
              <a:t>mainPanel = new JPanel(cardLayout);</a:t>
            </a:r>
            <a:endParaRPr lang="en-US" sz="1000" dirty="0"/>
          </a:p>
        </p:txBody>
      </p:sp>
      <p:sp>
        <p:nvSpPr>
          <p:cNvPr id="14" name="Shape 11"/>
          <p:cNvSpPr/>
          <p:nvPr/>
        </p:nvSpPr>
        <p:spPr>
          <a:xfrm>
            <a:off x="457200" y="2871216"/>
            <a:ext cx="4023360" cy="731520"/>
          </a:xfrm>
          <a:prstGeom prst="roundRect">
            <a:avLst>
              <a:gd name="adj" fmla="val 12500"/>
            </a:avLst>
          </a:prstGeom>
          <a:solidFill>
            <a:srgbClr val="FFFFFF"/>
          </a:solidFill>
          <a:ln w="9525">
            <a:solidFill>
              <a:srgbClr val="D6E2EE"/>
            </a:solidFill>
            <a:prstDash val="solid"/>
          </a:ln>
          <a:effectLst>
            <a:outerShdw blurRad="76200" dist="25400" dir="5400000" algn="bl" rotWithShape="0">
              <a:srgbClr val="000000">
                <a:alpha val="10000"/>
              </a:srgbClr>
            </a:outerShdw>
          </a:effectLst>
        </p:spPr>
      </p:sp>
      <p:sp>
        <p:nvSpPr>
          <p:cNvPr id="15" name="Text 12"/>
          <p:cNvSpPr txBox="1"/>
          <p:nvPr/>
        </p:nvSpPr>
        <p:spPr>
          <a:xfrm>
            <a:off x="594360" y="2926080"/>
            <a:ext cx="3749040" cy="256032"/>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JLabel   </a:t>
            </a:r>
            <a:r>
              <a:rPr lang="en-US" sz="1100" dirty="0">
                <a:solidFill>
                  <a:srgbClr val="5B6B82"/>
                </a:solidFill>
                <a:latin typeface="Calibri" pitchFamily="34" charset="0"/>
                <a:ea typeface="Calibri" pitchFamily="34" charset="-122"/>
                <a:cs typeface="Calibri" pitchFamily="34" charset="-120"/>
              </a:rPr>
              <a:t>shows text and titles</a:t>
            </a:r>
            <a:endParaRPr lang="en-US" sz="1200" dirty="0"/>
          </a:p>
        </p:txBody>
      </p:sp>
      <p:sp>
        <p:nvSpPr>
          <p:cNvPr id="16" name="Shape 13"/>
          <p:cNvSpPr/>
          <p:nvPr/>
        </p:nvSpPr>
        <p:spPr>
          <a:xfrm>
            <a:off x="594360" y="3236976"/>
            <a:ext cx="3749040" cy="292608"/>
          </a:xfrm>
          <a:prstGeom prst="roundRect">
            <a:avLst>
              <a:gd name="adj" fmla="val 15625"/>
            </a:avLst>
          </a:prstGeom>
          <a:solidFill>
            <a:srgbClr val="0A1A30"/>
          </a:solidFill>
          <a:ln/>
        </p:spPr>
      </p:sp>
      <p:sp>
        <p:nvSpPr>
          <p:cNvPr id="17" name="Text 14"/>
          <p:cNvSpPr txBox="1"/>
          <p:nvPr/>
        </p:nvSpPr>
        <p:spPr>
          <a:xfrm>
            <a:off x="685800" y="3236976"/>
            <a:ext cx="3611880" cy="292608"/>
          </a:xfrm>
          <a:prstGeom prst="rect">
            <a:avLst/>
          </a:prstGeom>
          <a:noFill/>
          <a:ln/>
        </p:spPr>
        <p:txBody>
          <a:bodyPr wrap="square" lIns="0" tIns="0" rIns="0" bIns="0" rtlCol="0" anchor="ctr"/>
          <a:lstStyle/>
          <a:p>
            <a:pPr marL="0" indent="0">
              <a:buNone/>
            </a:pPr>
            <a:r>
              <a:rPr lang="en-US" sz="1000" dirty="0">
                <a:solidFill>
                  <a:srgbClr val="C9D6E8"/>
                </a:solidFill>
                <a:latin typeface="Courier New" pitchFamily="34" charset="0"/>
                <a:ea typeface="Courier New" pitchFamily="34" charset="-122"/>
                <a:cs typeface="Courier New" pitchFamily="34" charset="-120"/>
              </a:rPr>
              <a:t>JLabel title = new JLabel("USER DASHBOARD");</a:t>
            </a:r>
            <a:endParaRPr lang="en-US" sz="1000" dirty="0"/>
          </a:p>
        </p:txBody>
      </p:sp>
      <p:sp>
        <p:nvSpPr>
          <p:cNvPr id="18" name="Shape 15"/>
          <p:cNvSpPr/>
          <p:nvPr/>
        </p:nvSpPr>
        <p:spPr>
          <a:xfrm>
            <a:off x="457200" y="3712464"/>
            <a:ext cx="4023360" cy="731520"/>
          </a:xfrm>
          <a:prstGeom prst="roundRect">
            <a:avLst>
              <a:gd name="adj" fmla="val 12500"/>
            </a:avLst>
          </a:prstGeom>
          <a:solidFill>
            <a:srgbClr val="FFFFFF"/>
          </a:solidFill>
          <a:ln w="9525">
            <a:solidFill>
              <a:srgbClr val="D6E2EE"/>
            </a:solidFill>
            <a:prstDash val="solid"/>
          </a:ln>
          <a:effectLst>
            <a:outerShdw blurRad="76200" dist="25400" dir="5400000" algn="bl" rotWithShape="0">
              <a:srgbClr val="000000">
                <a:alpha val="10000"/>
              </a:srgbClr>
            </a:outerShdw>
          </a:effectLst>
        </p:spPr>
      </p:sp>
      <p:sp>
        <p:nvSpPr>
          <p:cNvPr id="19" name="Text 16"/>
          <p:cNvSpPr txBox="1"/>
          <p:nvPr/>
        </p:nvSpPr>
        <p:spPr>
          <a:xfrm>
            <a:off x="594360" y="3767328"/>
            <a:ext cx="3749040" cy="256032"/>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JButton   </a:t>
            </a:r>
            <a:r>
              <a:rPr lang="en-US" sz="1100" dirty="0">
                <a:solidFill>
                  <a:srgbClr val="5B6B82"/>
                </a:solidFill>
                <a:latin typeface="Calibri" pitchFamily="34" charset="0"/>
                <a:ea typeface="Calibri" pitchFamily="34" charset="-122"/>
                <a:cs typeface="Calibri" pitchFamily="34" charset="-120"/>
              </a:rPr>
              <a:t>clickable actions</a:t>
            </a:r>
            <a:endParaRPr lang="en-US" sz="1200" dirty="0"/>
          </a:p>
        </p:txBody>
      </p:sp>
      <p:sp>
        <p:nvSpPr>
          <p:cNvPr id="20" name="Shape 17"/>
          <p:cNvSpPr/>
          <p:nvPr/>
        </p:nvSpPr>
        <p:spPr>
          <a:xfrm>
            <a:off x="594360" y="4078224"/>
            <a:ext cx="3749040" cy="292608"/>
          </a:xfrm>
          <a:prstGeom prst="roundRect">
            <a:avLst>
              <a:gd name="adj" fmla="val 15625"/>
            </a:avLst>
          </a:prstGeom>
          <a:solidFill>
            <a:srgbClr val="0A1A30"/>
          </a:solidFill>
          <a:ln/>
        </p:spPr>
      </p:sp>
      <p:sp>
        <p:nvSpPr>
          <p:cNvPr id="21" name="Text 18"/>
          <p:cNvSpPr txBox="1"/>
          <p:nvPr/>
        </p:nvSpPr>
        <p:spPr>
          <a:xfrm>
            <a:off x="685800" y="4078224"/>
            <a:ext cx="3611880" cy="292608"/>
          </a:xfrm>
          <a:prstGeom prst="rect">
            <a:avLst/>
          </a:prstGeom>
          <a:noFill/>
          <a:ln/>
        </p:spPr>
        <p:txBody>
          <a:bodyPr wrap="square" lIns="0" tIns="0" rIns="0" bIns="0" rtlCol="0" anchor="ctr"/>
          <a:lstStyle/>
          <a:p>
            <a:pPr marL="0" indent="0">
              <a:buNone/>
            </a:pPr>
            <a:r>
              <a:rPr lang="en-US" sz="1000" dirty="0">
                <a:solidFill>
                  <a:srgbClr val="C9D6E8"/>
                </a:solidFill>
                <a:latin typeface="Courier New" pitchFamily="34" charset="0"/>
                <a:ea typeface="Courier New" pitchFamily="34" charset="-122"/>
                <a:cs typeface="Courier New" pitchFamily="34" charset="-120"/>
              </a:rPr>
              <a:t>JButton b = new JButton(text);</a:t>
            </a:r>
            <a:endParaRPr lang="en-US" sz="1000" dirty="0"/>
          </a:p>
        </p:txBody>
      </p:sp>
      <p:sp>
        <p:nvSpPr>
          <p:cNvPr id="22" name="Shape 19"/>
          <p:cNvSpPr/>
          <p:nvPr/>
        </p:nvSpPr>
        <p:spPr>
          <a:xfrm>
            <a:off x="4663440" y="1188720"/>
            <a:ext cx="4023360" cy="731520"/>
          </a:xfrm>
          <a:prstGeom prst="roundRect">
            <a:avLst>
              <a:gd name="adj" fmla="val 12500"/>
            </a:avLst>
          </a:prstGeom>
          <a:solidFill>
            <a:srgbClr val="FFFFFF"/>
          </a:solidFill>
          <a:ln w="9525">
            <a:solidFill>
              <a:srgbClr val="D6E2EE"/>
            </a:solidFill>
            <a:prstDash val="solid"/>
          </a:ln>
          <a:effectLst>
            <a:outerShdw blurRad="76200" dist="25400" dir="5400000" algn="bl" rotWithShape="0">
              <a:srgbClr val="000000">
                <a:alpha val="10000"/>
              </a:srgbClr>
            </a:outerShdw>
          </a:effectLst>
        </p:spPr>
      </p:sp>
      <p:sp>
        <p:nvSpPr>
          <p:cNvPr id="23" name="Text 20"/>
          <p:cNvSpPr txBox="1"/>
          <p:nvPr/>
        </p:nvSpPr>
        <p:spPr>
          <a:xfrm>
            <a:off x="4800600" y="1243584"/>
            <a:ext cx="3749040" cy="256032"/>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JTextField   </a:t>
            </a:r>
            <a:r>
              <a:rPr lang="en-US" sz="1100" dirty="0">
                <a:solidFill>
                  <a:srgbClr val="5B6B82"/>
                </a:solidFill>
                <a:latin typeface="Calibri" pitchFamily="34" charset="0"/>
                <a:ea typeface="Calibri" pitchFamily="34" charset="-122"/>
                <a:cs typeface="Calibri" pitchFamily="34" charset="-120"/>
              </a:rPr>
              <a:t>typed input</a:t>
            </a:r>
            <a:endParaRPr lang="en-US" sz="1200" dirty="0"/>
          </a:p>
        </p:txBody>
      </p:sp>
      <p:sp>
        <p:nvSpPr>
          <p:cNvPr id="24" name="Shape 21"/>
          <p:cNvSpPr/>
          <p:nvPr/>
        </p:nvSpPr>
        <p:spPr>
          <a:xfrm>
            <a:off x="4800600" y="1554480"/>
            <a:ext cx="3749040" cy="292608"/>
          </a:xfrm>
          <a:prstGeom prst="roundRect">
            <a:avLst>
              <a:gd name="adj" fmla="val 15625"/>
            </a:avLst>
          </a:prstGeom>
          <a:solidFill>
            <a:srgbClr val="0A1A30"/>
          </a:solidFill>
          <a:ln/>
        </p:spPr>
      </p:sp>
      <p:sp>
        <p:nvSpPr>
          <p:cNvPr id="25" name="Text 22"/>
          <p:cNvSpPr txBox="1"/>
          <p:nvPr/>
        </p:nvSpPr>
        <p:spPr>
          <a:xfrm>
            <a:off x="4892040" y="1554480"/>
            <a:ext cx="3611880" cy="292608"/>
          </a:xfrm>
          <a:prstGeom prst="rect">
            <a:avLst/>
          </a:prstGeom>
          <a:noFill/>
          <a:ln/>
        </p:spPr>
        <p:txBody>
          <a:bodyPr wrap="square" lIns="0" tIns="0" rIns="0" bIns="0" rtlCol="0" anchor="ctr"/>
          <a:lstStyle/>
          <a:p>
            <a:pPr marL="0" indent="0">
              <a:buNone/>
            </a:pPr>
            <a:r>
              <a:rPr lang="en-US" sz="1000" dirty="0">
                <a:solidFill>
                  <a:srgbClr val="C9D6E8"/>
                </a:solidFill>
                <a:latin typeface="Courier New" pitchFamily="34" charset="0"/>
                <a:ea typeface="Courier New" pitchFamily="34" charset="-122"/>
                <a:cs typeface="Courier New" pitchFamily="34" charset="-120"/>
              </a:rPr>
              <a:t>JTextField vehicle = new JTextField();</a:t>
            </a:r>
            <a:endParaRPr lang="en-US" sz="1000" dirty="0"/>
          </a:p>
        </p:txBody>
      </p:sp>
      <p:sp>
        <p:nvSpPr>
          <p:cNvPr id="26" name="Shape 23"/>
          <p:cNvSpPr/>
          <p:nvPr/>
        </p:nvSpPr>
        <p:spPr>
          <a:xfrm>
            <a:off x="4663440" y="2029968"/>
            <a:ext cx="4023360" cy="731520"/>
          </a:xfrm>
          <a:prstGeom prst="roundRect">
            <a:avLst>
              <a:gd name="adj" fmla="val 12500"/>
            </a:avLst>
          </a:prstGeom>
          <a:solidFill>
            <a:srgbClr val="FFFFFF"/>
          </a:solidFill>
          <a:ln w="9525">
            <a:solidFill>
              <a:srgbClr val="D6E2EE"/>
            </a:solidFill>
            <a:prstDash val="solid"/>
          </a:ln>
          <a:effectLst>
            <a:outerShdw blurRad="76200" dist="25400" dir="5400000" algn="bl" rotWithShape="0">
              <a:srgbClr val="000000">
                <a:alpha val="10000"/>
              </a:srgbClr>
            </a:outerShdw>
          </a:effectLst>
        </p:spPr>
      </p:sp>
      <p:sp>
        <p:nvSpPr>
          <p:cNvPr id="27" name="Text 24"/>
          <p:cNvSpPr txBox="1"/>
          <p:nvPr/>
        </p:nvSpPr>
        <p:spPr>
          <a:xfrm>
            <a:off x="4800600" y="2084832"/>
            <a:ext cx="3749040" cy="256032"/>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JComboBox   </a:t>
            </a:r>
            <a:r>
              <a:rPr lang="en-US" sz="1100" dirty="0">
                <a:solidFill>
                  <a:srgbClr val="5B6B82"/>
                </a:solidFill>
                <a:latin typeface="Calibri" pitchFamily="34" charset="0"/>
                <a:ea typeface="Calibri" pitchFamily="34" charset="-122"/>
                <a:cs typeface="Calibri" pitchFamily="34" charset="-120"/>
              </a:rPr>
              <a:t>fuel type: Oil / Diesel / Gas</a:t>
            </a:r>
            <a:endParaRPr lang="en-US" sz="1200" dirty="0"/>
          </a:p>
        </p:txBody>
      </p:sp>
      <p:sp>
        <p:nvSpPr>
          <p:cNvPr id="28" name="Shape 25"/>
          <p:cNvSpPr/>
          <p:nvPr/>
        </p:nvSpPr>
        <p:spPr>
          <a:xfrm>
            <a:off x="4800600" y="2395728"/>
            <a:ext cx="3749040" cy="292608"/>
          </a:xfrm>
          <a:prstGeom prst="roundRect">
            <a:avLst>
              <a:gd name="adj" fmla="val 15625"/>
            </a:avLst>
          </a:prstGeom>
          <a:solidFill>
            <a:srgbClr val="0A1A30"/>
          </a:solidFill>
          <a:ln/>
        </p:spPr>
      </p:sp>
      <p:sp>
        <p:nvSpPr>
          <p:cNvPr id="29" name="Text 26"/>
          <p:cNvSpPr txBox="1"/>
          <p:nvPr/>
        </p:nvSpPr>
        <p:spPr>
          <a:xfrm>
            <a:off x="4892040" y="2395728"/>
            <a:ext cx="3611880" cy="292608"/>
          </a:xfrm>
          <a:prstGeom prst="rect">
            <a:avLst/>
          </a:prstGeom>
          <a:noFill/>
          <a:ln/>
        </p:spPr>
        <p:txBody>
          <a:bodyPr wrap="square" lIns="0" tIns="0" rIns="0" bIns="0" rtlCol="0" anchor="ctr"/>
          <a:lstStyle/>
          <a:p>
            <a:pPr marL="0" indent="0">
              <a:buNone/>
            </a:pPr>
            <a:r>
              <a:rPr lang="en-US" sz="1000" dirty="0">
                <a:solidFill>
                  <a:srgbClr val="C9D6E8"/>
                </a:solidFill>
                <a:latin typeface="Courier New" pitchFamily="34" charset="0"/>
                <a:ea typeface="Courier New" pitchFamily="34" charset="-122"/>
                <a:cs typeface="Courier New" pitchFamily="34" charset="-120"/>
              </a:rPr>
              <a:t>fuel = new JComboBox&lt;&gt;(fuels);</a:t>
            </a:r>
            <a:endParaRPr lang="en-US" sz="1000" dirty="0"/>
          </a:p>
        </p:txBody>
      </p:sp>
      <p:sp>
        <p:nvSpPr>
          <p:cNvPr id="30" name="Shape 27"/>
          <p:cNvSpPr/>
          <p:nvPr/>
        </p:nvSpPr>
        <p:spPr>
          <a:xfrm>
            <a:off x="4663440" y="2871216"/>
            <a:ext cx="4023360" cy="731520"/>
          </a:xfrm>
          <a:prstGeom prst="roundRect">
            <a:avLst>
              <a:gd name="adj" fmla="val 12500"/>
            </a:avLst>
          </a:prstGeom>
          <a:solidFill>
            <a:srgbClr val="FFFFFF"/>
          </a:solidFill>
          <a:ln w="9525">
            <a:solidFill>
              <a:srgbClr val="D6E2EE"/>
            </a:solidFill>
            <a:prstDash val="solid"/>
          </a:ln>
          <a:effectLst>
            <a:outerShdw blurRad="76200" dist="25400" dir="5400000" algn="bl" rotWithShape="0">
              <a:srgbClr val="000000">
                <a:alpha val="10000"/>
              </a:srgbClr>
            </a:outerShdw>
          </a:effectLst>
        </p:spPr>
      </p:sp>
      <p:sp>
        <p:nvSpPr>
          <p:cNvPr id="31" name="Text 28"/>
          <p:cNvSpPr txBox="1"/>
          <p:nvPr/>
        </p:nvSpPr>
        <p:spPr>
          <a:xfrm>
            <a:off x="4800600" y="2926080"/>
            <a:ext cx="3749040" cy="256032"/>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JTable   </a:t>
            </a:r>
            <a:r>
              <a:rPr lang="en-US" sz="1100" dirty="0">
                <a:solidFill>
                  <a:srgbClr val="5B6B82"/>
                </a:solidFill>
                <a:latin typeface="Calibri" pitchFamily="34" charset="0"/>
                <a:ea typeface="Calibri" pitchFamily="34" charset="-122"/>
                <a:cs typeface="Calibri" pitchFamily="34" charset="-120"/>
              </a:rPr>
              <a:t>data in rows and columns</a:t>
            </a:r>
            <a:endParaRPr lang="en-US" sz="1200" dirty="0"/>
          </a:p>
        </p:txBody>
      </p:sp>
      <p:sp>
        <p:nvSpPr>
          <p:cNvPr id="32" name="Shape 29"/>
          <p:cNvSpPr/>
          <p:nvPr/>
        </p:nvSpPr>
        <p:spPr>
          <a:xfrm>
            <a:off x="4800600" y="3236976"/>
            <a:ext cx="3749040" cy="292608"/>
          </a:xfrm>
          <a:prstGeom prst="roundRect">
            <a:avLst>
              <a:gd name="adj" fmla="val 15625"/>
            </a:avLst>
          </a:prstGeom>
          <a:solidFill>
            <a:srgbClr val="0A1A30"/>
          </a:solidFill>
          <a:ln/>
        </p:spPr>
      </p:sp>
      <p:sp>
        <p:nvSpPr>
          <p:cNvPr id="33" name="Text 30"/>
          <p:cNvSpPr txBox="1"/>
          <p:nvPr/>
        </p:nvSpPr>
        <p:spPr>
          <a:xfrm>
            <a:off x="4892040" y="3236976"/>
            <a:ext cx="3611880" cy="292608"/>
          </a:xfrm>
          <a:prstGeom prst="rect">
            <a:avLst/>
          </a:prstGeom>
          <a:noFill/>
          <a:ln/>
        </p:spPr>
        <p:txBody>
          <a:bodyPr wrap="square" lIns="0" tIns="0" rIns="0" bIns="0" rtlCol="0" anchor="ctr"/>
          <a:lstStyle/>
          <a:p>
            <a:pPr marL="0" indent="0">
              <a:buNone/>
            </a:pPr>
            <a:r>
              <a:rPr lang="en-US" sz="1000" dirty="0">
                <a:solidFill>
                  <a:srgbClr val="C9D6E8"/>
                </a:solidFill>
                <a:latin typeface="Courier New" pitchFamily="34" charset="0"/>
                <a:ea typeface="Courier New" pitchFamily="34" charset="-122"/>
                <a:cs typeface="Courier New" pitchFamily="34" charset="-120"/>
              </a:rPr>
              <a:t>JTable table = new JTable(model);</a:t>
            </a:r>
            <a:endParaRPr lang="en-US" sz="1000" dirty="0"/>
          </a:p>
        </p:txBody>
      </p:sp>
      <p:sp>
        <p:nvSpPr>
          <p:cNvPr id="34" name="Shape 31"/>
          <p:cNvSpPr/>
          <p:nvPr/>
        </p:nvSpPr>
        <p:spPr>
          <a:xfrm>
            <a:off x="4663440" y="3712464"/>
            <a:ext cx="4023360" cy="731520"/>
          </a:xfrm>
          <a:prstGeom prst="roundRect">
            <a:avLst>
              <a:gd name="adj" fmla="val 12500"/>
            </a:avLst>
          </a:prstGeom>
          <a:solidFill>
            <a:srgbClr val="FFFFFF"/>
          </a:solidFill>
          <a:ln w="9525">
            <a:solidFill>
              <a:srgbClr val="D6E2EE"/>
            </a:solidFill>
            <a:prstDash val="solid"/>
          </a:ln>
          <a:effectLst>
            <a:outerShdw blurRad="76200" dist="25400" dir="5400000" algn="bl" rotWithShape="0">
              <a:srgbClr val="000000">
                <a:alpha val="10000"/>
              </a:srgbClr>
            </a:outerShdw>
          </a:effectLst>
        </p:spPr>
      </p:sp>
      <p:sp>
        <p:nvSpPr>
          <p:cNvPr id="35" name="Text 32"/>
          <p:cNvSpPr txBox="1"/>
          <p:nvPr/>
        </p:nvSpPr>
        <p:spPr>
          <a:xfrm>
            <a:off x="4800600" y="3767328"/>
            <a:ext cx="3749040" cy="256032"/>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CardLayout   </a:t>
            </a:r>
            <a:r>
              <a:rPr lang="en-US" sz="1100" dirty="0">
                <a:solidFill>
                  <a:srgbClr val="5B6B82"/>
                </a:solidFill>
                <a:latin typeface="Calibri" pitchFamily="34" charset="0"/>
                <a:ea typeface="Calibri" pitchFamily="34" charset="-122"/>
                <a:cs typeface="Calibri" pitchFamily="34" charset="-120"/>
              </a:rPr>
              <a:t>switches Home / User / Admin</a:t>
            </a:r>
            <a:endParaRPr lang="en-US" sz="1200" dirty="0"/>
          </a:p>
        </p:txBody>
      </p:sp>
      <p:sp>
        <p:nvSpPr>
          <p:cNvPr id="36" name="Shape 33"/>
          <p:cNvSpPr/>
          <p:nvPr/>
        </p:nvSpPr>
        <p:spPr>
          <a:xfrm>
            <a:off x="4800600" y="4078224"/>
            <a:ext cx="3749040" cy="292608"/>
          </a:xfrm>
          <a:prstGeom prst="roundRect">
            <a:avLst>
              <a:gd name="adj" fmla="val 15625"/>
            </a:avLst>
          </a:prstGeom>
          <a:solidFill>
            <a:srgbClr val="0A1A30"/>
          </a:solidFill>
          <a:ln/>
        </p:spPr>
      </p:sp>
      <p:sp>
        <p:nvSpPr>
          <p:cNvPr id="37" name="Text 34"/>
          <p:cNvSpPr txBox="1"/>
          <p:nvPr/>
        </p:nvSpPr>
        <p:spPr>
          <a:xfrm>
            <a:off x="4892040" y="4078224"/>
            <a:ext cx="3611880" cy="292608"/>
          </a:xfrm>
          <a:prstGeom prst="rect">
            <a:avLst/>
          </a:prstGeom>
          <a:noFill/>
          <a:ln/>
        </p:spPr>
        <p:txBody>
          <a:bodyPr wrap="square" lIns="0" tIns="0" rIns="0" bIns="0" rtlCol="0" anchor="ctr"/>
          <a:lstStyle/>
          <a:p>
            <a:pPr marL="0" indent="0">
              <a:buNone/>
            </a:pPr>
            <a:r>
              <a:rPr lang="en-US" sz="1000" dirty="0">
                <a:solidFill>
                  <a:srgbClr val="C9D6E8"/>
                </a:solidFill>
                <a:latin typeface="Courier New" pitchFamily="34" charset="0"/>
                <a:ea typeface="Courier New" pitchFamily="34" charset="-122"/>
                <a:cs typeface="Courier New" pitchFamily="34" charset="-120"/>
              </a:rPr>
              <a:t>cardLayout.show(mainPanel, "USER");</a:t>
            </a:r>
            <a:endParaRPr lang="en-US" sz="1000" dirty="0"/>
          </a:p>
        </p:txBody>
      </p:sp>
      <p:sp>
        <p:nvSpPr>
          <p:cNvPr id="38" name="Text 35"/>
          <p:cNvSpPr txBox="1"/>
          <p:nvPr/>
        </p:nvSpPr>
        <p:spPr>
          <a:xfrm>
            <a:off x="457200" y="4773168"/>
            <a:ext cx="4572000" cy="201168"/>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Smart Fuel Pump Management System</a:t>
            </a:r>
            <a:endParaRPr lang="en-US" sz="1000" dirty="0"/>
          </a:p>
        </p:txBody>
      </p:sp>
      <p:sp>
        <p:nvSpPr>
          <p:cNvPr id="39" name="Text 36"/>
          <p:cNvSpPr txBox="1"/>
          <p:nvPr/>
        </p:nvSpPr>
        <p:spPr>
          <a:xfrm>
            <a:off x="7772400" y="4773168"/>
            <a:ext cx="914400" cy="201168"/>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6400800" cy="228600"/>
          </a:xfrm>
          <a:prstGeom prst="rect">
            <a:avLst/>
          </a:prstGeom>
          <a:noFill/>
          <a:ln/>
        </p:spPr>
        <p:txBody>
          <a:bodyPr wrap="square" lIns="0" tIns="0" rIns="0" bIns="0" rtlCol="0" anchor="ctr"/>
          <a:lstStyle/>
          <a:p>
            <a:pPr marL="0" indent="0">
              <a:buNone/>
            </a:pPr>
            <a:r>
              <a:rPr lang="en-US" sz="1100" b="1" kern="0" spc="300" dirty="0">
                <a:solidFill>
                  <a:srgbClr val="0E7490"/>
                </a:solidFill>
                <a:latin typeface="Calibri" pitchFamily="34" charset="0"/>
                <a:ea typeface="Calibri" pitchFamily="34" charset="-122"/>
                <a:cs typeface="Calibri" pitchFamily="34" charset="-120"/>
              </a:rPr>
              <a:t>JAVA SWING</a:t>
            </a:r>
            <a:endParaRPr lang="en-US" sz="1100" dirty="0"/>
          </a:p>
        </p:txBody>
      </p:sp>
      <p:sp>
        <p:nvSpPr>
          <p:cNvPr id="3" name="Text 1"/>
          <p:cNvSpPr txBox="1"/>
          <p:nvPr/>
        </p:nvSpPr>
        <p:spPr>
          <a:xfrm>
            <a:off x="457200" y="502920"/>
            <a:ext cx="7498080" cy="548640"/>
          </a:xfrm>
          <a:prstGeom prst="rect">
            <a:avLst/>
          </a:prstGeom>
          <a:noFill/>
          <a:ln/>
        </p:spPr>
        <p:txBody>
          <a:bodyPr wrap="square" lIns="0" tIns="0" rIns="0" bIns="0" rtlCol="0" anchor="ctr"/>
          <a:lstStyle/>
          <a:p>
            <a:pPr marL="0" indent="0">
              <a:buNone/>
            </a:pPr>
            <a:r>
              <a:rPr lang="en-US" sz="3000" b="1" dirty="0">
                <a:solidFill>
                  <a:srgbClr val="0B1F3A"/>
                </a:solidFill>
                <a:latin typeface="Calibri" pitchFamily="34" charset="0"/>
                <a:ea typeface="Calibri" pitchFamily="34" charset="-122"/>
                <a:cs typeface="Calibri" pitchFamily="34" charset="-120"/>
              </a:rPr>
              <a:t>How the Swing GUI Works</a:t>
            </a:r>
            <a:endParaRPr lang="en-US" sz="3000" dirty="0"/>
          </a:p>
        </p:txBody>
      </p:sp>
      <p:sp>
        <p:nvSpPr>
          <p:cNvPr id="4" name="Shape 2"/>
          <p:cNvSpPr/>
          <p:nvPr/>
        </p:nvSpPr>
        <p:spPr>
          <a:xfrm>
            <a:off x="8229600" y="384048"/>
            <a:ext cx="457200" cy="457200"/>
          </a:xfrm>
          <a:prstGeom prst="ellipse">
            <a:avLst/>
          </a:prstGeom>
          <a:solidFill>
            <a:srgbClr val="0B1F3A"/>
          </a:solidFill>
          <a:ln/>
        </p:spPr>
      </p:sp>
      <p:pic>
        <p:nvPicPr>
          <p:cNvPr id="5" name="Image 0" descr="preencoded.png"/>
          <p:cNvPicPr>
            <a:picLocks noChangeAspect="1"/>
          </p:cNvPicPr>
          <p:nvPr/>
        </p:nvPicPr>
        <p:blipFill>
          <a:blip r:embed="rId3"/>
          <a:stretch>
            <a:fillRect/>
          </a:stretch>
        </p:blipFill>
        <p:spPr>
          <a:xfrm>
            <a:off x="8343900" y="498348"/>
            <a:ext cx="228600" cy="228600"/>
          </a:xfrm>
          <a:prstGeom prst="rect">
            <a:avLst/>
          </a:prstGeom>
        </p:spPr>
      </p:pic>
      <p:sp>
        <p:nvSpPr>
          <p:cNvPr id="6" name="Shape 3"/>
          <p:cNvSpPr/>
          <p:nvPr/>
        </p:nvSpPr>
        <p:spPr>
          <a:xfrm>
            <a:off x="457200" y="1188720"/>
            <a:ext cx="1143000" cy="1600200"/>
          </a:xfrm>
          <a:prstGeom prst="roundRect">
            <a:avLst>
              <a:gd name="adj" fmla="val 8000"/>
            </a:avLst>
          </a:prstGeom>
          <a:solidFill>
            <a:srgbClr val="F3F7FB"/>
          </a:solidFill>
          <a:ln/>
          <a:effectLst>
            <a:outerShdw blurRad="76200" dist="25400" dir="5400000" algn="bl" rotWithShape="0">
              <a:srgbClr val="000000">
                <a:alpha val="10000"/>
              </a:srgbClr>
            </a:outerShdw>
          </a:effectLst>
        </p:spPr>
      </p:sp>
      <p:sp>
        <p:nvSpPr>
          <p:cNvPr id="7" name="Shape 4"/>
          <p:cNvSpPr/>
          <p:nvPr/>
        </p:nvSpPr>
        <p:spPr>
          <a:xfrm>
            <a:off x="800100" y="1325880"/>
            <a:ext cx="457200" cy="457200"/>
          </a:xfrm>
          <a:prstGeom prst="ellipse">
            <a:avLst/>
          </a:prstGeom>
          <a:solidFill>
            <a:srgbClr val="0B1F3A"/>
          </a:solidFill>
          <a:ln/>
        </p:spPr>
      </p:sp>
      <p:pic>
        <p:nvPicPr>
          <p:cNvPr id="8" name="Image 1" descr="preencoded.png"/>
          <p:cNvPicPr>
            <a:picLocks noChangeAspect="1"/>
          </p:cNvPicPr>
          <p:nvPr/>
        </p:nvPicPr>
        <p:blipFill>
          <a:blip r:embed="rId4"/>
          <a:stretch>
            <a:fillRect/>
          </a:stretch>
        </p:blipFill>
        <p:spPr>
          <a:xfrm>
            <a:off x="914400" y="1440180"/>
            <a:ext cx="228600" cy="228600"/>
          </a:xfrm>
          <a:prstGeom prst="rect">
            <a:avLst/>
          </a:prstGeom>
        </p:spPr>
      </p:pic>
      <p:sp>
        <p:nvSpPr>
          <p:cNvPr id="9" name="Text 5"/>
          <p:cNvSpPr txBox="1"/>
          <p:nvPr/>
        </p:nvSpPr>
        <p:spPr>
          <a:xfrm>
            <a:off x="502920" y="1847088"/>
            <a:ext cx="1051560" cy="274320"/>
          </a:xfrm>
          <a:prstGeom prst="rect">
            <a:avLst/>
          </a:prstGeom>
          <a:noFill/>
          <a:ln/>
        </p:spPr>
        <p:txBody>
          <a:bodyPr wrap="square" lIns="0" tIns="0" rIns="0" bIns="0" rtlCol="0" anchor="ctr"/>
          <a:lstStyle/>
          <a:p>
            <a:pPr marL="0" indent="0" algn="ctr">
              <a:buNone/>
            </a:pPr>
            <a:r>
              <a:rPr lang="en-US" sz="1200" b="1" dirty="0">
                <a:solidFill>
                  <a:srgbClr val="0B1F3A"/>
                </a:solidFill>
                <a:latin typeface="Calibri" pitchFamily="34" charset="0"/>
                <a:ea typeface="Calibri" pitchFamily="34" charset="-122"/>
                <a:cs typeface="Calibri" pitchFamily="34" charset="-120"/>
              </a:rPr>
              <a:t>User</a:t>
            </a:r>
            <a:endParaRPr lang="en-US" sz="1200" dirty="0"/>
          </a:p>
        </p:txBody>
      </p:sp>
      <p:sp>
        <p:nvSpPr>
          <p:cNvPr id="10" name="Text 6"/>
          <p:cNvSpPr txBox="1"/>
          <p:nvPr/>
        </p:nvSpPr>
        <p:spPr>
          <a:xfrm>
            <a:off x="548640" y="2148840"/>
            <a:ext cx="960120" cy="566928"/>
          </a:xfrm>
          <a:prstGeom prst="rect">
            <a:avLst/>
          </a:prstGeom>
          <a:noFill/>
          <a:ln/>
        </p:spPr>
        <p:txBody>
          <a:bodyPr wrap="square" lIns="0" tIns="0" rIns="0" bIns="0" rtlCol="0" anchor="t"/>
          <a:lstStyle/>
          <a:p>
            <a:pPr marL="0" indent="0" algn="ctr">
              <a:buNone/>
            </a:pPr>
            <a:r>
              <a:rPr lang="en-US" sz="1050" dirty="0">
                <a:solidFill>
                  <a:srgbClr val="5B6B82"/>
                </a:solidFill>
                <a:latin typeface="Calibri" pitchFamily="34" charset="0"/>
                <a:ea typeface="Calibri" pitchFamily="34" charset="-122"/>
                <a:cs typeface="Calibri" pitchFamily="34" charset="-120"/>
              </a:rPr>
              <a:t>Clicks Book Fuel</a:t>
            </a:r>
            <a:endParaRPr lang="en-US" sz="1050" dirty="0"/>
          </a:p>
        </p:txBody>
      </p:sp>
      <p:sp>
        <p:nvSpPr>
          <p:cNvPr id="11" name="Shape 7"/>
          <p:cNvSpPr/>
          <p:nvPr/>
        </p:nvSpPr>
        <p:spPr>
          <a:xfrm>
            <a:off x="1627632" y="1988820"/>
            <a:ext cx="219456" cy="0"/>
          </a:xfrm>
          <a:prstGeom prst="line">
            <a:avLst/>
          </a:prstGeom>
          <a:noFill/>
          <a:ln w="25400">
            <a:solidFill>
              <a:srgbClr val="0E7490"/>
            </a:solidFill>
            <a:prstDash val="solid"/>
            <a:tailEnd type="triangle"/>
          </a:ln>
        </p:spPr>
      </p:sp>
      <p:sp>
        <p:nvSpPr>
          <p:cNvPr id="12" name="Shape 8"/>
          <p:cNvSpPr/>
          <p:nvPr/>
        </p:nvSpPr>
        <p:spPr>
          <a:xfrm>
            <a:off x="1874520" y="1188720"/>
            <a:ext cx="1143000" cy="1600200"/>
          </a:xfrm>
          <a:prstGeom prst="roundRect">
            <a:avLst>
              <a:gd name="adj" fmla="val 8000"/>
            </a:avLst>
          </a:prstGeom>
          <a:solidFill>
            <a:srgbClr val="F3F7FB"/>
          </a:solidFill>
          <a:ln/>
          <a:effectLst>
            <a:outerShdw blurRad="76200" dist="25400" dir="5400000" algn="bl" rotWithShape="0">
              <a:srgbClr val="000000">
                <a:alpha val="10000"/>
              </a:srgbClr>
            </a:outerShdw>
          </a:effectLst>
        </p:spPr>
      </p:sp>
      <p:sp>
        <p:nvSpPr>
          <p:cNvPr id="13" name="Shape 9"/>
          <p:cNvSpPr/>
          <p:nvPr/>
        </p:nvSpPr>
        <p:spPr>
          <a:xfrm>
            <a:off x="2217420" y="1325880"/>
            <a:ext cx="457200" cy="457200"/>
          </a:xfrm>
          <a:prstGeom prst="ellipse">
            <a:avLst/>
          </a:prstGeom>
          <a:solidFill>
            <a:srgbClr val="0B1F3A"/>
          </a:solidFill>
          <a:ln/>
        </p:spPr>
      </p:sp>
      <p:pic>
        <p:nvPicPr>
          <p:cNvPr id="14" name="Image 2" descr="preencoded.png"/>
          <p:cNvPicPr>
            <a:picLocks noChangeAspect="1"/>
          </p:cNvPicPr>
          <p:nvPr/>
        </p:nvPicPr>
        <p:blipFill>
          <a:blip r:embed="rId5"/>
          <a:stretch>
            <a:fillRect/>
          </a:stretch>
        </p:blipFill>
        <p:spPr>
          <a:xfrm>
            <a:off x="2331720" y="1440180"/>
            <a:ext cx="228600" cy="228600"/>
          </a:xfrm>
          <a:prstGeom prst="rect">
            <a:avLst/>
          </a:prstGeom>
        </p:spPr>
      </p:pic>
      <p:sp>
        <p:nvSpPr>
          <p:cNvPr id="15" name="Text 10"/>
          <p:cNvSpPr txBox="1"/>
          <p:nvPr/>
        </p:nvSpPr>
        <p:spPr>
          <a:xfrm>
            <a:off x="1920240" y="1847088"/>
            <a:ext cx="1051560" cy="274320"/>
          </a:xfrm>
          <a:prstGeom prst="rect">
            <a:avLst/>
          </a:prstGeom>
          <a:noFill/>
          <a:ln/>
        </p:spPr>
        <p:txBody>
          <a:bodyPr wrap="square" lIns="0" tIns="0" rIns="0" bIns="0" rtlCol="0" anchor="ctr"/>
          <a:lstStyle/>
          <a:p>
            <a:pPr marL="0" indent="0" algn="ctr">
              <a:buNone/>
            </a:pPr>
            <a:r>
              <a:rPr lang="en-US" sz="1200" b="1" dirty="0">
                <a:solidFill>
                  <a:srgbClr val="0B1F3A"/>
                </a:solidFill>
                <a:latin typeface="Calibri" pitchFamily="34" charset="0"/>
                <a:ea typeface="Calibri" pitchFamily="34" charset="-122"/>
                <a:cs typeface="Calibri" pitchFamily="34" charset="-120"/>
              </a:rPr>
              <a:t>Swing GUI</a:t>
            </a:r>
            <a:endParaRPr lang="en-US" sz="1200" dirty="0"/>
          </a:p>
        </p:txBody>
      </p:sp>
      <p:sp>
        <p:nvSpPr>
          <p:cNvPr id="16" name="Text 11"/>
          <p:cNvSpPr txBox="1"/>
          <p:nvPr/>
        </p:nvSpPr>
        <p:spPr>
          <a:xfrm>
            <a:off x="1965960" y="2148840"/>
            <a:ext cx="960120" cy="566928"/>
          </a:xfrm>
          <a:prstGeom prst="rect">
            <a:avLst/>
          </a:prstGeom>
          <a:noFill/>
          <a:ln/>
        </p:spPr>
        <p:txBody>
          <a:bodyPr wrap="square" lIns="0" tIns="0" rIns="0" bIns="0" rtlCol="0" anchor="t"/>
          <a:lstStyle/>
          <a:p>
            <a:pPr marL="0" indent="0" algn="ctr">
              <a:buNone/>
            </a:pPr>
            <a:r>
              <a:rPr lang="en-US" sz="1050" dirty="0">
                <a:solidFill>
                  <a:srgbClr val="5B6B82"/>
                </a:solidFill>
                <a:latin typeface="Calibri" pitchFamily="34" charset="0"/>
                <a:ea typeface="Calibri" pitchFamily="34" charset="-122"/>
                <a:cs typeface="Calibri" pitchFamily="34" charset="-120"/>
              </a:rPr>
              <a:t>JButton on screen</a:t>
            </a:r>
            <a:endParaRPr lang="en-US" sz="1050" dirty="0"/>
          </a:p>
        </p:txBody>
      </p:sp>
      <p:sp>
        <p:nvSpPr>
          <p:cNvPr id="17" name="Shape 12"/>
          <p:cNvSpPr/>
          <p:nvPr/>
        </p:nvSpPr>
        <p:spPr>
          <a:xfrm>
            <a:off x="3044952" y="1988820"/>
            <a:ext cx="219456" cy="0"/>
          </a:xfrm>
          <a:prstGeom prst="line">
            <a:avLst/>
          </a:prstGeom>
          <a:noFill/>
          <a:ln w="25400">
            <a:solidFill>
              <a:srgbClr val="0E7490"/>
            </a:solidFill>
            <a:prstDash val="solid"/>
            <a:tailEnd type="triangle"/>
          </a:ln>
        </p:spPr>
      </p:sp>
      <p:sp>
        <p:nvSpPr>
          <p:cNvPr id="18" name="Shape 13"/>
          <p:cNvSpPr/>
          <p:nvPr/>
        </p:nvSpPr>
        <p:spPr>
          <a:xfrm>
            <a:off x="3291840" y="1188720"/>
            <a:ext cx="1143000" cy="1600200"/>
          </a:xfrm>
          <a:prstGeom prst="roundRect">
            <a:avLst>
              <a:gd name="adj" fmla="val 8000"/>
            </a:avLst>
          </a:prstGeom>
          <a:solidFill>
            <a:srgbClr val="F3F7FB"/>
          </a:solidFill>
          <a:ln/>
          <a:effectLst>
            <a:outerShdw blurRad="76200" dist="25400" dir="5400000" algn="bl" rotWithShape="0">
              <a:srgbClr val="000000">
                <a:alpha val="10000"/>
              </a:srgbClr>
            </a:outerShdw>
          </a:effectLst>
        </p:spPr>
      </p:sp>
      <p:sp>
        <p:nvSpPr>
          <p:cNvPr id="19" name="Shape 14"/>
          <p:cNvSpPr/>
          <p:nvPr/>
        </p:nvSpPr>
        <p:spPr>
          <a:xfrm>
            <a:off x="3634740" y="1325880"/>
            <a:ext cx="457200" cy="457200"/>
          </a:xfrm>
          <a:prstGeom prst="ellipse">
            <a:avLst/>
          </a:prstGeom>
          <a:solidFill>
            <a:srgbClr val="0B1F3A"/>
          </a:solidFill>
          <a:ln/>
        </p:spPr>
      </p:sp>
      <p:pic>
        <p:nvPicPr>
          <p:cNvPr id="20" name="Image 3" descr="preencoded.png"/>
          <p:cNvPicPr>
            <a:picLocks noChangeAspect="1"/>
          </p:cNvPicPr>
          <p:nvPr/>
        </p:nvPicPr>
        <p:blipFill>
          <a:blip r:embed="rId3"/>
          <a:stretch>
            <a:fillRect/>
          </a:stretch>
        </p:blipFill>
        <p:spPr>
          <a:xfrm>
            <a:off x="3749040" y="1440180"/>
            <a:ext cx="228600" cy="228600"/>
          </a:xfrm>
          <a:prstGeom prst="rect">
            <a:avLst/>
          </a:prstGeom>
        </p:spPr>
      </p:pic>
      <p:sp>
        <p:nvSpPr>
          <p:cNvPr id="21" name="Text 15"/>
          <p:cNvSpPr txBox="1"/>
          <p:nvPr/>
        </p:nvSpPr>
        <p:spPr>
          <a:xfrm>
            <a:off x="3337560" y="1847088"/>
            <a:ext cx="1051560" cy="274320"/>
          </a:xfrm>
          <a:prstGeom prst="rect">
            <a:avLst/>
          </a:prstGeom>
          <a:noFill/>
          <a:ln/>
        </p:spPr>
        <p:txBody>
          <a:bodyPr wrap="square" lIns="0" tIns="0" rIns="0" bIns="0" rtlCol="0" anchor="ctr"/>
          <a:lstStyle/>
          <a:p>
            <a:pPr marL="0" indent="0" algn="ctr">
              <a:buNone/>
            </a:pPr>
            <a:r>
              <a:rPr lang="en-US" sz="1200" b="1" dirty="0">
                <a:solidFill>
                  <a:srgbClr val="0B1F3A"/>
                </a:solidFill>
                <a:latin typeface="Calibri" pitchFamily="34" charset="0"/>
                <a:ea typeface="Calibri" pitchFamily="34" charset="-122"/>
                <a:cs typeface="Calibri" pitchFamily="34" charset="-120"/>
              </a:rPr>
              <a:t>Click / Input</a:t>
            </a:r>
            <a:endParaRPr lang="en-US" sz="1200" dirty="0"/>
          </a:p>
        </p:txBody>
      </p:sp>
      <p:sp>
        <p:nvSpPr>
          <p:cNvPr id="22" name="Text 16"/>
          <p:cNvSpPr txBox="1"/>
          <p:nvPr/>
        </p:nvSpPr>
        <p:spPr>
          <a:xfrm>
            <a:off x="3383280" y="2148840"/>
            <a:ext cx="960120" cy="566928"/>
          </a:xfrm>
          <a:prstGeom prst="rect">
            <a:avLst/>
          </a:prstGeom>
          <a:noFill/>
          <a:ln/>
        </p:spPr>
        <p:txBody>
          <a:bodyPr wrap="square" lIns="0" tIns="0" rIns="0" bIns="0" rtlCol="0" anchor="t"/>
          <a:lstStyle/>
          <a:p>
            <a:pPr marL="0" indent="0" algn="ctr">
              <a:buNone/>
            </a:pPr>
            <a:r>
              <a:rPr lang="en-US" sz="1050" dirty="0">
                <a:solidFill>
                  <a:srgbClr val="5B6B82"/>
                </a:solidFill>
                <a:latin typeface="Calibri" pitchFamily="34" charset="0"/>
                <a:ea typeface="Calibri" pitchFamily="34" charset="-122"/>
                <a:cs typeface="Calibri" pitchFamily="34" charset="-120"/>
              </a:rPr>
              <a:t>ActionListener fires</a:t>
            </a:r>
            <a:endParaRPr lang="en-US" sz="1050" dirty="0"/>
          </a:p>
        </p:txBody>
      </p:sp>
      <p:sp>
        <p:nvSpPr>
          <p:cNvPr id="23" name="Shape 17"/>
          <p:cNvSpPr/>
          <p:nvPr/>
        </p:nvSpPr>
        <p:spPr>
          <a:xfrm>
            <a:off x="4462272" y="1988820"/>
            <a:ext cx="219456" cy="0"/>
          </a:xfrm>
          <a:prstGeom prst="line">
            <a:avLst/>
          </a:prstGeom>
          <a:noFill/>
          <a:ln w="25400">
            <a:solidFill>
              <a:srgbClr val="0E7490"/>
            </a:solidFill>
            <a:prstDash val="solid"/>
            <a:tailEnd type="triangle"/>
          </a:ln>
        </p:spPr>
      </p:sp>
      <p:sp>
        <p:nvSpPr>
          <p:cNvPr id="24" name="Shape 18"/>
          <p:cNvSpPr/>
          <p:nvPr/>
        </p:nvSpPr>
        <p:spPr>
          <a:xfrm>
            <a:off x="4709160" y="1188720"/>
            <a:ext cx="1143000" cy="1600200"/>
          </a:xfrm>
          <a:prstGeom prst="roundRect">
            <a:avLst>
              <a:gd name="adj" fmla="val 8000"/>
            </a:avLst>
          </a:prstGeom>
          <a:solidFill>
            <a:srgbClr val="F3F7FB"/>
          </a:solidFill>
          <a:ln/>
          <a:effectLst>
            <a:outerShdw blurRad="76200" dist="25400" dir="5400000" algn="bl" rotWithShape="0">
              <a:srgbClr val="000000">
                <a:alpha val="10000"/>
              </a:srgbClr>
            </a:outerShdw>
          </a:effectLst>
        </p:spPr>
      </p:sp>
      <p:sp>
        <p:nvSpPr>
          <p:cNvPr id="25" name="Shape 19"/>
          <p:cNvSpPr/>
          <p:nvPr/>
        </p:nvSpPr>
        <p:spPr>
          <a:xfrm>
            <a:off x="5052060" y="1325880"/>
            <a:ext cx="457200" cy="457200"/>
          </a:xfrm>
          <a:prstGeom prst="ellipse">
            <a:avLst/>
          </a:prstGeom>
          <a:solidFill>
            <a:srgbClr val="0B1F3A"/>
          </a:solidFill>
          <a:ln/>
        </p:spPr>
      </p:sp>
      <p:pic>
        <p:nvPicPr>
          <p:cNvPr id="26" name="Image 4" descr="preencoded.png"/>
          <p:cNvPicPr>
            <a:picLocks noChangeAspect="1"/>
          </p:cNvPicPr>
          <p:nvPr/>
        </p:nvPicPr>
        <p:blipFill>
          <a:blip r:embed="rId6"/>
          <a:stretch>
            <a:fillRect/>
          </a:stretch>
        </p:blipFill>
        <p:spPr>
          <a:xfrm>
            <a:off x="5166360" y="1440180"/>
            <a:ext cx="228600" cy="228600"/>
          </a:xfrm>
          <a:prstGeom prst="rect">
            <a:avLst/>
          </a:prstGeom>
        </p:spPr>
      </p:pic>
      <p:sp>
        <p:nvSpPr>
          <p:cNvPr id="27" name="Text 20"/>
          <p:cNvSpPr txBox="1"/>
          <p:nvPr/>
        </p:nvSpPr>
        <p:spPr>
          <a:xfrm>
            <a:off x="4754880" y="1847088"/>
            <a:ext cx="1051560" cy="274320"/>
          </a:xfrm>
          <a:prstGeom prst="rect">
            <a:avLst/>
          </a:prstGeom>
          <a:noFill/>
          <a:ln/>
        </p:spPr>
        <p:txBody>
          <a:bodyPr wrap="square" lIns="0" tIns="0" rIns="0" bIns="0" rtlCol="0" anchor="ctr"/>
          <a:lstStyle/>
          <a:p>
            <a:pPr marL="0" indent="0" algn="ctr">
              <a:buNone/>
            </a:pPr>
            <a:r>
              <a:rPr lang="en-US" sz="1200" b="1" dirty="0">
                <a:solidFill>
                  <a:srgbClr val="0B1F3A"/>
                </a:solidFill>
                <a:latin typeface="Calibri" pitchFamily="34" charset="0"/>
                <a:ea typeface="Calibri" pitchFamily="34" charset="-122"/>
                <a:cs typeface="Calibri" pitchFamily="34" charset="-120"/>
              </a:rPr>
              <a:t>Java Method</a:t>
            </a:r>
            <a:endParaRPr lang="en-US" sz="1200" dirty="0"/>
          </a:p>
        </p:txBody>
      </p:sp>
      <p:sp>
        <p:nvSpPr>
          <p:cNvPr id="28" name="Text 21"/>
          <p:cNvSpPr txBox="1"/>
          <p:nvPr/>
        </p:nvSpPr>
        <p:spPr>
          <a:xfrm>
            <a:off x="4800600" y="2148840"/>
            <a:ext cx="960120" cy="566928"/>
          </a:xfrm>
          <a:prstGeom prst="rect">
            <a:avLst/>
          </a:prstGeom>
          <a:noFill/>
          <a:ln/>
        </p:spPr>
        <p:txBody>
          <a:bodyPr wrap="square" lIns="0" tIns="0" rIns="0" bIns="0" rtlCol="0" anchor="t"/>
          <a:lstStyle/>
          <a:p>
            <a:pPr marL="0" indent="0" algn="ctr">
              <a:buNone/>
            </a:pPr>
            <a:r>
              <a:rPr lang="en-US" sz="1050" dirty="0">
                <a:solidFill>
                  <a:srgbClr val="5B6B82"/>
                </a:solidFill>
                <a:latin typeface="Calibri" pitchFamily="34" charset="0"/>
                <a:ea typeface="Calibri" pitchFamily="34" charset="-122"/>
                <a:cs typeface="Calibri" pitchFamily="34" charset="-120"/>
              </a:rPr>
              <a:t>bookFuel()</a:t>
            </a:r>
            <a:endParaRPr lang="en-US" sz="1050" dirty="0"/>
          </a:p>
        </p:txBody>
      </p:sp>
      <p:sp>
        <p:nvSpPr>
          <p:cNvPr id="29" name="Shape 22"/>
          <p:cNvSpPr/>
          <p:nvPr/>
        </p:nvSpPr>
        <p:spPr>
          <a:xfrm>
            <a:off x="5879592" y="1988820"/>
            <a:ext cx="219456" cy="0"/>
          </a:xfrm>
          <a:prstGeom prst="line">
            <a:avLst/>
          </a:prstGeom>
          <a:noFill/>
          <a:ln w="25400">
            <a:solidFill>
              <a:srgbClr val="0E7490"/>
            </a:solidFill>
            <a:prstDash val="solid"/>
            <a:tailEnd type="triangle"/>
          </a:ln>
        </p:spPr>
      </p:sp>
      <p:sp>
        <p:nvSpPr>
          <p:cNvPr id="30" name="Shape 23"/>
          <p:cNvSpPr/>
          <p:nvPr/>
        </p:nvSpPr>
        <p:spPr>
          <a:xfrm>
            <a:off x="6126480" y="1188720"/>
            <a:ext cx="1143000" cy="1600200"/>
          </a:xfrm>
          <a:prstGeom prst="roundRect">
            <a:avLst>
              <a:gd name="adj" fmla="val 8000"/>
            </a:avLst>
          </a:prstGeom>
          <a:solidFill>
            <a:srgbClr val="F3F7FB"/>
          </a:solidFill>
          <a:ln/>
          <a:effectLst>
            <a:outerShdw blurRad="76200" dist="25400" dir="5400000" algn="bl" rotWithShape="0">
              <a:srgbClr val="000000">
                <a:alpha val="10000"/>
              </a:srgbClr>
            </a:outerShdw>
          </a:effectLst>
        </p:spPr>
      </p:sp>
      <p:sp>
        <p:nvSpPr>
          <p:cNvPr id="31" name="Shape 24"/>
          <p:cNvSpPr/>
          <p:nvPr/>
        </p:nvSpPr>
        <p:spPr>
          <a:xfrm>
            <a:off x="6469380" y="1325880"/>
            <a:ext cx="457200" cy="457200"/>
          </a:xfrm>
          <a:prstGeom prst="ellipse">
            <a:avLst/>
          </a:prstGeom>
          <a:solidFill>
            <a:srgbClr val="0B1F3A"/>
          </a:solidFill>
          <a:ln/>
        </p:spPr>
      </p:sp>
      <p:pic>
        <p:nvPicPr>
          <p:cNvPr id="32" name="Image 5" descr="preencoded.png"/>
          <p:cNvPicPr>
            <a:picLocks noChangeAspect="1"/>
          </p:cNvPicPr>
          <p:nvPr/>
        </p:nvPicPr>
        <p:blipFill>
          <a:blip r:embed="rId7"/>
          <a:stretch>
            <a:fillRect/>
          </a:stretch>
        </p:blipFill>
        <p:spPr>
          <a:xfrm>
            <a:off x="6583680" y="1440180"/>
            <a:ext cx="228600" cy="228600"/>
          </a:xfrm>
          <a:prstGeom prst="rect">
            <a:avLst/>
          </a:prstGeom>
        </p:spPr>
      </p:pic>
      <p:sp>
        <p:nvSpPr>
          <p:cNvPr id="33" name="Text 25"/>
          <p:cNvSpPr txBox="1"/>
          <p:nvPr/>
        </p:nvSpPr>
        <p:spPr>
          <a:xfrm>
            <a:off x="6172200" y="1847088"/>
            <a:ext cx="1051560" cy="274320"/>
          </a:xfrm>
          <a:prstGeom prst="rect">
            <a:avLst/>
          </a:prstGeom>
          <a:noFill/>
          <a:ln/>
        </p:spPr>
        <p:txBody>
          <a:bodyPr wrap="square" lIns="0" tIns="0" rIns="0" bIns="0" rtlCol="0" anchor="ctr"/>
          <a:lstStyle/>
          <a:p>
            <a:pPr marL="0" indent="0" algn="ctr">
              <a:buNone/>
            </a:pPr>
            <a:r>
              <a:rPr lang="en-US" sz="1200" b="1" dirty="0">
                <a:solidFill>
                  <a:srgbClr val="0B1F3A"/>
                </a:solidFill>
                <a:latin typeface="Calibri" pitchFamily="34" charset="0"/>
                <a:ea typeface="Calibri" pitchFamily="34" charset="-122"/>
                <a:cs typeface="Calibri" pitchFamily="34" charset="-120"/>
              </a:rPr>
              <a:t>Project Logic</a:t>
            </a:r>
            <a:endParaRPr lang="en-US" sz="1200" dirty="0"/>
          </a:p>
        </p:txBody>
      </p:sp>
      <p:sp>
        <p:nvSpPr>
          <p:cNvPr id="34" name="Text 26"/>
          <p:cNvSpPr txBox="1"/>
          <p:nvPr/>
        </p:nvSpPr>
        <p:spPr>
          <a:xfrm>
            <a:off x="6217920" y="2148840"/>
            <a:ext cx="960120" cy="566928"/>
          </a:xfrm>
          <a:prstGeom prst="rect">
            <a:avLst/>
          </a:prstGeom>
          <a:noFill/>
          <a:ln/>
        </p:spPr>
        <p:txBody>
          <a:bodyPr wrap="square" lIns="0" tIns="0" rIns="0" bIns="0" rtlCol="0" anchor="t"/>
          <a:lstStyle/>
          <a:p>
            <a:pPr marL="0" indent="0" algn="ctr">
              <a:buNone/>
            </a:pPr>
            <a:r>
              <a:rPr lang="en-US" sz="1050" dirty="0">
                <a:solidFill>
                  <a:srgbClr val="5B6B82"/>
                </a:solidFill>
                <a:latin typeface="Calibri" pitchFamily="34" charset="0"/>
                <a:ea typeface="Calibri" pitchFamily="34" charset="-122"/>
                <a:cs typeface="Calibri" pitchFamily="34" charset="-120"/>
              </a:rPr>
              <a:t>Checks pump, adds a Vehicle</a:t>
            </a:r>
            <a:endParaRPr lang="en-US" sz="1050" dirty="0"/>
          </a:p>
        </p:txBody>
      </p:sp>
      <p:sp>
        <p:nvSpPr>
          <p:cNvPr id="35" name="Shape 27"/>
          <p:cNvSpPr/>
          <p:nvPr/>
        </p:nvSpPr>
        <p:spPr>
          <a:xfrm>
            <a:off x="7296912" y="1988820"/>
            <a:ext cx="219456" cy="0"/>
          </a:xfrm>
          <a:prstGeom prst="line">
            <a:avLst/>
          </a:prstGeom>
          <a:noFill/>
          <a:ln w="25400">
            <a:solidFill>
              <a:srgbClr val="0E7490"/>
            </a:solidFill>
            <a:prstDash val="solid"/>
            <a:tailEnd type="triangle"/>
          </a:ln>
        </p:spPr>
      </p:sp>
      <p:sp>
        <p:nvSpPr>
          <p:cNvPr id="36" name="Shape 28"/>
          <p:cNvSpPr/>
          <p:nvPr/>
        </p:nvSpPr>
        <p:spPr>
          <a:xfrm>
            <a:off x="7543800" y="1188720"/>
            <a:ext cx="1143000" cy="1600200"/>
          </a:xfrm>
          <a:prstGeom prst="roundRect">
            <a:avLst>
              <a:gd name="adj" fmla="val 8000"/>
            </a:avLst>
          </a:prstGeom>
          <a:solidFill>
            <a:srgbClr val="0B1F3A"/>
          </a:solidFill>
          <a:ln/>
          <a:effectLst>
            <a:outerShdw blurRad="76200" dist="25400" dir="5400000" algn="bl" rotWithShape="0">
              <a:srgbClr val="000000">
                <a:alpha val="10000"/>
              </a:srgbClr>
            </a:outerShdw>
          </a:effectLst>
        </p:spPr>
      </p:sp>
      <p:sp>
        <p:nvSpPr>
          <p:cNvPr id="37" name="Shape 29"/>
          <p:cNvSpPr/>
          <p:nvPr/>
        </p:nvSpPr>
        <p:spPr>
          <a:xfrm>
            <a:off x="7886700" y="1325880"/>
            <a:ext cx="457200" cy="457200"/>
          </a:xfrm>
          <a:prstGeom prst="ellipse">
            <a:avLst/>
          </a:prstGeom>
          <a:solidFill>
            <a:srgbClr val="22D3EE"/>
          </a:solidFill>
          <a:ln/>
        </p:spPr>
      </p:sp>
      <p:pic>
        <p:nvPicPr>
          <p:cNvPr id="38" name="Image 6" descr="preencoded.png"/>
          <p:cNvPicPr>
            <a:picLocks noChangeAspect="1"/>
          </p:cNvPicPr>
          <p:nvPr/>
        </p:nvPicPr>
        <p:blipFill>
          <a:blip r:embed="rId8"/>
          <a:stretch>
            <a:fillRect/>
          </a:stretch>
        </p:blipFill>
        <p:spPr>
          <a:xfrm>
            <a:off x="8001000" y="1440180"/>
            <a:ext cx="228600" cy="228600"/>
          </a:xfrm>
          <a:prstGeom prst="rect">
            <a:avLst/>
          </a:prstGeom>
        </p:spPr>
      </p:pic>
      <p:sp>
        <p:nvSpPr>
          <p:cNvPr id="39" name="Text 30"/>
          <p:cNvSpPr txBox="1"/>
          <p:nvPr/>
        </p:nvSpPr>
        <p:spPr>
          <a:xfrm>
            <a:off x="7589520" y="1847088"/>
            <a:ext cx="105156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Output</a:t>
            </a:r>
            <a:endParaRPr lang="en-US" sz="1200" dirty="0"/>
          </a:p>
        </p:txBody>
      </p:sp>
      <p:sp>
        <p:nvSpPr>
          <p:cNvPr id="40" name="Text 31"/>
          <p:cNvSpPr txBox="1"/>
          <p:nvPr/>
        </p:nvSpPr>
        <p:spPr>
          <a:xfrm>
            <a:off x="7635240" y="2148840"/>
            <a:ext cx="960120" cy="566928"/>
          </a:xfrm>
          <a:prstGeom prst="rect">
            <a:avLst/>
          </a:prstGeom>
          <a:noFill/>
          <a:ln/>
        </p:spPr>
        <p:txBody>
          <a:bodyPr wrap="square" lIns="0" tIns="0" rIns="0" bIns="0" rtlCol="0" anchor="t"/>
          <a:lstStyle/>
          <a:p>
            <a:pPr marL="0" indent="0" algn="ctr">
              <a:buNone/>
            </a:pPr>
            <a:r>
              <a:rPr lang="en-US" sz="1050" dirty="0">
                <a:solidFill>
                  <a:srgbClr val="CFE8F5"/>
                </a:solidFill>
                <a:latin typeface="Calibri" pitchFamily="34" charset="0"/>
                <a:ea typeface="Calibri" pitchFamily="34" charset="-122"/>
                <a:cs typeface="Calibri" pitchFamily="34" charset="-120"/>
              </a:rPr>
              <a:t>Confirmation dialog</a:t>
            </a:r>
            <a:endParaRPr lang="en-US" sz="1050" dirty="0"/>
          </a:p>
        </p:txBody>
      </p:sp>
      <p:sp>
        <p:nvSpPr>
          <p:cNvPr id="41" name="Shape 32"/>
          <p:cNvSpPr/>
          <p:nvPr/>
        </p:nvSpPr>
        <p:spPr>
          <a:xfrm>
            <a:off x="457200" y="3063240"/>
            <a:ext cx="4846320" cy="1335024"/>
          </a:xfrm>
          <a:prstGeom prst="roundRect">
            <a:avLst>
              <a:gd name="adj" fmla="val 5479"/>
            </a:avLst>
          </a:prstGeom>
          <a:solidFill>
            <a:srgbClr val="0A1A30"/>
          </a:solidFill>
          <a:ln/>
        </p:spPr>
      </p:sp>
      <p:sp>
        <p:nvSpPr>
          <p:cNvPr id="42" name="Text 33"/>
          <p:cNvSpPr txBox="1"/>
          <p:nvPr/>
        </p:nvSpPr>
        <p:spPr>
          <a:xfrm>
            <a:off x="621792" y="3136392"/>
            <a:ext cx="4517136" cy="201168"/>
          </a:xfrm>
          <a:prstGeom prst="rect">
            <a:avLst/>
          </a:prstGeom>
          <a:noFill/>
          <a:ln/>
        </p:spPr>
        <p:txBody>
          <a:bodyPr wrap="square" lIns="0" tIns="0" rIns="0" bIns="0" rtlCol="0" anchor="ctr"/>
          <a:lstStyle/>
          <a:p>
            <a:pPr marL="0" indent="0">
              <a:buNone/>
            </a:pPr>
            <a:r>
              <a:rPr lang="en-US" sz="950" b="1" kern="0" spc="100" dirty="0">
                <a:solidFill>
                  <a:srgbClr val="67C7E0"/>
                </a:solidFill>
                <a:latin typeface="Calibri" pitchFamily="34" charset="0"/>
                <a:ea typeface="Calibri" pitchFamily="34" charset="-122"/>
                <a:cs typeface="Calibri" pitchFamily="34" charset="-120"/>
              </a:rPr>
              <a:t>button click events</a:t>
            </a:r>
            <a:endParaRPr lang="en-US" sz="950" dirty="0"/>
          </a:p>
        </p:txBody>
      </p:sp>
      <p:sp>
        <p:nvSpPr>
          <p:cNvPr id="43" name="Text 34"/>
          <p:cNvSpPr txBox="1"/>
          <p:nvPr/>
        </p:nvSpPr>
        <p:spPr>
          <a:xfrm>
            <a:off x="621792" y="3374136"/>
            <a:ext cx="4517136" cy="182880"/>
          </a:xfrm>
          <a:prstGeom prst="rect">
            <a:avLst/>
          </a:prstGeom>
          <a:noFill/>
          <a:ln/>
        </p:spPr>
        <p:txBody>
          <a:bodyPr wrap="square" lIns="0" tIns="0" rIns="0" bIns="0" rtlCol="0" anchor="ctr"/>
          <a:lstStyle/>
          <a:p>
            <a:pPr marL="0" indent="0">
              <a:buNone/>
            </a:pPr>
            <a:r>
              <a:rPr lang="en-US" sz="1000" dirty="0">
                <a:solidFill>
                  <a:srgbClr val="7C9BBD"/>
                </a:solidFill>
                <a:latin typeface="Courier New" pitchFamily="34" charset="0"/>
                <a:ea typeface="Courier New" pitchFamily="34" charset="-122"/>
                <a:cs typeface="Courier New" pitchFamily="34" charset="-120"/>
              </a:rPr>
              <a:t>// Home screen: open the User Panel</a:t>
            </a:r>
            <a:endParaRPr lang="en-US" sz="1000" dirty="0"/>
          </a:p>
        </p:txBody>
      </p:sp>
      <p:sp>
        <p:nvSpPr>
          <p:cNvPr id="44" name="Text 35"/>
          <p:cNvSpPr txBox="1"/>
          <p:nvPr/>
        </p:nvSpPr>
        <p:spPr>
          <a:xfrm>
            <a:off x="621792" y="3557016"/>
            <a:ext cx="4517136" cy="182880"/>
          </a:xfrm>
          <a:prstGeom prst="rect">
            <a:avLst/>
          </a:prstGeom>
          <a:noFill/>
          <a:ln/>
        </p:spPr>
        <p:txBody>
          <a:bodyPr wrap="square" lIns="0" tIns="0" rIns="0" bIns="0" rtlCol="0" anchor="ctr"/>
          <a:lstStyle/>
          <a:p>
            <a:pPr marL="0" indent="0">
              <a:buNone/>
            </a:pPr>
            <a:r>
              <a:rPr lang="en-US" sz="1000" dirty="0">
                <a:solidFill>
                  <a:srgbClr val="C9D6E8"/>
                </a:solidFill>
                <a:latin typeface="Courier New" pitchFamily="34" charset="0"/>
                <a:ea typeface="Courier New" pitchFamily="34" charset="-122"/>
                <a:cs typeface="Courier New" pitchFamily="34" charset="-120"/>
              </a:rPr>
              <a:t>user.addActionListener(e -&gt;</a:t>
            </a:r>
            <a:endParaRPr lang="en-US" sz="1000" dirty="0"/>
          </a:p>
        </p:txBody>
      </p:sp>
      <p:sp>
        <p:nvSpPr>
          <p:cNvPr id="45" name="Text 36"/>
          <p:cNvSpPr txBox="1"/>
          <p:nvPr/>
        </p:nvSpPr>
        <p:spPr>
          <a:xfrm>
            <a:off x="926592" y="3739896"/>
            <a:ext cx="4212336" cy="182880"/>
          </a:xfrm>
          <a:prstGeom prst="rect">
            <a:avLst/>
          </a:prstGeom>
          <a:noFill/>
          <a:ln/>
        </p:spPr>
        <p:txBody>
          <a:bodyPr wrap="square" lIns="0" tIns="0" rIns="0" bIns="0" rtlCol="0" anchor="ctr"/>
          <a:lstStyle/>
          <a:p>
            <a:pPr marL="0" indent="0">
              <a:buNone/>
            </a:pPr>
            <a:r>
              <a:rPr lang="en-US" sz="1000" dirty="0">
                <a:solidFill>
                  <a:srgbClr val="C9D6E8"/>
                </a:solidFill>
                <a:latin typeface="Courier New" pitchFamily="34" charset="0"/>
                <a:ea typeface="Courier New" pitchFamily="34" charset="-122"/>
                <a:cs typeface="Courier New" pitchFamily="34" charset="-120"/>
              </a:rPr>
              <a:t>cardLayout.show(mainPanel, "USER"));</a:t>
            </a:r>
            <a:endParaRPr lang="en-US" sz="1000" dirty="0"/>
          </a:p>
        </p:txBody>
      </p:sp>
      <p:sp>
        <p:nvSpPr>
          <p:cNvPr id="46" name="Text 37"/>
          <p:cNvSpPr txBox="1"/>
          <p:nvPr/>
        </p:nvSpPr>
        <p:spPr>
          <a:xfrm>
            <a:off x="621792" y="3922776"/>
            <a:ext cx="4517136" cy="182880"/>
          </a:xfrm>
          <a:prstGeom prst="rect">
            <a:avLst/>
          </a:prstGeom>
          <a:noFill/>
          <a:ln/>
        </p:spPr>
        <p:txBody>
          <a:bodyPr wrap="square" lIns="0" tIns="0" rIns="0" bIns="0" rtlCol="0" anchor="ctr"/>
          <a:lstStyle/>
          <a:p>
            <a:pPr marL="0" indent="0">
              <a:buNone/>
            </a:pPr>
            <a:r>
              <a:rPr lang="en-US" sz="1000" dirty="0">
                <a:solidFill>
                  <a:srgbClr val="7C9BBD"/>
                </a:solidFill>
                <a:latin typeface="Courier New" pitchFamily="34" charset="0"/>
                <a:ea typeface="Courier New" pitchFamily="34" charset="-122"/>
                <a:cs typeface="Courier New" pitchFamily="34" charset="-120"/>
              </a:rPr>
              <a:t>// User Panel: run bookFuel()</a:t>
            </a:r>
            <a:endParaRPr lang="en-US" sz="1000" dirty="0"/>
          </a:p>
        </p:txBody>
      </p:sp>
      <p:sp>
        <p:nvSpPr>
          <p:cNvPr id="47" name="Shape 38"/>
          <p:cNvSpPr/>
          <p:nvPr/>
        </p:nvSpPr>
        <p:spPr>
          <a:xfrm>
            <a:off x="530352" y="4105656"/>
            <a:ext cx="4700016" cy="182880"/>
          </a:xfrm>
          <a:prstGeom prst="rect">
            <a:avLst/>
          </a:prstGeom>
          <a:solidFill>
            <a:srgbClr val="155E75"/>
          </a:solidFill>
          <a:ln/>
        </p:spPr>
      </p:sp>
      <p:sp>
        <p:nvSpPr>
          <p:cNvPr id="48" name="Text 39"/>
          <p:cNvSpPr txBox="1"/>
          <p:nvPr/>
        </p:nvSpPr>
        <p:spPr>
          <a:xfrm>
            <a:off x="621792" y="4105656"/>
            <a:ext cx="4517136" cy="182880"/>
          </a:xfrm>
          <a:prstGeom prst="rect">
            <a:avLst/>
          </a:prstGeom>
          <a:noFill/>
          <a:ln/>
        </p:spPr>
        <p:txBody>
          <a:bodyPr wrap="square" lIns="0" tIns="0" rIns="0" bIns="0" rtlCol="0" anchor="ctr"/>
          <a:lstStyle/>
          <a:p>
            <a:pPr marL="0" indent="0">
              <a:buNone/>
            </a:pPr>
            <a:r>
              <a:rPr lang="en-US" sz="1000" b="1" dirty="0">
                <a:solidFill>
                  <a:srgbClr val="FFFFFF"/>
                </a:solidFill>
                <a:latin typeface="Courier New" pitchFamily="34" charset="0"/>
                <a:ea typeface="Courier New" pitchFamily="34" charset="-122"/>
                <a:cs typeface="Courier New" pitchFamily="34" charset="-120"/>
              </a:rPr>
              <a:t>b.addActionListener(e -&gt; bookFuel());</a:t>
            </a:r>
            <a:endParaRPr lang="en-US" sz="1000" dirty="0"/>
          </a:p>
        </p:txBody>
      </p:sp>
      <p:sp>
        <p:nvSpPr>
          <p:cNvPr id="49" name="Shape 40"/>
          <p:cNvSpPr/>
          <p:nvPr/>
        </p:nvSpPr>
        <p:spPr>
          <a:xfrm>
            <a:off x="5532120" y="3063240"/>
            <a:ext cx="3154680" cy="1335024"/>
          </a:xfrm>
          <a:prstGeom prst="roundRect">
            <a:avLst>
              <a:gd name="adj" fmla="val 6849"/>
            </a:avLst>
          </a:prstGeom>
          <a:solidFill>
            <a:srgbClr val="E8F7FB"/>
          </a:solidFill>
          <a:ln/>
        </p:spPr>
      </p:sp>
      <p:sp>
        <p:nvSpPr>
          <p:cNvPr id="50" name="Text 41"/>
          <p:cNvSpPr txBox="1"/>
          <p:nvPr/>
        </p:nvSpPr>
        <p:spPr>
          <a:xfrm>
            <a:off x="5715000" y="3154680"/>
            <a:ext cx="2834640" cy="256032"/>
          </a:xfrm>
          <a:prstGeom prst="rect">
            <a:avLst/>
          </a:prstGeom>
          <a:noFill/>
          <a:ln/>
        </p:spPr>
        <p:txBody>
          <a:bodyPr wrap="square" lIns="0" tIns="0" rIns="0" bIns="0" rtlCol="0" anchor="ctr"/>
          <a:lstStyle/>
          <a:p>
            <a:pPr marL="0" indent="0">
              <a:buNone/>
            </a:pPr>
            <a:r>
              <a:rPr lang="en-US" sz="1300" b="1" dirty="0">
                <a:solidFill>
                  <a:srgbClr val="0E7490"/>
                </a:solidFill>
                <a:latin typeface="Calibri" pitchFamily="34" charset="0"/>
                <a:ea typeface="Calibri" pitchFamily="34" charset="-122"/>
                <a:cs typeface="Calibri" pitchFamily="34" charset="-120"/>
              </a:rPr>
              <a:t>ActionListener</a:t>
            </a:r>
            <a:endParaRPr lang="en-US" sz="1300" dirty="0"/>
          </a:p>
        </p:txBody>
      </p:sp>
      <p:sp>
        <p:nvSpPr>
          <p:cNvPr id="51" name="Text 42"/>
          <p:cNvSpPr txBox="1"/>
          <p:nvPr/>
        </p:nvSpPr>
        <p:spPr>
          <a:xfrm>
            <a:off x="5715000" y="3456432"/>
            <a:ext cx="2834640" cy="868680"/>
          </a:xfrm>
          <a:prstGeom prst="rect">
            <a:avLst/>
          </a:prstGeom>
          <a:noFill/>
          <a:ln/>
        </p:spPr>
        <p:txBody>
          <a:bodyPr wrap="square" lIns="0" tIns="0" rIns="0" bIns="0" rtlCol="0" anchor="t"/>
          <a:lstStyle/>
          <a:p>
            <a:pPr marL="0" indent="0">
              <a:buNone/>
            </a:pPr>
            <a:r>
              <a:rPr lang="en-US" sz="1150" dirty="0">
                <a:solidFill>
                  <a:srgbClr val="0B1F3A"/>
                </a:solidFill>
                <a:latin typeface="Calibri" pitchFamily="34" charset="0"/>
                <a:ea typeface="Calibri" pitchFamily="34" charset="-122"/>
                <a:cs typeface="Calibri" pitchFamily="34" charset="-120"/>
              </a:rPr>
              <a:t>It waits for a button click. We write it as a lambda: e -&gt; method(). When the button is clicked, that Java method runs.</a:t>
            </a:r>
            <a:endParaRPr lang="en-US" sz="1150" dirty="0"/>
          </a:p>
        </p:txBody>
      </p:sp>
      <p:sp>
        <p:nvSpPr>
          <p:cNvPr id="52" name="Text 43"/>
          <p:cNvSpPr txBox="1"/>
          <p:nvPr/>
        </p:nvSpPr>
        <p:spPr>
          <a:xfrm>
            <a:off x="457200" y="4773168"/>
            <a:ext cx="4572000" cy="201168"/>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Smart Fuel Pump Management System</a:t>
            </a:r>
            <a:endParaRPr lang="en-US" sz="1000" dirty="0"/>
          </a:p>
        </p:txBody>
      </p:sp>
      <p:sp>
        <p:nvSpPr>
          <p:cNvPr id="53" name="Text 44"/>
          <p:cNvSpPr txBox="1"/>
          <p:nvPr/>
        </p:nvSpPr>
        <p:spPr>
          <a:xfrm>
            <a:off x="7772400" y="4773168"/>
            <a:ext cx="914400" cy="201168"/>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6400800" cy="228600"/>
          </a:xfrm>
          <a:prstGeom prst="rect">
            <a:avLst/>
          </a:prstGeom>
          <a:noFill/>
          <a:ln/>
        </p:spPr>
        <p:txBody>
          <a:bodyPr wrap="square" lIns="0" tIns="0" rIns="0" bIns="0" rtlCol="0" anchor="ctr"/>
          <a:lstStyle/>
          <a:p>
            <a:pPr marL="0" indent="0">
              <a:buNone/>
            </a:pPr>
            <a:r>
              <a:rPr lang="en-US" sz="1100" b="1" kern="0" spc="300" dirty="0">
                <a:solidFill>
                  <a:srgbClr val="0E7490"/>
                </a:solidFill>
                <a:latin typeface="Calibri" pitchFamily="34" charset="0"/>
                <a:ea typeface="Calibri" pitchFamily="34" charset="-122"/>
                <a:cs typeface="Calibri" pitchFamily="34" charset="-120"/>
              </a:rPr>
              <a:t>USERS</a:t>
            </a:r>
            <a:endParaRPr lang="en-US" sz="1100" dirty="0"/>
          </a:p>
        </p:txBody>
      </p:sp>
      <p:sp>
        <p:nvSpPr>
          <p:cNvPr id="3" name="Text 1"/>
          <p:cNvSpPr txBox="1"/>
          <p:nvPr/>
        </p:nvSpPr>
        <p:spPr>
          <a:xfrm>
            <a:off x="457200" y="502920"/>
            <a:ext cx="7498080" cy="548640"/>
          </a:xfrm>
          <a:prstGeom prst="rect">
            <a:avLst/>
          </a:prstGeom>
          <a:noFill/>
          <a:ln/>
        </p:spPr>
        <p:txBody>
          <a:bodyPr wrap="square" lIns="0" tIns="0" rIns="0" bIns="0" rtlCol="0" anchor="ctr"/>
          <a:lstStyle/>
          <a:p>
            <a:pPr marL="0" indent="0">
              <a:buNone/>
            </a:pPr>
            <a:r>
              <a:rPr lang="en-US" sz="3000" b="1" dirty="0">
                <a:solidFill>
                  <a:srgbClr val="0B1F3A"/>
                </a:solidFill>
                <a:latin typeface="Calibri" pitchFamily="34" charset="0"/>
                <a:ea typeface="Calibri" pitchFamily="34" charset="-122"/>
                <a:cs typeface="Calibri" pitchFamily="34" charset="-120"/>
              </a:rPr>
              <a:t>User Panel</a:t>
            </a:r>
            <a:endParaRPr lang="en-US" sz="3000" dirty="0"/>
          </a:p>
        </p:txBody>
      </p:sp>
      <p:sp>
        <p:nvSpPr>
          <p:cNvPr id="4" name="Shape 2"/>
          <p:cNvSpPr/>
          <p:nvPr/>
        </p:nvSpPr>
        <p:spPr>
          <a:xfrm>
            <a:off x="8229600" y="384048"/>
            <a:ext cx="457200" cy="457200"/>
          </a:xfrm>
          <a:prstGeom prst="ellipse">
            <a:avLst/>
          </a:prstGeom>
          <a:solidFill>
            <a:srgbClr val="0B1F3A"/>
          </a:solidFill>
          <a:ln/>
        </p:spPr>
      </p:sp>
      <p:pic>
        <p:nvPicPr>
          <p:cNvPr id="5" name="Image 0" descr="preencoded.png"/>
          <p:cNvPicPr>
            <a:picLocks noChangeAspect="1"/>
          </p:cNvPicPr>
          <p:nvPr/>
        </p:nvPicPr>
        <p:blipFill>
          <a:blip r:embed="rId3"/>
          <a:stretch>
            <a:fillRect/>
          </a:stretch>
        </p:blipFill>
        <p:spPr>
          <a:xfrm>
            <a:off x="8343900" y="498348"/>
            <a:ext cx="228600" cy="228600"/>
          </a:xfrm>
          <a:prstGeom prst="rect">
            <a:avLst/>
          </a:prstGeom>
        </p:spPr>
      </p:pic>
      <p:sp>
        <p:nvSpPr>
          <p:cNvPr id="6" name="Shape 3"/>
          <p:cNvSpPr/>
          <p:nvPr/>
        </p:nvSpPr>
        <p:spPr>
          <a:xfrm>
            <a:off x="457200" y="1188720"/>
            <a:ext cx="2377440" cy="3383280"/>
          </a:xfrm>
          <a:prstGeom prst="roundRect">
            <a:avLst>
              <a:gd name="adj" fmla="val 3846"/>
            </a:avLst>
          </a:prstGeom>
          <a:solidFill>
            <a:srgbClr val="0B1F3A"/>
          </a:solidFill>
          <a:ln/>
        </p:spPr>
      </p:sp>
      <p:sp>
        <p:nvSpPr>
          <p:cNvPr id="7" name="Shape 4"/>
          <p:cNvSpPr/>
          <p:nvPr/>
        </p:nvSpPr>
        <p:spPr>
          <a:xfrm>
            <a:off x="548640" y="1261872"/>
            <a:ext cx="2194560" cy="237744"/>
          </a:xfrm>
          <a:prstGeom prst="roundRect">
            <a:avLst>
              <a:gd name="adj" fmla="val 15385"/>
            </a:avLst>
          </a:prstGeom>
          <a:solidFill>
            <a:srgbClr val="2364B4"/>
          </a:solidFill>
          <a:ln/>
        </p:spPr>
      </p:sp>
      <p:sp>
        <p:nvSpPr>
          <p:cNvPr id="8" name="Text 5"/>
          <p:cNvSpPr txBox="1"/>
          <p:nvPr/>
        </p:nvSpPr>
        <p:spPr>
          <a:xfrm>
            <a:off x="548640" y="1261872"/>
            <a:ext cx="2194560" cy="23774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Select Zone</a:t>
            </a:r>
            <a:endParaRPr lang="en-US" sz="1050" dirty="0"/>
          </a:p>
        </p:txBody>
      </p:sp>
      <p:sp>
        <p:nvSpPr>
          <p:cNvPr id="9" name="Shape 6"/>
          <p:cNvSpPr/>
          <p:nvPr/>
        </p:nvSpPr>
        <p:spPr>
          <a:xfrm>
            <a:off x="548640" y="1536192"/>
            <a:ext cx="2194560" cy="237744"/>
          </a:xfrm>
          <a:prstGeom prst="roundRect">
            <a:avLst>
              <a:gd name="adj" fmla="val 15385"/>
            </a:avLst>
          </a:prstGeom>
          <a:solidFill>
            <a:srgbClr val="2364B4"/>
          </a:solidFill>
          <a:ln/>
        </p:spPr>
      </p:sp>
      <p:sp>
        <p:nvSpPr>
          <p:cNvPr id="10" name="Text 7"/>
          <p:cNvSpPr txBox="1"/>
          <p:nvPr/>
        </p:nvSpPr>
        <p:spPr>
          <a:xfrm>
            <a:off x="548640" y="1536192"/>
            <a:ext cx="2194560" cy="23774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Search Pump</a:t>
            </a:r>
            <a:endParaRPr lang="en-US" sz="1050" dirty="0"/>
          </a:p>
        </p:txBody>
      </p:sp>
      <p:sp>
        <p:nvSpPr>
          <p:cNvPr id="11" name="Shape 8"/>
          <p:cNvSpPr/>
          <p:nvPr/>
        </p:nvSpPr>
        <p:spPr>
          <a:xfrm>
            <a:off x="548640" y="1810512"/>
            <a:ext cx="2194560" cy="237744"/>
          </a:xfrm>
          <a:prstGeom prst="roundRect">
            <a:avLst>
              <a:gd name="adj" fmla="val 15385"/>
            </a:avLst>
          </a:prstGeom>
          <a:solidFill>
            <a:srgbClr val="2364B4"/>
          </a:solidFill>
          <a:ln/>
        </p:spPr>
      </p:sp>
      <p:sp>
        <p:nvSpPr>
          <p:cNvPr id="12" name="Text 9"/>
          <p:cNvSpPr txBox="1"/>
          <p:nvPr/>
        </p:nvSpPr>
        <p:spPr>
          <a:xfrm>
            <a:off x="548640" y="1810512"/>
            <a:ext cx="2194560" cy="23774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Open Pumps</a:t>
            </a:r>
            <a:endParaRPr lang="en-US" sz="1050" dirty="0"/>
          </a:p>
        </p:txBody>
      </p:sp>
      <p:sp>
        <p:nvSpPr>
          <p:cNvPr id="13" name="Shape 10"/>
          <p:cNvSpPr/>
          <p:nvPr/>
        </p:nvSpPr>
        <p:spPr>
          <a:xfrm>
            <a:off x="548640" y="2084832"/>
            <a:ext cx="2194560" cy="237744"/>
          </a:xfrm>
          <a:prstGeom prst="roundRect">
            <a:avLst>
              <a:gd name="adj" fmla="val 15385"/>
            </a:avLst>
          </a:prstGeom>
          <a:solidFill>
            <a:srgbClr val="2364B4"/>
          </a:solidFill>
          <a:ln/>
        </p:spPr>
      </p:sp>
      <p:sp>
        <p:nvSpPr>
          <p:cNvPr id="14" name="Text 11"/>
          <p:cNvSpPr txBox="1"/>
          <p:nvPr/>
        </p:nvSpPr>
        <p:spPr>
          <a:xfrm>
            <a:off x="548640" y="2084832"/>
            <a:ext cx="2194560" cy="23774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All Pumps</a:t>
            </a:r>
            <a:endParaRPr lang="en-US" sz="1050" dirty="0"/>
          </a:p>
        </p:txBody>
      </p:sp>
      <p:sp>
        <p:nvSpPr>
          <p:cNvPr id="15" name="Shape 12"/>
          <p:cNvSpPr/>
          <p:nvPr/>
        </p:nvSpPr>
        <p:spPr>
          <a:xfrm>
            <a:off x="548640" y="2359152"/>
            <a:ext cx="2194560" cy="237744"/>
          </a:xfrm>
          <a:prstGeom prst="roundRect">
            <a:avLst>
              <a:gd name="adj" fmla="val 15385"/>
            </a:avLst>
          </a:prstGeom>
          <a:solidFill>
            <a:srgbClr val="2364B4"/>
          </a:solidFill>
          <a:ln/>
        </p:spPr>
      </p:sp>
      <p:sp>
        <p:nvSpPr>
          <p:cNvPr id="16" name="Text 13"/>
          <p:cNvSpPr txBox="1"/>
          <p:nvPr/>
        </p:nvSpPr>
        <p:spPr>
          <a:xfrm>
            <a:off x="548640" y="2359152"/>
            <a:ext cx="2194560" cy="23774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Queue Status</a:t>
            </a:r>
            <a:endParaRPr lang="en-US" sz="1050" dirty="0"/>
          </a:p>
        </p:txBody>
      </p:sp>
      <p:sp>
        <p:nvSpPr>
          <p:cNvPr id="17" name="Shape 14"/>
          <p:cNvSpPr/>
          <p:nvPr/>
        </p:nvSpPr>
        <p:spPr>
          <a:xfrm>
            <a:off x="548640" y="2633472"/>
            <a:ext cx="2194560" cy="237744"/>
          </a:xfrm>
          <a:prstGeom prst="roundRect">
            <a:avLst>
              <a:gd name="adj" fmla="val 15385"/>
            </a:avLst>
          </a:prstGeom>
          <a:solidFill>
            <a:srgbClr val="2364B4"/>
          </a:solidFill>
          <a:ln/>
        </p:spPr>
      </p:sp>
      <p:sp>
        <p:nvSpPr>
          <p:cNvPr id="18" name="Text 15"/>
          <p:cNvSpPr txBox="1"/>
          <p:nvPr/>
        </p:nvSpPr>
        <p:spPr>
          <a:xfrm>
            <a:off x="548640" y="2633472"/>
            <a:ext cx="2194560" cy="23774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Book Fuel</a:t>
            </a:r>
            <a:endParaRPr lang="en-US" sz="1050" dirty="0"/>
          </a:p>
        </p:txBody>
      </p:sp>
      <p:sp>
        <p:nvSpPr>
          <p:cNvPr id="19" name="Shape 16"/>
          <p:cNvSpPr/>
          <p:nvPr/>
        </p:nvSpPr>
        <p:spPr>
          <a:xfrm>
            <a:off x="548640" y="2907792"/>
            <a:ext cx="2194560" cy="237744"/>
          </a:xfrm>
          <a:prstGeom prst="roundRect">
            <a:avLst>
              <a:gd name="adj" fmla="val 15385"/>
            </a:avLst>
          </a:prstGeom>
          <a:solidFill>
            <a:srgbClr val="2364B4"/>
          </a:solidFill>
          <a:ln/>
        </p:spPr>
      </p:sp>
      <p:sp>
        <p:nvSpPr>
          <p:cNvPr id="20" name="Text 17"/>
          <p:cNvSpPr txBox="1"/>
          <p:nvPr/>
        </p:nvSpPr>
        <p:spPr>
          <a:xfrm>
            <a:off x="548640" y="2907792"/>
            <a:ext cx="2194560" cy="23774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My Bookings</a:t>
            </a:r>
            <a:endParaRPr lang="en-US" sz="1050" dirty="0"/>
          </a:p>
        </p:txBody>
      </p:sp>
      <p:sp>
        <p:nvSpPr>
          <p:cNvPr id="21" name="Shape 18"/>
          <p:cNvSpPr/>
          <p:nvPr/>
        </p:nvSpPr>
        <p:spPr>
          <a:xfrm>
            <a:off x="548640" y="3182112"/>
            <a:ext cx="2194560" cy="237744"/>
          </a:xfrm>
          <a:prstGeom prst="roundRect">
            <a:avLst>
              <a:gd name="adj" fmla="val 15385"/>
            </a:avLst>
          </a:prstGeom>
          <a:solidFill>
            <a:srgbClr val="2364B4"/>
          </a:solidFill>
          <a:ln/>
        </p:spPr>
      </p:sp>
      <p:sp>
        <p:nvSpPr>
          <p:cNvPr id="22" name="Text 19"/>
          <p:cNvSpPr txBox="1"/>
          <p:nvPr/>
        </p:nvSpPr>
        <p:spPr>
          <a:xfrm>
            <a:off x="548640" y="3182112"/>
            <a:ext cx="2194560" cy="23774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Cancel Booking</a:t>
            </a:r>
            <a:endParaRPr lang="en-US" sz="1050" dirty="0"/>
          </a:p>
        </p:txBody>
      </p:sp>
      <p:sp>
        <p:nvSpPr>
          <p:cNvPr id="23" name="Shape 20"/>
          <p:cNvSpPr/>
          <p:nvPr/>
        </p:nvSpPr>
        <p:spPr>
          <a:xfrm>
            <a:off x="548640" y="3456432"/>
            <a:ext cx="2194560" cy="237744"/>
          </a:xfrm>
          <a:prstGeom prst="roundRect">
            <a:avLst>
              <a:gd name="adj" fmla="val 15385"/>
            </a:avLst>
          </a:prstGeom>
          <a:solidFill>
            <a:srgbClr val="2364B4"/>
          </a:solidFill>
          <a:ln/>
        </p:spPr>
      </p:sp>
      <p:sp>
        <p:nvSpPr>
          <p:cNvPr id="24" name="Text 21"/>
          <p:cNvSpPr txBox="1"/>
          <p:nvPr/>
        </p:nvSpPr>
        <p:spPr>
          <a:xfrm>
            <a:off x="548640" y="3456432"/>
            <a:ext cx="2194560" cy="23774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Nearest Pump</a:t>
            </a:r>
            <a:endParaRPr lang="en-US" sz="1050" dirty="0"/>
          </a:p>
        </p:txBody>
      </p:sp>
      <p:sp>
        <p:nvSpPr>
          <p:cNvPr id="25" name="Shape 22"/>
          <p:cNvSpPr/>
          <p:nvPr/>
        </p:nvSpPr>
        <p:spPr>
          <a:xfrm>
            <a:off x="548640" y="3730752"/>
            <a:ext cx="2194560" cy="237744"/>
          </a:xfrm>
          <a:prstGeom prst="roundRect">
            <a:avLst>
              <a:gd name="adj" fmla="val 15385"/>
            </a:avLst>
          </a:prstGeom>
          <a:solidFill>
            <a:srgbClr val="2364B4"/>
          </a:solidFill>
          <a:ln/>
        </p:spPr>
      </p:sp>
      <p:sp>
        <p:nvSpPr>
          <p:cNvPr id="26" name="Text 23"/>
          <p:cNvSpPr txBox="1"/>
          <p:nvPr/>
        </p:nvSpPr>
        <p:spPr>
          <a:xfrm>
            <a:off x="548640" y="3730752"/>
            <a:ext cx="2194560" cy="23774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Sales History</a:t>
            </a:r>
            <a:endParaRPr lang="en-US" sz="1050" dirty="0"/>
          </a:p>
        </p:txBody>
      </p:sp>
      <p:sp>
        <p:nvSpPr>
          <p:cNvPr id="27" name="Shape 24"/>
          <p:cNvSpPr/>
          <p:nvPr/>
        </p:nvSpPr>
        <p:spPr>
          <a:xfrm>
            <a:off x="548640" y="4005072"/>
            <a:ext cx="2194560" cy="237744"/>
          </a:xfrm>
          <a:prstGeom prst="roundRect">
            <a:avLst>
              <a:gd name="adj" fmla="val 15385"/>
            </a:avLst>
          </a:prstGeom>
          <a:solidFill>
            <a:srgbClr val="2364B4"/>
          </a:solidFill>
          <a:ln/>
        </p:spPr>
      </p:sp>
      <p:sp>
        <p:nvSpPr>
          <p:cNvPr id="28" name="Text 25"/>
          <p:cNvSpPr txBox="1"/>
          <p:nvPr/>
        </p:nvSpPr>
        <p:spPr>
          <a:xfrm>
            <a:off x="548640" y="4005072"/>
            <a:ext cx="2194560" cy="23774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Rate Service</a:t>
            </a:r>
            <a:endParaRPr lang="en-US" sz="1050" dirty="0"/>
          </a:p>
        </p:txBody>
      </p:sp>
      <p:sp>
        <p:nvSpPr>
          <p:cNvPr id="29" name="Shape 26"/>
          <p:cNvSpPr/>
          <p:nvPr/>
        </p:nvSpPr>
        <p:spPr>
          <a:xfrm>
            <a:off x="548640" y="4279392"/>
            <a:ext cx="2194560" cy="237744"/>
          </a:xfrm>
          <a:prstGeom prst="roundRect">
            <a:avLst>
              <a:gd name="adj" fmla="val 15385"/>
            </a:avLst>
          </a:prstGeom>
          <a:solidFill>
            <a:srgbClr val="2364B4"/>
          </a:solidFill>
          <a:ln/>
        </p:spPr>
      </p:sp>
      <p:sp>
        <p:nvSpPr>
          <p:cNvPr id="30" name="Text 27"/>
          <p:cNvSpPr txBox="1"/>
          <p:nvPr/>
        </p:nvSpPr>
        <p:spPr>
          <a:xfrm>
            <a:off x="548640" y="4279392"/>
            <a:ext cx="2194560" cy="23774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Back to Home</a:t>
            </a:r>
            <a:endParaRPr lang="en-US" sz="1050" dirty="0"/>
          </a:p>
        </p:txBody>
      </p:sp>
      <p:sp>
        <p:nvSpPr>
          <p:cNvPr id="31" name="Shape 28"/>
          <p:cNvSpPr/>
          <p:nvPr/>
        </p:nvSpPr>
        <p:spPr>
          <a:xfrm>
            <a:off x="3108960" y="1188720"/>
            <a:ext cx="5577840" cy="1051560"/>
          </a:xfrm>
          <a:prstGeom prst="roundRect">
            <a:avLst>
              <a:gd name="adj" fmla="val 8696"/>
            </a:avLst>
          </a:prstGeom>
          <a:solidFill>
            <a:srgbClr val="F3F7FB"/>
          </a:solidFill>
          <a:ln/>
          <a:effectLst>
            <a:outerShdw blurRad="76200" dist="25400" dir="5400000" algn="bl" rotWithShape="0">
              <a:srgbClr val="000000">
                <a:alpha val="10000"/>
              </a:srgbClr>
            </a:outerShdw>
          </a:effectLst>
        </p:spPr>
      </p:sp>
      <p:sp>
        <p:nvSpPr>
          <p:cNvPr id="32" name="Shape 29"/>
          <p:cNvSpPr/>
          <p:nvPr/>
        </p:nvSpPr>
        <p:spPr>
          <a:xfrm>
            <a:off x="3246120" y="1325880"/>
            <a:ext cx="384048" cy="384048"/>
          </a:xfrm>
          <a:prstGeom prst="ellipse">
            <a:avLst/>
          </a:prstGeom>
          <a:solidFill>
            <a:srgbClr val="0B1F3A"/>
          </a:solidFill>
          <a:ln/>
        </p:spPr>
      </p:sp>
      <p:pic>
        <p:nvPicPr>
          <p:cNvPr id="33" name="Image 1" descr="preencoded.png"/>
          <p:cNvPicPr>
            <a:picLocks noChangeAspect="1"/>
          </p:cNvPicPr>
          <p:nvPr/>
        </p:nvPicPr>
        <p:blipFill>
          <a:blip r:embed="rId4"/>
          <a:stretch>
            <a:fillRect/>
          </a:stretch>
        </p:blipFill>
        <p:spPr>
          <a:xfrm>
            <a:off x="3342132" y="1421892"/>
            <a:ext cx="192024" cy="192024"/>
          </a:xfrm>
          <a:prstGeom prst="rect">
            <a:avLst/>
          </a:prstGeom>
        </p:spPr>
      </p:pic>
      <p:sp>
        <p:nvSpPr>
          <p:cNvPr id="34" name="Text 30"/>
          <p:cNvSpPr txBox="1"/>
          <p:nvPr/>
        </p:nvSpPr>
        <p:spPr>
          <a:xfrm>
            <a:off x="3246120" y="1755648"/>
            <a:ext cx="1463040" cy="274320"/>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Find pumps</a:t>
            </a:r>
            <a:endParaRPr lang="en-US" sz="1250" dirty="0"/>
          </a:p>
        </p:txBody>
      </p:sp>
      <p:sp>
        <p:nvSpPr>
          <p:cNvPr id="35" name="Text 31"/>
          <p:cNvSpPr txBox="1"/>
          <p:nvPr/>
        </p:nvSpPr>
        <p:spPr>
          <a:xfrm>
            <a:off x="4846320" y="1261872"/>
            <a:ext cx="3703320" cy="905256"/>
          </a:xfrm>
          <a:prstGeom prst="rect">
            <a:avLst/>
          </a:prstGeom>
          <a:noFill/>
          <a:ln/>
        </p:spPr>
        <p:txBody>
          <a:bodyPr wrap="square" lIns="0" tIns="0" rIns="0" bIns="0" rtlCol="0" anchor="ctr"/>
          <a:lstStyle/>
          <a:p>
            <a:pPr marL="0" indent="0">
              <a:spcAft>
                <a:spcPts val="100"/>
              </a:spcAft>
              <a:buNone/>
            </a:pPr>
            <a:r>
              <a:rPr lang="en-US" sz="1200" b="1" dirty="0">
                <a:solidFill>
                  <a:srgbClr val="0B1F3A"/>
                </a:solidFill>
                <a:latin typeface="Calibri" pitchFamily="34" charset="0"/>
                <a:ea typeface="Calibri" pitchFamily="34" charset="-122"/>
                <a:cs typeface="Calibri" pitchFamily="34" charset="-120"/>
              </a:rPr>
              <a:t>Select Zone: </a:t>
            </a:r>
            <a:r>
              <a:rPr lang="en-US" sz="1200" dirty="0">
                <a:solidFill>
                  <a:srgbClr val="0B1F3A"/>
                </a:solidFill>
                <a:latin typeface="Calibri" pitchFamily="34" charset="0"/>
                <a:ea typeface="Calibri" pitchFamily="34" charset="-122"/>
                <a:cs typeface="Calibri" pitchFamily="34" charset="-120"/>
              </a:rPr>
              <a:t>Mirpur, Gulshan or Nabisco</a:t>
            </a:r>
            <a:endParaRPr lang="en-US" sz="1200" dirty="0"/>
          </a:p>
          <a:p>
            <a:pPr marL="0" indent="0">
              <a:spcAft>
                <a:spcPts val="100"/>
              </a:spcAft>
              <a:buNone/>
            </a:pPr>
            <a:r>
              <a:rPr lang="en-US" sz="1200" b="1" dirty="0">
                <a:solidFill>
                  <a:srgbClr val="0B1F3A"/>
                </a:solidFill>
                <a:latin typeface="Calibri" pitchFamily="34" charset="0"/>
                <a:ea typeface="Calibri" pitchFamily="34" charset="-122"/>
                <a:cs typeface="Calibri" pitchFamily="34" charset="-120"/>
              </a:rPr>
              <a:t>Search Pump: </a:t>
            </a:r>
            <a:r>
              <a:rPr lang="en-US" sz="1200" dirty="0">
                <a:solidFill>
                  <a:srgbClr val="0B1F3A"/>
                </a:solidFill>
                <a:latin typeface="Calibri" pitchFamily="34" charset="0"/>
                <a:ea typeface="Calibri" pitchFamily="34" charset="-122"/>
                <a:cs typeface="Calibri" pitchFamily="34" charset="-120"/>
              </a:rPr>
              <a:t>find a pump by name</a:t>
            </a:r>
            <a:endParaRPr lang="en-US" sz="1200" dirty="0"/>
          </a:p>
          <a:p>
            <a:pPr marL="0" indent="0">
              <a:spcAft>
                <a:spcPts val="100"/>
              </a:spcAft>
              <a:buNone/>
            </a:pPr>
            <a:r>
              <a:rPr lang="en-US" sz="1200" b="1" dirty="0">
                <a:solidFill>
                  <a:srgbClr val="0B1F3A"/>
                </a:solidFill>
                <a:latin typeface="Calibri" pitchFamily="34" charset="0"/>
                <a:ea typeface="Calibri" pitchFamily="34" charset="-122"/>
                <a:cs typeface="Calibri" pitchFamily="34" charset="-120"/>
              </a:rPr>
              <a:t>Open Pumps / All Pumps: </a:t>
            </a:r>
            <a:r>
              <a:rPr lang="en-US" sz="1200" dirty="0">
                <a:solidFill>
                  <a:srgbClr val="0B1F3A"/>
                </a:solidFill>
                <a:latin typeface="Calibri" pitchFamily="34" charset="0"/>
                <a:ea typeface="Calibri" pitchFamily="34" charset="-122"/>
                <a:cs typeface="Calibri" pitchFamily="34" charset="-120"/>
              </a:rPr>
              <a:t>tables with status &amp; fuel</a:t>
            </a:r>
            <a:endParaRPr lang="en-US" sz="1200" dirty="0"/>
          </a:p>
          <a:p>
            <a:pPr marL="0" indent="0">
              <a:spcAft>
                <a:spcPts val="100"/>
              </a:spcAft>
              <a:buNone/>
            </a:pPr>
            <a:r>
              <a:rPr lang="en-US" sz="1200" b="1" dirty="0">
                <a:solidFill>
                  <a:srgbClr val="0B1F3A"/>
                </a:solidFill>
                <a:latin typeface="Calibri" pitchFamily="34" charset="0"/>
                <a:ea typeface="Calibri" pitchFamily="34" charset="-122"/>
                <a:cs typeface="Calibri" pitchFamily="34" charset="-120"/>
              </a:rPr>
              <a:t>Nearest Pump: </a:t>
            </a:r>
            <a:r>
              <a:rPr lang="en-US" sz="1200" dirty="0">
                <a:solidFill>
                  <a:srgbClr val="0B1F3A"/>
                </a:solidFill>
                <a:latin typeface="Calibri" pitchFamily="34" charset="0"/>
                <a:ea typeface="Calibri" pitchFamily="34" charset="-122"/>
                <a:cs typeface="Calibri" pitchFamily="34" charset="-120"/>
              </a:rPr>
              <a:t>first open pump in your zone</a:t>
            </a:r>
            <a:endParaRPr lang="en-US" sz="1200" dirty="0"/>
          </a:p>
        </p:txBody>
      </p:sp>
      <p:sp>
        <p:nvSpPr>
          <p:cNvPr id="36" name="Shape 32"/>
          <p:cNvSpPr/>
          <p:nvPr/>
        </p:nvSpPr>
        <p:spPr>
          <a:xfrm>
            <a:off x="3108960" y="2350008"/>
            <a:ext cx="5577840" cy="1051560"/>
          </a:xfrm>
          <a:prstGeom prst="roundRect">
            <a:avLst>
              <a:gd name="adj" fmla="val 8696"/>
            </a:avLst>
          </a:prstGeom>
          <a:solidFill>
            <a:srgbClr val="F3F7FB"/>
          </a:solidFill>
          <a:ln/>
          <a:effectLst>
            <a:outerShdw blurRad="76200" dist="25400" dir="5400000" algn="bl" rotWithShape="0">
              <a:srgbClr val="000000">
                <a:alpha val="10000"/>
              </a:srgbClr>
            </a:outerShdw>
          </a:effectLst>
        </p:spPr>
      </p:sp>
      <p:sp>
        <p:nvSpPr>
          <p:cNvPr id="37" name="Shape 33"/>
          <p:cNvSpPr/>
          <p:nvPr/>
        </p:nvSpPr>
        <p:spPr>
          <a:xfrm>
            <a:off x="3246120" y="2487168"/>
            <a:ext cx="384048" cy="384048"/>
          </a:xfrm>
          <a:prstGeom prst="ellipse">
            <a:avLst/>
          </a:prstGeom>
          <a:solidFill>
            <a:srgbClr val="0B1F3A"/>
          </a:solidFill>
          <a:ln/>
        </p:spPr>
      </p:sp>
      <p:pic>
        <p:nvPicPr>
          <p:cNvPr id="38" name="Image 2" descr="preencoded.png"/>
          <p:cNvPicPr>
            <a:picLocks noChangeAspect="1"/>
          </p:cNvPicPr>
          <p:nvPr/>
        </p:nvPicPr>
        <p:blipFill>
          <a:blip r:embed="rId5"/>
          <a:stretch>
            <a:fillRect/>
          </a:stretch>
        </p:blipFill>
        <p:spPr>
          <a:xfrm>
            <a:off x="3342132" y="2583180"/>
            <a:ext cx="192024" cy="192024"/>
          </a:xfrm>
          <a:prstGeom prst="rect">
            <a:avLst/>
          </a:prstGeom>
        </p:spPr>
      </p:pic>
      <p:sp>
        <p:nvSpPr>
          <p:cNvPr id="39" name="Text 34"/>
          <p:cNvSpPr txBox="1"/>
          <p:nvPr/>
        </p:nvSpPr>
        <p:spPr>
          <a:xfrm>
            <a:off x="3246120" y="2916936"/>
            <a:ext cx="1463040" cy="274320"/>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Queue &amp; booking</a:t>
            </a:r>
            <a:endParaRPr lang="en-US" sz="1250" dirty="0"/>
          </a:p>
        </p:txBody>
      </p:sp>
      <p:sp>
        <p:nvSpPr>
          <p:cNvPr id="40" name="Text 35"/>
          <p:cNvSpPr txBox="1"/>
          <p:nvPr/>
        </p:nvSpPr>
        <p:spPr>
          <a:xfrm>
            <a:off x="4846320" y="2423160"/>
            <a:ext cx="3703320" cy="905256"/>
          </a:xfrm>
          <a:prstGeom prst="rect">
            <a:avLst/>
          </a:prstGeom>
          <a:noFill/>
          <a:ln/>
        </p:spPr>
        <p:txBody>
          <a:bodyPr wrap="square" lIns="0" tIns="0" rIns="0" bIns="0" rtlCol="0" anchor="ctr"/>
          <a:lstStyle/>
          <a:p>
            <a:pPr marL="0" indent="0">
              <a:spcAft>
                <a:spcPts val="100"/>
              </a:spcAft>
              <a:buNone/>
            </a:pPr>
            <a:r>
              <a:rPr lang="en-US" sz="1200" b="1" dirty="0">
                <a:solidFill>
                  <a:srgbClr val="0B1F3A"/>
                </a:solidFill>
                <a:latin typeface="Calibri" pitchFamily="34" charset="0"/>
                <a:ea typeface="Calibri" pitchFamily="34" charset="-122"/>
                <a:cs typeface="Calibri" pitchFamily="34" charset="-120"/>
              </a:rPr>
              <a:t>Queue Status: </a:t>
            </a:r>
            <a:r>
              <a:rPr lang="en-US" sz="1200" dirty="0">
                <a:solidFill>
                  <a:srgbClr val="0B1F3A"/>
                </a:solidFill>
                <a:latin typeface="Calibri" pitchFamily="34" charset="0"/>
                <a:ea typeface="Calibri" pitchFamily="34" charset="-122"/>
                <a:cs typeface="Calibri" pitchFamily="34" charset="-120"/>
              </a:rPr>
              <a:t>vehicles waiting (max 15)</a:t>
            </a:r>
            <a:endParaRPr lang="en-US" sz="1200" dirty="0"/>
          </a:p>
          <a:p>
            <a:pPr marL="0" indent="0">
              <a:spcAft>
                <a:spcPts val="100"/>
              </a:spcAft>
              <a:buNone/>
            </a:pPr>
            <a:r>
              <a:rPr lang="en-US" sz="1200" b="1" dirty="0">
                <a:solidFill>
                  <a:srgbClr val="0B1F3A"/>
                </a:solidFill>
                <a:latin typeface="Calibri" pitchFamily="34" charset="0"/>
                <a:ea typeface="Calibri" pitchFamily="34" charset="-122"/>
                <a:cs typeface="Calibri" pitchFamily="34" charset="-120"/>
              </a:rPr>
              <a:t>Book Fuel: </a:t>
            </a:r>
            <a:r>
              <a:rPr lang="en-US" sz="1200" dirty="0">
                <a:solidFill>
                  <a:srgbClr val="0B1F3A"/>
                </a:solidFill>
                <a:latin typeface="Calibri" pitchFamily="34" charset="0"/>
                <a:ea typeface="Calibri" pitchFamily="34" charset="-122"/>
                <a:cs typeface="Calibri" pitchFamily="34" charset="-120"/>
              </a:rPr>
              <a:t>gives queue number + estimated time</a:t>
            </a:r>
            <a:endParaRPr lang="en-US" sz="1200" dirty="0"/>
          </a:p>
          <a:p>
            <a:pPr marL="0" indent="0">
              <a:spcAft>
                <a:spcPts val="100"/>
              </a:spcAft>
              <a:buNone/>
            </a:pPr>
            <a:r>
              <a:rPr lang="en-US" sz="1200" b="1" dirty="0">
                <a:solidFill>
                  <a:srgbClr val="0B1F3A"/>
                </a:solidFill>
                <a:latin typeface="Calibri" pitchFamily="34" charset="0"/>
                <a:ea typeface="Calibri" pitchFamily="34" charset="-122"/>
                <a:cs typeface="Calibri" pitchFamily="34" charset="-120"/>
              </a:rPr>
              <a:t>My Bookings: </a:t>
            </a:r>
            <a:r>
              <a:rPr lang="en-US" sz="1200" dirty="0">
                <a:solidFill>
                  <a:srgbClr val="0B1F3A"/>
                </a:solidFill>
                <a:latin typeface="Calibri" pitchFamily="34" charset="0"/>
                <a:ea typeface="Calibri" pitchFamily="34" charset="-122"/>
                <a:cs typeface="Calibri" pitchFamily="34" charset="-120"/>
              </a:rPr>
              <a:t>booking table</a:t>
            </a:r>
            <a:endParaRPr lang="en-US" sz="1200" dirty="0"/>
          </a:p>
          <a:p>
            <a:pPr marL="0" indent="0">
              <a:spcAft>
                <a:spcPts val="100"/>
              </a:spcAft>
              <a:buNone/>
            </a:pPr>
            <a:r>
              <a:rPr lang="en-US" sz="1200" b="1" dirty="0">
                <a:solidFill>
                  <a:srgbClr val="0B1F3A"/>
                </a:solidFill>
                <a:latin typeface="Calibri" pitchFamily="34" charset="0"/>
                <a:ea typeface="Calibri" pitchFamily="34" charset="-122"/>
                <a:cs typeface="Calibri" pitchFamily="34" charset="-120"/>
              </a:rPr>
              <a:t>Cancel Booking: </a:t>
            </a:r>
            <a:r>
              <a:rPr lang="en-US" sz="1200" dirty="0">
                <a:solidFill>
                  <a:srgbClr val="0B1F3A"/>
                </a:solidFill>
                <a:latin typeface="Calibri" pitchFamily="34" charset="0"/>
                <a:ea typeface="Calibri" pitchFamily="34" charset="-122"/>
                <a:cs typeface="Calibri" pitchFamily="34" charset="-120"/>
              </a:rPr>
              <a:t>by vehicle number</a:t>
            </a:r>
            <a:endParaRPr lang="en-US" sz="1200" dirty="0"/>
          </a:p>
        </p:txBody>
      </p:sp>
      <p:sp>
        <p:nvSpPr>
          <p:cNvPr id="41" name="Shape 36"/>
          <p:cNvSpPr/>
          <p:nvPr/>
        </p:nvSpPr>
        <p:spPr>
          <a:xfrm>
            <a:off x="3108960" y="3511296"/>
            <a:ext cx="5577840" cy="914400"/>
          </a:xfrm>
          <a:prstGeom prst="roundRect">
            <a:avLst>
              <a:gd name="adj" fmla="val 10000"/>
            </a:avLst>
          </a:prstGeom>
          <a:solidFill>
            <a:srgbClr val="F3F7FB"/>
          </a:solidFill>
          <a:ln/>
          <a:effectLst>
            <a:outerShdw blurRad="76200" dist="25400" dir="5400000" algn="bl" rotWithShape="0">
              <a:srgbClr val="000000">
                <a:alpha val="10000"/>
              </a:srgbClr>
            </a:outerShdw>
          </a:effectLst>
        </p:spPr>
      </p:sp>
      <p:sp>
        <p:nvSpPr>
          <p:cNvPr id="42" name="Shape 37"/>
          <p:cNvSpPr/>
          <p:nvPr/>
        </p:nvSpPr>
        <p:spPr>
          <a:xfrm>
            <a:off x="3246120" y="3648456"/>
            <a:ext cx="384048" cy="384048"/>
          </a:xfrm>
          <a:prstGeom prst="ellipse">
            <a:avLst/>
          </a:prstGeom>
          <a:solidFill>
            <a:srgbClr val="0B1F3A"/>
          </a:solidFill>
          <a:ln/>
        </p:spPr>
      </p:sp>
      <p:pic>
        <p:nvPicPr>
          <p:cNvPr id="43" name="Image 3" descr="preencoded.png"/>
          <p:cNvPicPr>
            <a:picLocks noChangeAspect="1"/>
          </p:cNvPicPr>
          <p:nvPr/>
        </p:nvPicPr>
        <p:blipFill>
          <a:blip r:embed="rId6"/>
          <a:stretch>
            <a:fillRect/>
          </a:stretch>
        </p:blipFill>
        <p:spPr>
          <a:xfrm>
            <a:off x="3342132" y="3744468"/>
            <a:ext cx="192024" cy="192024"/>
          </a:xfrm>
          <a:prstGeom prst="rect">
            <a:avLst/>
          </a:prstGeom>
        </p:spPr>
      </p:pic>
      <p:sp>
        <p:nvSpPr>
          <p:cNvPr id="44" name="Text 38"/>
          <p:cNvSpPr txBox="1"/>
          <p:nvPr/>
        </p:nvSpPr>
        <p:spPr>
          <a:xfrm>
            <a:off x="3246120" y="4078224"/>
            <a:ext cx="1463040" cy="274320"/>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Sales &amp; feedback</a:t>
            </a:r>
            <a:endParaRPr lang="en-US" sz="1250" dirty="0"/>
          </a:p>
        </p:txBody>
      </p:sp>
      <p:sp>
        <p:nvSpPr>
          <p:cNvPr id="45" name="Text 39"/>
          <p:cNvSpPr txBox="1"/>
          <p:nvPr/>
        </p:nvSpPr>
        <p:spPr>
          <a:xfrm>
            <a:off x="4846320" y="3584448"/>
            <a:ext cx="3703320" cy="768096"/>
          </a:xfrm>
          <a:prstGeom prst="rect">
            <a:avLst/>
          </a:prstGeom>
          <a:noFill/>
          <a:ln/>
        </p:spPr>
        <p:txBody>
          <a:bodyPr wrap="square" lIns="0" tIns="0" rIns="0" bIns="0" rtlCol="0" anchor="ctr"/>
          <a:lstStyle/>
          <a:p>
            <a:pPr marL="0" indent="0">
              <a:spcAft>
                <a:spcPts val="100"/>
              </a:spcAft>
              <a:buNone/>
            </a:pPr>
            <a:r>
              <a:rPr lang="en-US" sz="1200" b="1" dirty="0">
                <a:solidFill>
                  <a:srgbClr val="0B1F3A"/>
                </a:solidFill>
                <a:latin typeface="Calibri" pitchFamily="34" charset="0"/>
                <a:ea typeface="Calibri" pitchFamily="34" charset="-122"/>
                <a:cs typeface="Calibri" pitchFamily="34" charset="-120"/>
              </a:rPr>
              <a:t>Sales History: </a:t>
            </a:r>
            <a:r>
              <a:rPr lang="en-US" sz="1200" dirty="0">
                <a:solidFill>
                  <a:srgbClr val="0B1F3A"/>
                </a:solidFill>
                <a:latin typeface="Calibri" pitchFamily="34" charset="0"/>
                <a:ea typeface="Calibri" pitchFamily="34" charset="-122"/>
                <a:cs typeface="Calibri" pitchFamily="34" charset="-120"/>
              </a:rPr>
              <a:t>last 5 pumps, Good / Normal Sales</a:t>
            </a:r>
            <a:endParaRPr lang="en-US" sz="1200" dirty="0"/>
          </a:p>
          <a:p>
            <a:pPr marL="0" indent="0">
              <a:spcAft>
                <a:spcPts val="100"/>
              </a:spcAft>
              <a:buNone/>
            </a:pPr>
            <a:r>
              <a:rPr lang="en-US" sz="1200" b="1" dirty="0">
                <a:solidFill>
                  <a:srgbClr val="0B1F3A"/>
                </a:solidFill>
                <a:latin typeface="Calibri" pitchFamily="34" charset="0"/>
                <a:ea typeface="Calibri" pitchFamily="34" charset="-122"/>
                <a:cs typeface="Calibri" pitchFamily="34" charset="-120"/>
              </a:rPr>
              <a:t>Rate Service: </a:t>
            </a:r>
            <a:r>
              <a:rPr lang="en-US" sz="1200" dirty="0">
                <a:solidFill>
                  <a:srgbClr val="0B1F3A"/>
                </a:solidFill>
                <a:latin typeface="Calibri" pitchFamily="34" charset="0"/>
                <a:ea typeface="Calibri" pitchFamily="34" charset="-122"/>
                <a:cs typeface="Calibri" pitchFamily="34" charset="-120"/>
              </a:rPr>
              <a:t>1–5 rating, comment if 2 or less</a:t>
            </a:r>
            <a:endParaRPr lang="en-US" sz="1200" dirty="0"/>
          </a:p>
        </p:txBody>
      </p:sp>
      <p:sp>
        <p:nvSpPr>
          <p:cNvPr id="46" name="Text 40"/>
          <p:cNvSpPr txBox="1"/>
          <p:nvPr/>
        </p:nvSpPr>
        <p:spPr>
          <a:xfrm>
            <a:off x="457200" y="4773168"/>
            <a:ext cx="4572000" cy="201168"/>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Smart Fuel Pump Management System</a:t>
            </a:r>
            <a:endParaRPr lang="en-US" sz="1000" dirty="0"/>
          </a:p>
        </p:txBody>
      </p:sp>
      <p:sp>
        <p:nvSpPr>
          <p:cNvPr id="47" name="Text 41"/>
          <p:cNvSpPr txBox="1"/>
          <p:nvPr/>
        </p:nvSpPr>
        <p:spPr>
          <a:xfrm>
            <a:off x="7772400" y="4773168"/>
            <a:ext cx="914400" cy="201168"/>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6400800" cy="228600"/>
          </a:xfrm>
          <a:prstGeom prst="rect">
            <a:avLst/>
          </a:prstGeom>
          <a:noFill/>
          <a:ln/>
        </p:spPr>
        <p:txBody>
          <a:bodyPr wrap="square" lIns="0" tIns="0" rIns="0" bIns="0" rtlCol="0" anchor="ctr"/>
          <a:lstStyle/>
          <a:p>
            <a:pPr marL="0" indent="0">
              <a:buNone/>
            </a:pPr>
            <a:r>
              <a:rPr lang="en-US" sz="1100" b="1" kern="0" spc="300" dirty="0">
                <a:solidFill>
                  <a:srgbClr val="0E7490"/>
                </a:solidFill>
                <a:latin typeface="Calibri" pitchFamily="34" charset="0"/>
                <a:ea typeface="Calibri" pitchFamily="34" charset="-122"/>
                <a:cs typeface="Calibri" pitchFamily="34" charset="-120"/>
              </a:rPr>
              <a:t>ADMIN</a:t>
            </a:r>
            <a:endParaRPr lang="en-US" sz="1100" dirty="0"/>
          </a:p>
        </p:txBody>
      </p:sp>
      <p:sp>
        <p:nvSpPr>
          <p:cNvPr id="3" name="Text 1"/>
          <p:cNvSpPr txBox="1"/>
          <p:nvPr/>
        </p:nvSpPr>
        <p:spPr>
          <a:xfrm>
            <a:off x="457200" y="502920"/>
            <a:ext cx="7498080" cy="548640"/>
          </a:xfrm>
          <a:prstGeom prst="rect">
            <a:avLst/>
          </a:prstGeom>
          <a:noFill/>
          <a:ln/>
        </p:spPr>
        <p:txBody>
          <a:bodyPr wrap="square" lIns="0" tIns="0" rIns="0" bIns="0" rtlCol="0" anchor="ctr"/>
          <a:lstStyle/>
          <a:p>
            <a:pPr marL="0" indent="0">
              <a:buNone/>
            </a:pPr>
            <a:r>
              <a:rPr lang="en-US" sz="3000" b="1" dirty="0">
                <a:solidFill>
                  <a:srgbClr val="0B1F3A"/>
                </a:solidFill>
                <a:latin typeface="Calibri" pitchFamily="34" charset="0"/>
                <a:ea typeface="Calibri" pitchFamily="34" charset="-122"/>
                <a:cs typeface="Calibri" pitchFamily="34" charset="-120"/>
              </a:rPr>
              <a:t>Admin Panel</a:t>
            </a:r>
            <a:endParaRPr lang="en-US" sz="3000" dirty="0"/>
          </a:p>
        </p:txBody>
      </p:sp>
      <p:sp>
        <p:nvSpPr>
          <p:cNvPr id="4" name="Shape 2"/>
          <p:cNvSpPr/>
          <p:nvPr/>
        </p:nvSpPr>
        <p:spPr>
          <a:xfrm>
            <a:off x="8229600" y="384048"/>
            <a:ext cx="457200" cy="457200"/>
          </a:xfrm>
          <a:prstGeom prst="ellipse">
            <a:avLst/>
          </a:prstGeom>
          <a:solidFill>
            <a:srgbClr val="0B1F3A"/>
          </a:solidFill>
          <a:ln/>
        </p:spPr>
      </p:sp>
      <p:pic>
        <p:nvPicPr>
          <p:cNvPr id="5" name="Image 0" descr="preencoded.png"/>
          <p:cNvPicPr>
            <a:picLocks noChangeAspect="1"/>
          </p:cNvPicPr>
          <p:nvPr/>
        </p:nvPicPr>
        <p:blipFill>
          <a:blip r:embed="rId3"/>
          <a:stretch>
            <a:fillRect/>
          </a:stretch>
        </p:blipFill>
        <p:spPr>
          <a:xfrm>
            <a:off x="8343900" y="498348"/>
            <a:ext cx="228600" cy="228600"/>
          </a:xfrm>
          <a:prstGeom prst="rect">
            <a:avLst/>
          </a:prstGeom>
        </p:spPr>
      </p:pic>
      <p:sp>
        <p:nvSpPr>
          <p:cNvPr id="6" name="Shape 3"/>
          <p:cNvSpPr/>
          <p:nvPr/>
        </p:nvSpPr>
        <p:spPr>
          <a:xfrm>
            <a:off x="457200" y="1234440"/>
            <a:ext cx="1885950" cy="1508760"/>
          </a:xfrm>
          <a:prstGeom prst="roundRect">
            <a:avLst>
              <a:gd name="adj" fmla="val 6061"/>
            </a:avLst>
          </a:prstGeom>
          <a:solidFill>
            <a:srgbClr val="F3F7FB"/>
          </a:solidFill>
          <a:ln/>
          <a:effectLst>
            <a:outerShdw blurRad="76200" dist="25400" dir="5400000" algn="bl" rotWithShape="0">
              <a:srgbClr val="000000">
                <a:alpha val="10000"/>
              </a:srgbClr>
            </a:outerShdw>
          </a:effectLst>
        </p:spPr>
      </p:sp>
      <p:sp>
        <p:nvSpPr>
          <p:cNvPr id="7" name="Shape 4"/>
          <p:cNvSpPr/>
          <p:nvPr/>
        </p:nvSpPr>
        <p:spPr>
          <a:xfrm>
            <a:off x="640080" y="1399032"/>
            <a:ext cx="457200" cy="457200"/>
          </a:xfrm>
          <a:prstGeom prst="ellipse">
            <a:avLst/>
          </a:prstGeom>
          <a:solidFill>
            <a:srgbClr val="0B1F3A"/>
          </a:solidFill>
          <a:ln/>
        </p:spPr>
      </p:sp>
      <p:pic>
        <p:nvPicPr>
          <p:cNvPr id="8" name="Image 1" descr="preencoded.png"/>
          <p:cNvPicPr>
            <a:picLocks noChangeAspect="1"/>
          </p:cNvPicPr>
          <p:nvPr/>
        </p:nvPicPr>
        <p:blipFill>
          <a:blip r:embed="rId4"/>
          <a:stretch>
            <a:fillRect/>
          </a:stretch>
        </p:blipFill>
        <p:spPr>
          <a:xfrm>
            <a:off x="754380" y="1513332"/>
            <a:ext cx="228600" cy="228600"/>
          </a:xfrm>
          <a:prstGeom prst="rect">
            <a:avLst/>
          </a:prstGeom>
        </p:spPr>
      </p:pic>
      <p:sp>
        <p:nvSpPr>
          <p:cNvPr id="9" name="Text 5"/>
          <p:cNvSpPr txBox="1"/>
          <p:nvPr/>
        </p:nvSpPr>
        <p:spPr>
          <a:xfrm>
            <a:off x="640080" y="1947672"/>
            <a:ext cx="1611630" cy="256032"/>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Register Pump</a:t>
            </a:r>
            <a:endParaRPr lang="en-US" sz="1300" dirty="0"/>
          </a:p>
        </p:txBody>
      </p:sp>
      <p:sp>
        <p:nvSpPr>
          <p:cNvPr id="10" name="Text 6"/>
          <p:cNvSpPr txBox="1"/>
          <p:nvPr/>
        </p:nvSpPr>
        <p:spPr>
          <a:xfrm>
            <a:off x="640080" y="2212848"/>
            <a:ext cx="1565910" cy="502920"/>
          </a:xfrm>
          <a:prstGeom prst="rect">
            <a:avLst/>
          </a:prstGeom>
          <a:noFill/>
          <a:ln/>
        </p:spPr>
        <p:txBody>
          <a:bodyPr wrap="square" lIns="0" tIns="0" rIns="0" bIns="0" rtlCol="0" anchor="t"/>
          <a:lstStyle/>
          <a:p>
            <a:pPr marL="0" indent="0">
              <a:buNone/>
            </a:pPr>
            <a:r>
              <a:rPr lang="en-US" sz="1050" dirty="0">
                <a:solidFill>
                  <a:srgbClr val="5B6B82"/>
                </a:solidFill>
                <a:latin typeface="Calibri" pitchFamily="34" charset="0"/>
                <a:ea typeface="Calibri" pitchFamily="34" charset="-122"/>
                <a:cs typeface="Calibri" pitchFamily="34" charset="-120"/>
              </a:rPr>
              <a:t>Add a new pump with its zone and fuel stock.</a:t>
            </a:r>
            <a:endParaRPr lang="en-US" sz="1050" dirty="0"/>
          </a:p>
        </p:txBody>
      </p:sp>
      <p:sp>
        <p:nvSpPr>
          <p:cNvPr id="11" name="Shape 7"/>
          <p:cNvSpPr/>
          <p:nvPr/>
        </p:nvSpPr>
        <p:spPr>
          <a:xfrm>
            <a:off x="2571750" y="1234440"/>
            <a:ext cx="1885950" cy="1508760"/>
          </a:xfrm>
          <a:prstGeom prst="roundRect">
            <a:avLst>
              <a:gd name="adj" fmla="val 6061"/>
            </a:avLst>
          </a:prstGeom>
          <a:solidFill>
            <a:srgbClr val="F3F7FB"/>
          </a:solidFill>
          <a:ln/>
          <a:effectLst>
            <a:outerShdw blurRad="76200" dist="25400" dir="5400000" algn="bl" rotWithShape="0">
              <a:srgbClr val="000000">
                <a:alpha val="10000"/>
              </a:srgbClr>
            </a:outerShdw>
          </a:effectLst>
        </p:spPr>
      </p:sp>
      <p:sp>
        <p:nvSpPr>
          <p:cNvPr id="12" name="Shape 8"/>
          <p:cNvSpPr/>
          <p:nvPr/>
        </p:nvSpPr>
        <p:spPr>
          <a:xfrm>
            <a:off x="2754630" y="1399032"/>
            <a:ext cx="457200" cy="457200"/>
          </a:xfrm>
          <a:prstGeom prst="ellipse">
            <a:avLst/>
          </a:prstGeom>
          <a:solidFill>
            <a:srgbClr val="0B1F3A"/>
          </a:solidFill>
          <a:ln/>
        </p:spPr>
      </p:sp>
      <p:pic>
        <p:nvPicPr>
          <p:cNvPr id="13" name="Image 2" descr="preencoded.png"/>
          <p:cNvPicPr>
            <a:picLocks noChangeAspect="1"/>
          </p:cNvPicPr>
          <p:nvPr/>
        </p:nvPicPr>
        <p:blipFill>
          <a:blip r:embed="rId5"/>
          <a:stretch>
            <a:fillRect/>
          </a:stretch>
        </p:blipFill>
        <p:spPr>
          <a:xfrm>
            <a:off x="2868930" y="1513332"/>
            <a:ext cx="228600" cy="228600"/>
          </a:xfrm>
          <a:prstGeom prst="rect">
            <a:avLst/>
          </a:prstGeom>
        </p:spPr>
      </p:pic>
      <p:sp>
        <p:nvSpPr>
          <p:cNvPr id="14" name="Text 9"/>
          <p:cNvSpPr txBox="1"/>
          <p:nvPr/>
        </p:nvSpPr>
        <p:spPr>
          <a:xfrm>
            <a:off x="2754630" y="1947672"/>
            <a:ext cx="1611630" cy="256032"/>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Remove Pump</a:t>
            </a:r>
            <a:endParaRPr lang="en-US" sz="1300" dirty="0"/>
          </a:p>
        </p:txBody>
      </p:sp>
      <p:sp>
        <p:nvSpPr>
          <p:cNvPr id="15" name="Text 10"/>
          <p:cNvSpPr txBox="1"/>
          <p:nvPr/>
        </p:nvSpPr>
        <p:spPr>
          <a:xfrm>
            <a:off x="2754630" y="2212848"/>
            <a:ext cx="1565910" cy="502920"/>
          </a:xfrm>
          <a:prstGeom prst="rect">
            <a:avLst/>
          </a:prstGeom>
          <a:noFill/>
          <a:ln/>
        </p:spPr>
        <p:txBody>
          <a:bodyPr wrap="square" lIns="0" tIns="0" rIns="0" bIns="0" rtlCol="0" anchor="t"/>
          <a:lstStyle/>
          <a:p>
            <a:pPr marL="0" indent="0">
              <a:buNone/>
            </a:pPr>
            <a:r>
              <a:rPr lang="en-US" sz="1050" dirty="0">
                <a:solidFill>
                  <a:srgbClr val="5B6B82"/>
                </a:solidFill>
                <a:latin typeface="Calibri" pitchFamily="34" charset="0"/>
                <a:ea typeface="Calibri" pitchFamily="34" charset="-122"/>
                <a:cs typeface="Calibri" pitchFamily="34" charset="-120"/>
              </a:rPr>
              <a:t>Type a pump name to delete it from the list.</a:t>
            </a:r>
            <a:endParaRPr lang="en-US" sz="1050" dirty="0"/>
          </a:p>
        </p:txBody>
      </p:sp>
      <p:sp>
        <p:nvSpPr>
          <p:cNvPr id="16" name="Shape 11"/>
          <p:cNvSpPr/>
          <p:nvPr/>
        </p:nvSpPr>
        <p:spPr>
          <a:xfrm>
            <a:off x="4686300" y="1234440"/>
            <a:ext cx="1885950" cy="1508760"/>
          </a:xfrm>
          <a:prstGeom prst="roundRect">
            <a:avLst>
              <a:gd name="adj" fmla="val 6061"/>
            </a:avLst>
          </a:prstGeom>
          <a:solidFill>
            <a:srgbClr val="F3F7FB"/>
          </a:solidFill>
          <a:ln/>
          <a:effectLst>
            <a:outerShdw blurRad="76200" dist="25400" dir="5400000" algn="bl" rotWithShape="0">
              <a:srgbClr val="000000">
                <a:alpha val="10000"/>
              </a:srgbClr>
            </a:outerShdw>
          </a:effectLst>
        </p:spPr>
      </p:sp>
      <p:sp>
        <p:nvSpPr>
          <p:cNvPr id="17" name="Shape 12"/>
          <p:cNvSpPr/>
          <p:nvPr/>
        </p:nvSpPr>
        <p:spPr>
          <a:xfrm>
            <a:off x="4869180" y="1399032"/>
            <a:ext cx="457200" cy="457200"/>
          </a:xfrm>
          <a:prstGeom prst="ellipse">
            <a:avLst/>
          </a:prstGeom>
          <a:solidFill>
            <a:srgbClr val="0B1F3A"/>
          </a:solidFill>
          <a:ln/>
        </p:spPr>
      </p:sp>
      <p:pic>
        <p:nvPicPr>
          <p:cNvPr id="18" name="Image 3" descr="preencoded.png"/>
          <p:cNvPicPr>
            <a:picLocks noChangeAspect="1"/>
          </p:cNvPicPr>
          <p:nvPr/>
        </p:nvPicPr>
        <p:blipFill>
          <a:blip r:embed="rId6"/>
          <a:stretch>
            <a:fillRect/>
          </a:stretch>
        </p:blipFill>
        <p:spPr>
          <a:xfrm>
            <a:off x="4983480" y="1513332"/>
            <a:ext cx="228600" cy="228600"/>
          </a:xfrm>
          <a:prstGeom prst="rect">
            <a:avLst/>
          </a:prstGeom>
        </p:spPr>
      </p:pic>
      <p:sp>
        <p:nvSpPr>
          <p:cNvPr id="19" name="Text 13"/>
          <p:cNvSpPr txBox="1"/>
          <p:nvPr/>
        </p:nvSpPr>
        <p:spPr>
          <a:xfrm>
            <a:off x="4869180" y="1947672"/>
            <a:ext cx="1611630" cy="256032"/>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View All Pumps</a:t>
            </a:r>
            <a:endParaRPr lang="en-US" sz="1300" dirty="0"/>
          </a:p>
        </p:txBody>
      </p:sp>
      <p:sp>
        <p:nvSpPr>
          <p:cNvPr id="20" name="Text 14"/>
          <p:cNvSpPr txBox="1"/>
          <p:nvPr/>
        </p:nvSpPr>
        <p:spPr>
          <a:xfrm>
            <a:off x="4869180" y="2212848"/>
            <a:ext cx="1565910" cy="502920"/>
          </a:xfrm>
          <a:prstGeom prst="rect">
            <a:avLst/>
          </a:prstGeom>
          <a:noFill/>
          <a:ln/>
        </p:spPr>
        <p:txBody>
          <a:bodyPr wrap="square" lIns="0" tIns="0" rIns="0" bIns="0" rtlCol="0" anchor="t"/>
          <a:lstStyle/>
          <a:p>
            <a:pPr marL="0" indent="0">
              <a:buNone/>
            </a:pPr>
            <a:r>
              <a:rPr lang="en-US" sz="1050" dirty="0">
                <a:solidFill>
                  <a:srgbClr val="5B6B82"/>
                </a:solidFill>
                <a:latin typeface="Calibri" pitchFamily="34" charset="0"/>
                <a:ea typeface="Calibri" pitchFamily="34" charset="-122"/>
                <a:cs typeface="Calibri" pitchFamily="34" charset="-120"/>
              </a:rPr>
              <a:t>Table with status, Oil, Diesel, Gas and sales.</a:t>
            </a:r>
            <a:endParaRPr lang="en-US" sz="1050" dirty="0"/>
          </a:p>
        </p:txBody>
      </p:sp>
      <p:sp>
        <p:nvSpPr>
          <p:cNvPr id="21" name="Shape 15"/>
          <p:cNvSpPr/>
          <p:nvPr/>
        </p:nvSpPr>
        <p:spPr>
          <a:xfrm>
            <a:off x="6800850" y="1234440"/>
            <a:ext cx="1885950" cy="1508760"/>
          </a:xfrm>
          <a:prstGeom prst="roundRect">
            <a:avLst>
              <a:gd name="adj" fmla="val 6061"/>
            </a:avLst>
          </a:prstGeom>
          <a:solidFill>
            <a:srgbClr val="F3F7FB"/>
          </a:solidFill>
          <a:ln/>
          <a:effectLst>
            <a:outerShdw blurRad="76200" dist="25400" dir="5400000" algn="bl" rotWithShape="0">
              <a:srgbClr val="000000">
                <a:alpha val="10000"/>
              </a:srgbClr>
            </a:outerShdw>
          </a:effectLst>
        </p:spPr>
      </p:sp>
      <p:sp>
        <p:nvSpPr>
          <p:cNvPr id="22" name="Shape 16"/>
          <p:cNvSpPr/>
          <p:nvPr/>
        </p:nvSpPr>
        <p:spPr>
          <a:xfrm>
            <a:off x="6983730" y="1399032"/>
            <a:ext cx="457200" cy="457200"/>
          </a:xfrm>
          <a:prstGeom prst="ellipse">
            <a:avLst/>
          </a:prstGeom>
          <a:solidFill>
            <a:srgbClr val="0B1F3A"/>
          </a:solidFill>
          <a:ln/>
        </p:spPr>
      </p:sp>
      <p:pic>
        <p:nvPicPr>
          <p:cNvPr id="23" name="Image 4" descr="preencoded.png"/>
          <p:cNvPicPr>
            <a:picLocks noChangeAspect="1"/>
          </p:cNvPicPr>
          <p:nvPr/>
        </p:nvPicPr>
        <p:blipFill>
          <a:blip r:embed="rId7"/>
          <a:stretch>
            <a:fillRect/>
          </a:stretch>
        </p:blipFill>
        <p:spPr>
          <a:xfrm>
            <a:off x="7098030" y="1513332"/>
            <a:ext cx="228600" cy="228600"/>
          </a:xfrm>
          <a:prstGeom prst="rect">
            <a:avLst/>
          </a:prstGeom>
        </p:spPr>
      </p:pic>
      <p:sp>
        <p:nvSpPr>
          <p:cNvPr id="24" name="Text 17"/>
          <p:cNvSpPr txBox="1"/>
          <p:nvPr/>
        </p:nvSpPr>
        <p:spPr>
          <a:xfrm>
            <a:off x="6983730" y="1947672"/>
            <a:ext cx="1611630" cy="256032"/>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Price List</a:t>
            </a:r>
            <a:endParaRPr lang="en-US" sz="1300" dirty="0"/>
          </a:p>
        </p:txBody>
      </p:sp>
      <p:sp>
        <p:nvSpPr>
          <p:cNvPr id="25" name="Text 18"/>
          <p:cNvSpPr txBox="1"/>
          <p:nvPr/>
        </p:nvSpPr>
        <p:spPr>
          <a:xfrm>
            <a:off x="6983730" y="2212848"/>
            <a:ext cx="1565910" cy="502920"/>
          </a:xfrm>
          <a:prstGeom prst="rect">
            <a:avLst/>
          </a:prstGeom>
          <a:noFill/>
          <a:ln/>
        </p:spPr>
        <p:txBody>
          <a:bodyPr wrap="square" lIns="0" tIns="0" rIns="0" bIns="0" rtlCol="0" anchor="t"/>
          <a:lstStyle/>
          <a:p>
            <a:pPr marL="0" indent="0">
              <a:buNone/>
            </a:pPr>
            <a:r>
              <a:rPr lang="en-US" sz="1050" dirty="0">
                <a:solidFill>
                  <a:srgbClr val="5B6B82"/>
                </a:solidFill>
                <a:latin typeface="Calibri" pitchFamily="34" charset="0"/>
                <a:ea typeface="Calibri" pitchFamily="34" charset="-122"/>
                <a:cs typeface="Calibri" pitchFamily="34" charset="-120"/>
              </a:rPr>
              <a:t>Oil/Petrol 130, Diesel 110, Gas 65 Tk per litre.</a:t>
            </a:r>
            <a:endParaRPr lang="en-US" sz="1050" dirty="0"/>
          </a:p>
        </p:txBody>
      </p:sp>
      <p:sp>
        <p:nvSpPr>
          <p:cNvPr id="26" name="Shape 19"/>
          <p:cNvSpPr/>
          <p:nvPr/>
        </p:nvSpPr>
        <p:spPr>
          <a:xfrm>
            <a:off x="457200" y="2926080"/>
            <a:ext cx="1885950" cy="1508760"/>
          </a:xfrm>
          <a:prstGeom prst="roundRect">
            <a:avLst>
              <a:gd name="adj" fmla="val 6061"/>
            </a:avLst>
          </a:prstGeom>
          <a:solidFill>
            <a:srgbClr val="F3F7FB"/>
          </a:solidFill>
          <a:ln/>
          <a:effectLst>
            <a:outerShdw blurRad="76200" dist="25400" dir="5400000" algn="bl" rotWithShape="0">
              <a:srgbClr val="000000">
                <a:alpha val="10000"/>
              </a:srgbClr>
            </a:outerShdw>
          </a:effectLst>
        </p:spPr>
      </p:sp>
      <p:sp>
        <p:nvSpPr>
          <p:cNvPr id="27" name="Shape 20"/>
          <p:cNvSpPr/>
          <p:nvPr/>
        </p:nvSpPr>
        <p:spPr>
          <a:xfrm>
            <a:off x="640080" y="3090672"/>
            <a:ext cx="457200" cy="457200"/>
          </a:xfrm>
          <a:prstGeom prst="ellipse">
            <a:avLst/>
          </a:prstGeom>
          <a:solidFill>
            <a:srgbClr val="0B1F3A"/>
          </a:solidFill>
          <a:ln/>
        </p:spPr>
      </p:sp>
      <p:pic>
        <p:nvPicPr>
          <p:cNvPr id="28" name="Image 5" descr="preencoded.png"/>
          <p:cNvPicPr>
            <a:picLocks noChangeAspect="1"/>
          </p:cNvPicPr>
          <p:nvPr/>
        </p:nvPicPr>
        <p:blipFill>
          <a:blip r:embed="rId8"/>
          <a:stretch>
            <a:fillRect/>
          </a:stretch>
        </p:blipFill>
        <p:spPr>
          <a:xfrm>
            <a:off x="754380" y="3204972"/>
            <a:ext cx="228600" cy="228600"/>
          </a:xfrm>
          <a:prstGeom prst="rect">
            <a:avLst/>
          </a:prstGeom>
        </p:spPr>
      </p:pic>
      <p:sp>
        <p:nvSpPr>
          <p:cNvPr id="29" name="Text 21"/>
          <p:cNvSpPr txBox="1"/>
          <p:nvPr/>
        </p:nvSpPr>
        <p:spPr>
          <a:xfrm>
            <a:off x="640080" y="3639312"/>
            <a:ext cx="1611630" cy="256032"/>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Rating Summary</a:t>
            </a:r>
            <a:endParaRPr lang="en-US" sz="1300" dirty="0"/>
          </a:p>
        </p:txBody>
      </p:sp>
      <p:sp>
        <p:nvSpPr>
          <p:cNvPr id="30" name="Text 22"/>
          <p:cNvSpPr txBox="1"/>
          <p:nvPr/>
        </p:nvSpPr>
        <p:spPr>
          <a:xfrm>
            <a:off x="640080" y="3904488"/>
            <a:ext cx="1565910" cy="502920"/>
          </a:xfrm>
          <a:prstGeom prst="rect">
            <a:avLst/>
          </a:prstGeom>
          <a:noFill/>
          <a:ln/>
        </p:spPr>
        <p:txBody>
          <a:bodyPr wrap="square" lIns="0" tIns="0" rIns="0" bIns="0" rtlCol="0" anchor="t"/>
          <a:lstStyle/>
          <a:p>
            <a:pPr marL="0" indent="0">
              <a:buNone/>
            </a:pPr>
            <a:r>
              <a:rPr lang="en-US" sz="1050" dirty="0">
                <a:solidFill>
                  <a:srgbClr val="5B6B82"/>
                </a:solidFill>
                <a:latin typeface="Calibri" pitchFamily="34" charset="0"/>
                <a:ea typeface="Calibri" pitchFamily="34" charset="-122"/>
                <a:cs typeface="Calibri" pitchFamily="34" charset="-120"/>
              </a:rPr>
              <a:t>Table of all pump ratings and comments.</a:t>
            </a:r>
            <a:endParaRPr lang="en-US" sz="1050" dirty="0"/>
          </a:p>
        </p:txBody>
      </p:sp>
      <p:sp>
        <p:nvSpPr>
          <p:cNvPr id="31" name="Shape 23"/>
          <p:cNvSpPr/>
          <p:nvPr/>
        </p:nvSpPr>
        <p:spPr>
          <a:xfrm>
            <a:off x="2571750" y="2926080"/>
            <a:ext cx="1885950" cy="1508760"/>
          </a:xfrm>
          <a:prstGeom prst="roundRect">
            <a:avLst>
              <a:gd name="adj" fmla="val 6061"/>
            </a:avLst>
          </a:prstGeom>
          <a:solidFill>
            <a:srgbClr val="F3F7FB"/>
          </a:solidFill>
          <a:ln/>
          <a:effectLst>
            <a:outerShdw blurRad="76200" dist="25400" dir="5400000" algn="bl" rotWithShape="0">
              <a:srgbClr val="000000">
                <a:alpha val="10000"/>
              </a:srgbClr>
            </a:outerShdw>
          </a:effectLst>
        </p:spPr>
      </p:sp>
      <p:sp>
        <p:nvSpPr>
          <p:cNvPr id="32" name="Shape 24"/>
          <p:cNvSpPr/>
          <p:nvPr/>
        </p:nvSpPr>
        <p:spPr>
          <a:xfrm>
            <a:off x="2754630" y="3090672"/>
            <a:ext cx="457200" cy="457200"/>
          </a:xfrm>
          <a:prstGeom prst="ellipse">
            <a:avLst/>
          </a:prstGeom>
          <a:solidFill>
            <a:srgbClr val="0B1F3A"/>
          </a:solidFill>
          <a:ln/>
        </p:spPr>
      </p:sp>
      <p:pic>
        <p:nvPicPr>
          <p:cNvPr id="33" name="Image 6" descr="preencoded.png"/>
          <p:cNvPicPr>
            <a:picLocks noChangeAspect="1"/>
          </p:cNvPicPr>
          <p:nvPr/>
        </p:nvPicPr>
        <p:blipFill>
          <a:blip r:embed="rId9"/>
          <a:stretch>
            <a:fillRect/>
          </a:stretch>
        </p:blipFill>
        <p:spPr>
          <a:xfrm>
            <a:off x="2868930" y="3204972"/>
            <a:ext cx="228600" cy="228600"/>
          </a:xfrm>
          <a:prstGeom prst="rect">
            <a:avLst/>
          </a:prstGeom>
        </p:spPr>
      </p:pic>
      <p:sp>
        <p:nvSpPr>
          <p:cNvPr id="34" name="Text 25"/>
          <p:cNvSpPr txBox="1"/>
          <p:nvPr/>
        </p:nvSpPr>
        <p:spPr>
          <a:xfrm>
            <a:off x="2754630" y="3639312"/>
            <a:ext cx="1611630" cy="256032"/>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All Bookings</a:t>
            </a:r>
            <a:endParaRPr lang="en-US" sz="1300" dirty="0"/>
          </a:p>
        </p:txBody>
      </p:sp>
      <p:sp>
        <p:nvSpPr>
          <p:cNvPr id="35" name="Text 26"/>
          <p:cNvSpPr txBox="1"/>
          <p:nvPr/>
        </p:nvSpPr>
        <p:spPr>
          <a:xfrm>
            <a:off x="2754630" y="3904488"/>
            <a:ext cx="1565910" cy="502920"/>
          </a:xfrm>
          <a:prstGeom prst="rect">
            <a:avLst/>
          </a:prstGeom>
          <a:noFill/>
          <a:ln/>
        </p:spPr>
        <p:txBody>
          <a:bodyPr wrap="square" lIns="0" tIns="0" rIns="0" bIns="0" rtlCol="0" anchor="t"/>
          <a:lstStyle/>
          <a:p>
            <a:pPr marL="0" indent="0">
              <a:buNone/>
            </a:pPr>
            <a:r>
              <a:rPr lang="en-US" sz="1050" dirty="0">
                <a:solidFill>
                  <a:srgbClr val="5B6B82"/>
                </a:solidFill>
                <a:latin typeface="Calibri" pitchFamily="34" charset="0"/>
                <a:ea typeface="Calibri" pitchFamily="34" charset="-122"/>
                <a:cs typeface="Calibri" pitchFamily="34" charset="-120"/>
              </a:rPr>
              <a:t>Every booked vehicle with queue number and time.</a:t>
            </a:r>
            <a:endParaRPr lang="en-US" sz="1050" dirty="0"/>
          </a:p>
        </p:txBody>
      </p:sp>
      <p:sp>
        <p:nvSpPr>
          <p:cNvPr id="36" name="Shape 27"/>
          <p:cNvSpPr/>
          <p:nvPr/>
        </p:nvSpPr>
        <p:spPr>
          <a:xfrm>
            <a:off x="4686300" y="2926080"/>
            <a:ext cx="1885950" cy="1508760"/>
          </a:xfrm>
          <a:prstGeom prst="roundRect">
            <a:avLst>
              <a:gd name="adj" fmla="val 6061"/>
            </a:avLst>
          </a:prstGeom>
          <a:solidFill>
            <a:srgbClr val="F3F7FB"/>
          </a:solidFill>
          <a:ln/>
          <a:effectLst>
            <a:outerShdw blurRad="76200" dist="25400" dir="5400000" algn="bl" rotWithShape="0">
              <a:srgbClr val="000000">
                <a:alpha val="10000"/>
              </a:srgbClr>
            </a:outerShdw>
          </a:effectLst>
        </p:spPr>
      </p:sp>
      <p:sp>
        <p:nvSpPr>
          <p:cNvPr id="37" name="Shape 28"/>
          <p:cNvSpPr/>
          <p:nvPr/>
        </p:nvSpPr>
        <p:spPr>
          <a:xfrm>
            <a:off x="4869180" y="3090672"/>
            <a:ext cx="457200" cy="457200"/>
          </a:xfrm>
          <a:prstGeom prst="ellipse">
            <a:avLst/>
          </a:prstGeom>
          <a:solidFill>
            <a:srgbClr val="0B1F3A"/>
          </a:solidFill>
          <a:ln/>
        </p:spPr>
      </p:sp>
      <p:pic>
        <p:nvPicPr>
          <p:cNvPr id="38" name="Image 7" descr="preencoded.png"/>
          <p:cNvPicPr>
            <a:picLocks noChangeAspect="1"/>
          </p:cNvPicPr>
          <p:nvPr/>
        </p:nvPicPr>
        <p:blipFill>
          <a:blip r:embed="rId10"/>
          <a:stretch>
            <a:fillRect/>
          </a:stretch>
        </p:blipFill>
        <p:spPr>
          <a:xfrm>
            <a:off x="4983480" y="3204972"/>
            <a:ext cx="228600" cy="228600"/>
          </a:xfrm>
          <a:prstGeom prst="rect">
            <a:avLst/>
          </a:prstGeom>
        </p:spPr>
      </p:pic>
      <p:sp>
        <p:nvSpPr>
          <p:cNvPr id="39" name="Text 29"/>
          <p:cNvSpPr txBox="1"/>
          <p:nvPr/>
        </p:nvSpPr>
        <p:spPr>
          <a:xfrm>
            <a:off x="4869180" y="3639312"/>
            <a:ext cx="1611630" cy="256032"/>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All Feedback</a:t>
            </a:r>
            <a:endParaRPr lang="en-US" sz="1300" dirty="0"/>
          </a:p>
        </p:txBody>
      </p:sp>
      <p:sp>
        <p:nvSpPr>
          <p:cNvPr id="40" name="Text 30"/>
          <p:cNvSpPr txBox="1"/>
          <p:nvPr/>
        </p:nvSpPr>
        <p:spPr>
          <a:xfrm>
            <a:off x="4869180" y="3904488"/>
            <a:ext cx="1565910" cy="502920"/>
          </a:xfrm>
          <a:prstGeom prst="rect">
            <a:avLst/>
          </a:prstGeom>
          <a:noFill/>
          <a:ln/>
        </p:spPr>
        <p:txBody>
          <a:bodyPr wrap="square" lIns="0" tIns="0" rIns="0" bIns="0" rtlCol="0" anchor="t"/>
          <a:lstStyle/>
          <a:p>
            <a:pPr marL="0" indent="0">
              <a:buNone/>
            </a:pPr>
            <a:r>
              <a:rPr lang="en-US" sz="1050" dirty="0">
                <a:solidFill>
                  <a:srgbClr val="5B6B82"/>
                </a:solidFill>
                <a:latin typeface="Calibri" pitchFamily="34" charset="0"/>
                <a:ea typeface="Calibri" pitchFamily="34" charset="-122"/>
                <a:cs typeface="Calibri" pitchFamily="34" charset="-120"/>
              </a:rPr>
              <a:t>Pump name, rating and user message.</a:t>
            </a:r>
            <a:endParaRPr lang="en-US" sz="1050" dirty="0"/>
          </a:p>
        </p:txBody>
      </p:sp>
      <p:sp>
        <p:nvSpPr>
          <p:cNvPr id="41" name="Shape 31"/>
          <p:cNvSpPr/>
          <p:nvPr/>
        </p:nvSpPr>
        <p:spPr>
          <a:xfrm>
            <a:off x="6800850" y="2926080"/>
            <a:ext cx="1885950" cy="1508760"/>
          </a:xfrm>
          <a:prstGeom prst="roundRect">
            <a:avLst>
              <a:gd name="adj" fmla="val 6061"/>
            </a:avLst>
          </a:prstGeom>
          <a:solidFill>
            <a:srgbClr val="0B1F3A"/>
          </a:solidFill>
          <a:ln/>
        </p:spPr>
      </p:sp>
      <p:sp>
        <p:nvSpPr>
          <p:cNvPr id="42" name="Text 32"/>
          <p:cNvSpPr txBox="1"/>
          <p:nvPr/>
        </p:nvSpPr>
        <p:spPr>
          <a:xfrm>
            <a:off x="6983730" y="3063240"/>
            <a:ext cx="1611630" cy="274320"/>
          </a:xfrm>
          <a:prstGeom prst="rect">
            <a:avLst/>
          </a:prstGeom>
          <a:noFill/>
          <a:ln/>
        </p:spPr>
        <p:txBody>
          <a:bodyPr wrap="square" lIns="0" tIns="0" rIns="0" bIns="0" rtlCol="0" anchor="ctr"/>
          <a:lstStyle/>
          <a:p>
            <a:pPr marL="0" indent="0">
              <a:buNone/>
            </a:pPr>
            <a:r>
              <a:rPr lang="en-US" sz="1300" b="1" dirty="0">
                <a:solidFill>
                  <a:srgbClr val="22D3EE"/>
                </a:solidFill>
                <a:latin typeface="Calibri" pitchFamily="34" charset="0"/>
                <a:ea typeface="Calibri" pitchFamily="34" charset="-122"/>
                <a:cs typeface="Calibri" pitchFamily="34" charset="-120"/>
              </a:rPr>
              <a:t>Admin Dashboard</a:t>
            </a:r>
            <a:endParaRPr lang="en-US" sz="1300" dirty="0"/>
          </a:p>
        </p:txBody>
      </p:sp>
      <p:sp>
        <p:nvSpPr>
          <p:cNvPr id="43" name="Text 33"/>
          <p:cNvSpPr txBox="1"/>
          <p:nvPr/>
        </p:nvSpPr>
        <p:spPr>
          <a:xfrm>
            <a:off x="6983730" y="3383280"/>
            <a:ext cx="1565910" cy="960120"/>
          </a:xfrm>
          <a:prstGeom prst="rect">
            <a:avLst/>
          </a:prstGeom>
          <a:noFill/>
          <a:ln/>
        </p:spPr>
        <p:txBody>
          <a:bodyPr wrap="square" lIns="0" tIns="0" rIns="0" bIns="0" rtlCol="0" anchor="t"/>
          <a:lstStyle/>
          <a:p>
            <a:pPr marL="0" indent="0">
              <a:buNone/>
            </a:pPr>
            <a:r>
              <a:rPr lang="en-US" sz="1100" dirty="0">
                <a:solidFill>
                  <a:srgbClr val="FFFFFF"/>
                </a:solidFill>
                <a:latin typeface="Calibri" pitchFamily="34" charset="0"/>
                <a:ea typeface="Calibri" pitchFamily="34" charset="-122"/>
                <a:cs typeface="Calibri" pitchFamily="34" charset="-120"/>
              </a:rPr>
              <a:t>7 options + Back to Home. Each button calls a Java method such as registerPump() or removePump().</a:t>
            </a:r>
            <a:endParaRPr lang="en-US" sz="1100" dirty="0"/>
          </a:p>
        </p:txBody>
      </p:sp>
      <p:sp>
        <p:nvSpPr>
          <p:cNvPr id="44" name="Text 34"/>
          <p:cNvSpPr txBox="1"/>
          <p:nvPr/>
        </p:nvSpPr>
        <p:spPr>
          <a:xfrm>
            <a:off x="457200" y="4773168"/>
            <a:ext cx="4572000" cy="201168"/>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Smart Fuel Pump Management System</a:t>
            </a:r>
            <a:endParaRPr lang="en-US" sz="1000" dirty="0"/>
          </a:p>
        </p:txBody>
      </p:sp>
      <p:sp>
        <p:nvSpPr>
          <p:cNvPr id="45" name="Text 35"/>
          <p:cNvSpPr txBox="1"/>
          <p:nvPr/>
        </p:nvSpPr>
        <p:spPr>
          <a:xfrm>
            <a:off x="7772400" y="4773168"/>
            <a:ext cx="914400" cy="201168"/>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6400800" cy="228600"/>
          </a:xfrm>
          <a:prstGeom prst="rect">
            <a:avLst/>
          </a:prstGeom>
          <a:noFill/>
          <a:ln/>
        </p:spPr>
        <p:txBody>
          <a:bodyPr wrap="square" lIns="0" tIns="0" rIns="0" bIns="0" rtlCol="0" anchor="ctr"/>
          <a:lstStyle/>
          <a:p>
            <a:pPr marL="0" indent="0">
              <a:buNone/>
            </a:pPr>
            <a:r>
              <a:rPr lang="en-US" sz="1100" b="1" kern="0" spc="300" dirty="0">
                <a:solidFill>
                  <a:srgbClr val="0E7490"/>
                </a:solidFill>
                <a:latin typeface="Calibri" pitchFamily="34" charset="0"/>
                <a:ea typeface="Calibri" pitchFamily="34" charset="-122"/>
                <a:cs typeface="Calibri" pitchFamily="34" charset="-120"/>
              </a:rPr>
              <a:t>FLOW</a:t>
            </a:r>
            <a:endParaRPr lang="en-US" sz="1100" dirty="0"/>
          </a:p>
        </p:txBody>
      </p:sp>
      <p:sp>
        <p:nvSpPr>
          <p:cNvPr id="3" name="Text 1"/>
          <p:cNvSpPr txBox="1"/>
          <p:nvPr/>
        </p:nvSpPr>
        <p:spPr>
          <a:xfrm>
            <a:off x="457200" y="502920"/>
            <a:ext cx="7498080" cy="548640"/>
          </a:xfrm>
          <a:prstGeom prst="rect">
            <a:avLst/>
          </a:prstGeom>
          <a:noFill/>
          <a:ln/>
        </p:spPr>
        <p:txBody>
          <a:bodyPr wrap="square" lIns="0" tIns="0" rIns="0" bIns="0" rtlCol="0" anchor="ctr"/>
          <a:lstStyle/>
          <a:p>
            <a:pPr marL="0" indent="0">
              <a:buNone/>
            </a:pPr>
            <a:r>
              <a:rPr lang="en-US" sz="3000" b="1" dirty="0">
                <a:solidFill>
                  <a:srgbClr val="0B1F3A"/>
                </a:solidFill>
                <a:latin typeface="Calibri" pitchFamily="34" charset="0"/>
                <a:ea typeface="Calibri" pitchFamily="34" charset="-122"/>
                <a:cs typeface="Calibri" pitchFamily="34" charset="-120"/>
              </a:rPr>
              <a:t>Project Workflow</a:t>
            </a:r>
            <a:endParaRPr lang="en-US" sz="3000" dirty="0"/>
          </a:p>
        </p:txBody>
      </p:sp>
      <p:sp>
        <p:nvSpPr>
          <p:cNvPr id="4" name="Shape 2"/>
          <p:cNvSpPr/>
          <p:nvPr/>
        </p:nvSpPr>
        <p:spPr>
          <a:xfrm>
            <a:off x="8229600" y="384048"/>
            <a:ext cx="457200" cy="457200"/>
          </a:xfrm>
          <a:prstGeom prst="ellipse">
            <a:avLst/>
          </a:prstGeom>
          <a:solidFill>
            <a:srgbClr val="0B1F3A"/>
          </a:solidFill>
          <a:ln/>
        </p:spPr>
      </p:sp>
      <p:pic>
        <p:nvPicPr>
          <p:cNvPr id="5" name="Image 0" descr="preencoded.png"/>
          <p:cNvPicPr>
            <a:picLocks noChangeAspect="1"/>
          </p:cNvPicPr>
          <p:nvPr/>
        </p:nvPicPr>
        <p:blipFill>
          <a:blip r:embed="rId3"/>
          <a:stretch>
            <a:fillRect/>
          </a:stretch>
        </p:blipFill>
        <p:spPr>
          <a:xfrm>
            <a:off x="8343900" y="498348"/>
            <a:ext cx="228600" cy="228600"/>
          </a:xfrm>
          <a:prstGeom prst="rect">
            <a:avLst/>
          </a:prstGeom>
        </p:spPr>
      </p:pic>
      <p:sp>
        <p:nvSpPr>
          <p:cNvPr id="6" name="Shape 3"/>
          <p:cNvSpPr/>
          <p:nvPr/>
        </p:nvSpPr>
        <p:spPr>
          <a:xfrm>
            <a:off x="457200" y="1280160"/>
            <a:ext cx="1783080" cy="1280160"/>
          </a:xfrm>
          <a:prstGeom prst="roundRect">
            <a:avLst>
              <a:gd name="adj" fmla="val 7143"/>
            </a:avLst>
          </a:prstGeom>
          <a:solidFill>
            <a:srgbClr val="0B1F3A"/>
          </a:solidFill>
          <a:ln/>
          <a:effectLst>
            <a:outerShdw blurRad="76200" dist="25400" dir="5400000" algn="bl" rotWithShape="0">
              <a:srgbClr val="000000">
                <a:alpha val="10000"/>
              </a:srgbClr>
            </a:outerShdw>
          </a:effectLst>
        </p:spPr>
      </p:sp>
      <p:sp>
        <p:nvSpPr>
          <p:cNvPr id="7" name="Shape 4"/>
          <p:cNvSpPr/>
          <p:nvPr/>
        </p:nvSpPr>
        <p:spPr>
          <a:xfrm>
            <a:off x="566928" y="1389888"/>
            <a:ext cx="274320" cy="274320"/>
          </a:xfrm>
          <a:prstGeom prst="ellipse">
            <a:avLst/>
          </a:prstGeom>
          <a:solidFill>
            <a:srgbClr val="22D3EE"/>
          </a:solidFill>
          <a:ln/>
        </p:spPr>
      </p:sp>
      <p:sp>
        <p:nvSpPr>
          <p:cNvPr id="8" name="Text 5"/>
          <p:cNvSpPr txBox="1"/>
          <p:nvPr/>
        </p:nvSpPr>
        <p:spPr>
          <a:xfrm>
            <a:off x="566928" y="1389888"/>
            <a:ext cx="274320" cy="274320"/>
          </a:xfrm>
          <a:prstGeom prst="rect">
            <a:avLst/>
          </a:prstGeom>
          <a:noFill/>
          <a:ln/>
        </p:spPr>
        <p:txBody>
          <a:bodyPr wrap="square" lIns="0" tIns="0" rIns="0" bIns="0" rtlCol="0" anchor="ctr"/>
          <a:lstStyle/>
          <a:p>
            <a:pPr marL="0" indent="0" algn="ctr">
              <a:buNone/>
            </a:pPr>
            <a:r>
              <a:rPr lang="en-US" sz="1100" b="1" dirty="0">
                <a:solidFill>
                  <a:srgbClr val="0B1F3A"/>
                </a:solidFill>
                <a:latin typeface="Calibri" pitchFamily="34" charset="0"/>
                <a:ea typeface="Calibri" pitchFamily="34" charset="-122"/>
                <a:cs typeface="Calibri" pitchFamily="34" charset="-120"/>
              </a:rPr>
              <a:t>1</a:t>
            </a:r>
            <a:endParaRPr lang="en-US" sz="1100" dirty="0"/>
          </a:p>
        </p:txBody>
      </p:sp>
      <p:sp>
        <p:nvSpPr>
          <p:cNvPr id="9" name="Text 6"/>
          <p:cNvSpPr txBox="1"/>
          <p:nvPr/>
        </p:nvSpPr>
        <p:spPr>
          <a:xfrm>
            <a:off x="914400" y="1353312"/>
            <a:ext cx="1234440" cy="36576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Start</a:t>
            </a:r>
            <a:endParaRPr lang="en-US" sz="1250" dirty="0"/>
          </a:p>
        </p:txBody>
      </p:sp>
      <p:sp>
        <p:nvSpPr>
          <p:cNvPr id="10" name="Text 7"/>
          <p:cNvSpPr txBox="1"/>
          <p:nvPr/>
        </p:nvSpPr>
        <p:spPr>
          <a:xfrm>
            <a:off x="594360" y="1847088"/>
            <a:ext cx="1508760" cy="640080"/>
          </a:xfrm>
          <a:prstGeom prst="rect">
            <a:avLst/>
          </a:prstGeom>
          <a:noFill/>
          <a:ln/>
        </p:spPr>
        <p:txBody>
          <a:bodyPr wrap="square" lIns="0" tIns="0" rIns="0" bIns="0" rtlCol="0" anchor="t"/>
          <a:lstStyle/>
          <a:p>
            <a:pPr marL="0" indent="0">
              <a:buNone/>
            </a:pPr>
            <a:r>
              <a:rPr lang="en-US" sz="1050" dirty="0">
                <a:solidFill>
                  <a:srgbClr val="CFE8F5"/>
                </a:solidFill>
                <a:latin typeface="Calibri" pitchFamily="34" charset="0"/>
                <a:ea typeface="Calibri" pitchFamily="34" charset="-122"/>
                <a:cs typeface="Calibri" pitchFamily="34" charset="-120"/>
              </a:rPr>
              <a:t>main() starts the app with SwingUtilities.invokeLater</a:t>
            </a:r>
            <a:endParaRPr lang="en-US" sz="1050" dirty="0"/>
          </a:p>
        </p:txBody>
      </p:sp>
      <p:sp>
        <p:nvSpPr>
          <p:cNvPr id="11" name="Shape 8"/>
          <p:cNvSpPr/>
          <p:nvPr/>
        </p:nvSpPr>
        <p:spPr>
          <a:xfrm>
            <a:off x="2606040" y="1280160"/>
            <a:ext cx="1783080" cy="1280160"/>
          </a:xfrm>
          <a:prstGeom prst="roundRect">
            <a:avLst>
              <a:gd name="adj" fmla="val 7143"/>
            </a:avLst>
          </a:prstGeom>
          <a:solidFill>
            <a:srgbClr val="F3F7FB"/>
          </a:solidFill>
          <a:ln/>
          <a:effectLst>
            <a:outerShdw blurRad="76200" dist="25400" dir="5400000" algn="bl" rotWithShape="0">
              <a:srgbClr val="000000">
                <a:alpha val="10000"/>
              </a:srgbClr>
            </a:outerShdw>
          </a:effectLst>
        </p:spPr>
      </p:sp>
      <p:sp>
        <p:nvSpPr>
          <p:cNvPr id="12" name="Shape 9"/>
          <p:cNvSpPr/>
          <p:nvPr/>
        </p:nvSpPr>
        <p:spPr>
          <a:xfrm>
            <a:off x="2715768" y="1389888"/>
            <a:ext cx="274320" cy="274320"/>
          </a:xfrm>
          <a:prstGeom prst="ellipse">
            <a:avLst/>
          </a:prstGeom>
          <a:solidFill>
            <a:srgbClr val="0B1F3A"/>
          </a:solidFill>
          <a:ln/>
        </p:spPr>
      </p:sp>
      <p:sp>
        <p:nvSpPr>
          <p:cNvPr id="13" name="Text 10"/>
          <p:cNvSpPr txBox="1"/>
          <p:nvPr/>
        </p:nvSpPr>
        <p:spPr>
          <a:xfrm>
            <a:off x="2715768" y="138988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1"/>
          <p:cNvSpPr txBox="1"/>
          <p:nvPr/>
        </p:nvSpPr>
        <p:spPr>
          <a:xfrm>
            <a:off x="3063240" y="1353312"/>
            <a:ext cx="1234440" cy="365760"/>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Open system</a:t>
            </a:r>
            <a:endParaRPr lang="en-US" sz="1250" dirty="0"/>
          </a:p>
        </p:txBody>
      </p:sp>
      <p:sp>
        <p:nvSpPr>
          <p:cNvPr id="15" name="Text 12"/>
          <p:cNvSpPr txBox="1"/>
          <p:nvPr/>
        </p:nvSpPr>
        <p:spPr>
          <a:xfrm>
            <a:off x="2743200" y="1847088"/>
            <a:ext cx="1508760" cy="640080"/>
          </a:xfrm>
          <a:prstGeom prst="rect">
            <a:avLst/>
          </a:prstGeom>
          <a:noFill/>
          <a:ln/>
        </p:spPr>
        <p:txBody>
          <a:bodyPr wrap="square" lIns="0" tIns="0" rIns="0" bIns="0" rtlCol="0" anchor="t"/>
          <a:lstStyle/>
          <a:p>
            <a:pPr marL="0" indent="0">
              <a:buNone/>
            </a:pPr>
            <a:r>
              <a:rPr lang="en-US" sz="1050" dirty="0">
                <a:solidFill>
                  <a:srgbClr val="5B6B82"/>
                </a:solidFill>
                <a:latin typeface="Calibri" pitchFamily="34" charset="0"/>
                <a:ea typeface="Calibri" pitchFamily="34" charset="-122"/>
                <a:cs typeface="Calibri" pitchFamily="34" charset="-120"/>
              </a:rPr>
              <a:t>Home screen: User Panel, Admin Panel, About, Exit</a:t>
            </a:r>
            <a:endParaRPr lang="en-US" sz="1050" dirty="0"/>
          </a:p>
        </p:txBody>
      </p:sp>
      <p:sp>
        <p:nvSpPr>
          <p:cNvPr id="16" name="Shape 13"/>
          <p:cNvSpPr/>
          <p:nvPr/>
        </p:nvSpPr>
        <p:spPr>
          <a:xfrm>
            <a:off x="4754880" y="1280160"/>
            <a:ext cx="1783080" cy="1280160"/>
          </a:xfrm>
          <a:prstGeom prst="roundRect">
            <a:avLst>
              <a:gd name="adj" fmla="val 7143"/>
            </a:avLst>
          </a:prstGeom>
          <a:solidFill>
            <a:srgbClr val="F3F7FB"/>
          </a:solidFill>
          <a:ln/>
          <a:effectLst>
            <a:outerShdw blurRad="76200" dist="25400" dir="5400000" algn="bl" rotWithShape="0">
              <a:srgbClr val="000000">
                <a:alpha val="10000"/>
              </a:srgbClr>
            </a:outerShdw>
          </a:effectLst>
        </p:spPr>
      </p:sp>
      <p:sp>
        <p:nvSpPr>
          <p:cNvPr id="17" name="Shape 14"/>
          <p:cNvSpPr/>
          <p:nvPr/>
        </p:nvSpPr>
        <p:spPr>
          <a:xfrm>
            <a:off x="4864608" y="1389888"/>
            <a:ext cx="274320" cy="274320"/>
          </a:xfrm>
          <a:prstGeom prst="ellipse">
            <a:avLst/>
          </a:prstGeom>
          <a:solidFill>
            <a:srgbClr val="0B1F3A"/>
          </a:solidFill>
          <a:ln/>
        </p:spPr>
      </p:sp>
      <p:sp>
        <p:nvSpPr>
          <p:cNvPr id="18" name="Text 15"/>
          <p:cNvSpPr txBox="1"/>
          <p:nvPr/>
        </p:nvSpPr>
        <p:spPr>
          <a:xfrm>
            <a:off x="4864608" y="138988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6"/>
          <p:cNvSpPr txBox="1"/>
          <p:nvPr/>
        </p:nvSpPr>
        <p:spPr>
          <a:xfrm>
            <a:off x="5212080" y="1353312"/>
            <a:ext cx="1234440" cy="365760"/>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Choose User / Admin</a:t>
            </a:r>
            <a:endParaRPr lang="en-US" sz="1250" dirty="0"/>
          </a:p>
        </p:txBody>
      </p:sp>
      <p:sp>
        <p:nvSpPr>
          <p:cNvPr id="20" name="Text 17"/>
          <p:cNvSpPr txBox="1"/>
          <p:nvPr/>
        </p:nvSpPr>
        <p:spPr>
          <a:xfrm>
            <a:off x="4892040" y="1847088"/>
            <a:ext cx="1508760" cy="640080"/>
          </a:xfrm>
          <a:prstGeom prst="rect">
            <a:avLst/>
          </a:prstGeom>
          <a:noFill/>
          <a:ln/>
        </p:spPr>
        <p:txBody>
          <a:bodyPr wrap="square" lIns="0" tIns="0" rIns="0" bIns="0" rtlCol="0" anchor="t"/>
          <a:lstStyle/>
          <a:p>
            <a:pPr marL="0" indent="0">
              <a:buNone/>
            </a:pPr>
            <a:r>
              <a:rPr lang="en-US" sz="1050" dirty="0">
                <a:solidFill>
                  <a:srgbClr val="5B6B82"/>
                </a:solidFill>
                <a:latin typeface="Calibri" pitchFamily="34" charset="0"/>
                <a:ea typeface="Calibri" pitchFamily="34" charset="-122"/>
                <a:cs typeface="Calibri" pitchFamily="34" charset="-120"/>
              </a:rPr>
              <a:t>Button click: CardLayout shows USER or ADMIN</a:t>
            </a:r>
            <a:endParaRPr lang="en-US" sz="1050" dirty="0"/>
          </a:p>
        </p:txBody>
      </p:sp>
      <p:sp>
        <p:nvSpPr>
          <p:cNvPr id="21" name="Shape 18"/>
          <p:cNvSpPr/>
          <p:nvPr/>
        </p:nvSpPr>
        <p:spPr>
          <a:xfrm>
            <a:off x="6903720" y="1280160"/>
            <a:ext cx="1783080" cy="1280160"/>
          </a:xfrm>
          <a:prstGeom prst="roundRect">
            <a:avLst>
              <a:gd name="adj" fmla="val 7143"/>
            </a:avLst>
          </a:prstGeom>
          <a:solidFill>
            <a:srgbClr val="F3F7FB"/>
          </a:solidFill>
          <a:ln/>
          <a:effectLst>
            <a:outerShdw blurRad="76200" dist="25400" dir="5400000" algn="bl" rotWithShape="0">
              <a:srgbClr val="000000">
                <a:alpha val="10000"/>
              </a:srgbClr>
            </a:outerShdw>
          </a:effectLst>
        </p:spPr>
      </p:sp>
      <p:sp>
        <p:nvSpPr>
          <p:cNvPr id="22" name="Shape 19"/>
          <p:cNvSpPr/>
          <p:nvPr/>
        </p:nvSpPr>
        <p:spPr>
          <a:xfrm>
            <a:off x="7013448" y="1389888"/>
            <a:ext cx="274320" cy="274320"/>
          </a:xfrm>
          <a:prstGeom prst="ellipse">
            <a:avLst/>
          </a:prstGeom>
          <a:solidFill>
            <a:srgbClr val="0B1F3A"/>
          </a:solidFill>
          <a:ln/>
        </p:spPr>
      </p:sp>
      <p:sp>
        <p:nvSpPr>
          <p:cNvPr id="23" name="Text 20"/>
          <p:cNvSpPr txBox="1"/>
          <p:nvPr/>
        </p:nvSpPr>
        <p:spPr>
          <a:xfrm>
            <a:off x="7013448" y="138988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4" name="Text 21"/>
          <p:cNvSpPr txBox="1"/>
          <p:nvPr/>
        </p:nvSpPr>
        <p:spPr>
          <a:xfrm>
            <a:off x="7360920" y="1353312"/>
            <a:ext cx="1234440" cy="365760"/>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Perform operation</a:t>
            </a:r>
            <a:endParaRPr lang="en-US" sz="1250" dirty="0"/>
          </a:p>
        </p:txBody>
      </p:sp>
      <p:sp>
        <p:nvSpPr>
          <p:cNvPr id="25" name="Text 22"/>
          <p:cNvSpPr txBox="1"/>
          <p:nvPr/>
        </p:nvSpPr>
        <p:spPr>
          <a:xfrm>
            <a:off x="7040880" y="1847088"/>
            <a:ext cx="1508760" cy="640080"/>
          </a:xfrm>
          <a:prstGeom prst="rect">
            <a:avLst/>
          </a:prstGeom>
          <a:noFill/>
          <a:ln/>
        </p:spPr>
        <p:txBody>
          <a:bodyPr wrap="square" lIns="0" tIns="0" rIns="0" bIns="0" rtlCol="0" anchor="t"/>
          <a:lstStyle/>
          <a:p>
            <a:pPr marL="0" indent="0">
              <a:buNone/>
            </a:pPr>
            <a:r>
              <a:rPr lang="en-US" sz="1050" dirty="0">
                <a:solidFill>
                  <a:srgbClr val="5B6B82"/>
                </a:solidFill>
                <a:latin typeface="Calibri" pitchFamily="34" charset="0"/>
                <a:ea typeface="Calibri" pitchFamily="34" charset="-122"/>
                <a:cs typeface="Calibri" pitchFamily="34" charset="-120"/>
              </a:rPr>
              <a:t>Click a dashboard button, e.g. Book Fuel</a:t>
            </a:r>
            <a:endParaRPr lang="en-US" sz="1050" dirty="0"/>
          </a:p>
        </p:txBody>
      </p:sp>
      <p:sp>
        <p:nvSpPr>
          <p:cNvPr id="26" name="Shape 23"/>
          <p:cNvSpPr/>
          <p:nvPr/>
        </p:nvSpPr>
        <p:spPr>
          <a:xfrm>
            <a:off x="6903720" y="3017520"/>
            <a:ext cx="1783080" cy="1280160"/>
          </a:xfrm>
          <a:prstGeom prst="roundRect">
            <a:avLst>
              <a:gd name="adj" fmla="val 7143"/>
            </a:avLst>
          </a:prstGeom>
          <a:solidFill>
            <a:srgbClr val="F3F7FB"/>
          </a:solidFill>
          <a:ln/>
          <a:effectLst>
            <a:outerShdw blurRad="76200" dist="25400" dir="5400000" algn="bl" rotWithShape="0">
              <a:srgbClr val="000000">
                <a:alpha val="10000"/>
              </a:srgbClr>
            </a:outerShdw>
          </a:effectLst>
        </p:spPr>
      </p:sp>
      <p:sp>
        <p:nvSpPr>
          <p:cNvPr id="27" name="Shape 24"/>
          <p:cNvSpPr/>
          <p:nvPr/>
        </p:nvSpPr>
        <p:spPr>
          <a:xfrm>
            <a:off x="7013448" y="3127248"/>
            <a:ext cx="274320" cy="274320"/>
          </a:xfrm>
          <a:prstGeom prst="ellipse">
            <a:avLst/>
          </a:prstGeom>
          <a:solidFill>
            <a:srgbClr val="0B1F3A"/>
          </a:solidFill>
          <a:ln/>
        </p:spPr>
      </p:sp>
      <p:sp>
        <p:nvSpPr>
          <p:cNvPr id="28" name="Text 25"/>
          <p:cNvSpPr txBox="1"/>
          <p:nvPr/>
        </p:nvSpPr>
        <p:spPr>
          <a:xfrm>
            <a:off x="7013448" y="312724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9" name="Text 26"/>
          <p:cNvSpPr txBox="1"/>
          <p:nvPr/>
        </p:nvSpPr>
        <p:spPr>
          <a:xfrm>
            <a:off x="7360920" y="3090672"/>
            <a:ext cx="1234440" cy="365760"/>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Java code processes</a:t>
            </a:r>
            <a:endParaRPr lang="en-US" sz="1250" dirty="0"/>
          </a:p>
        </p:txBody>
      </p:sp>
      <p:sp>
        <p:nvSpPr>
          <p:cNvPr id="30" name="Text 27"/>
          <p:cNvSpPr txBox="1"/>
          <p:nvPr/>
        </p:nvSpPr>
        <p:spPr>
          <a:xfrm>
            <a:off x="7040880" y="3584448"/>
            <a:ext cx="1508760" cy="640080"/>
          </a:xfrm>
          <a:prstGeom prst="rect">
            <a:avLst/>
          </a:prstGeom>
          <a:noFill/>
          <a:ln/>
        </p:spPr>
        <p:txBody>
          <a:bodyPr wrap="square" lIns="0" tIns="0" rIns="0" bIns="0" rtlCol="0" anchor="t"/>
          <a:lstStyle/>
          <a:p>
            <a:pPr marL="0" indent="0">
              <a:buNone/>
            </a:pPr>
            <a:r>
              <a:rPr lang="en-US" sz="1050" dirty="0">
                <a:solidFill>
                  <a:srgbClr val="5B6B82"/>
                </a:solidFill>
                <a:latin typeface="Calibri" pitchFamily="34" charset="0"/>
                <a:ea typeface="Calibri" pitchFamily="34" charset="-122"/>
                <a:cs typeface="Calibri" pitchFamily="34" charset="-120"/>
              </a:rPr>
              <a:t>ActionListener calls a method: bookFuel(), findPump()...</a:t>
            </a:r>
            <a:endParaRPr lang="en-US" sz="1050" dirty="0"/>
          </a:p>
        </p:txBody>
      </p:sp>
      <p:sp>
        <p:nvSpPr>
          <p:cNvPr id="31" name="Shape 28"/>
          <p:cNvSpPr/>
          <p:nvPr/>
        </p:nvSpPr>
        <p:spPr>
          <a:xfrm>
            <a:off x="4754880" y="3017520"/>
            <a:ext cx="1783080" cy="1280160"/>
          </a:xfrm>
          <a:prstGeom prst="roundRect">
            <a:avLst>
              <a:gd name="adj" fmla="val 7143"/>
            </a:avLst>
          </a:prstGeom>
          <a:solidFill>
            <a:srgbClr val="F3F7FB"/>
          </a:solidFill>
          <a:ln/>
          <a:effectLst>
            <a:outerShdw blurRad="76200" dist="25400" dir="5400000" algn="bl" rotWithShape="0">
              <a:srgbClr val="000000">
                <a:alpha val="10000"/>
              </a:srgbClr>
            </a:outerShdw>
          </a:effectLst>
        </p:spPr>
      </p:sp>
      <p:sp>
        <p:nvSpPr>
          <p:cNvPr id="32" name="Shape 29"/>
          <p:cNvSpPr/>
          <p:nvPr/>
        </p:nvSpPr>
        <p:spPr>
          <a:xfrm>
            <a:off x="4864608" y="3127248"/>
            <a:ext cx="274320" cy="274320"/>
          </a:xfrm>
          <a:prstGeom prst="ellipse">
            <a:avLst/>
          </a:prstGeom>
          <a:solidFill>
            <a:srgbClr val="0B1F3A"/>
          </a:solidFill>
          <a:ln/>
        </p:spPr>
      </p:sp>
      <p:sp>
        <p:nvSpPr>
          <p:cNvPr id="33" name="Text 30"/>
          <p:cNvSpPr txBox="1"/>
          <p:nvPr/>
        </p:nvSpPr>
        <p:spPr>
          <a:xfrm>
            <a:off x="4864608" y="312724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4" name="Text 31"/>
          <p:cNvSpPr txBox="1"/>
          <p:nvPr/>
        </p:nvSpPr>
        <p:spPr>
          <a:xfrm>
            <a:off x="5212080" y="3090672"/>
            <a:ext cx="1234440" cy="365760"/>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Data updated</a:t>
            </a:r>
            <a:endParaRPr lang="en-US" sz="1250" dirty="0"/>
          </a:p>
        </p:txBody>
      </p:sp>
      <p:sp>
        <p:nvSpPr>
          <p:cNvPr id="35" name="Text 32"/>
          <p:cNvSpPr txBox="1"/>
          <p:nvPr/>
        </p:nvSpPr>
        <p:spPr>
          <a:xfrm>
            <a:off x="4892040" y="3584448"/>
            <a:ext cx="1508760" cy="640080"/>
          </a:xfrm>
          <a:prstGeom prst="rect">
            <a:avLst/>
          </a:prstGeom>
          <a:noFill/>
          <a:ln/>
        </p:spPr>
        <p:txBody>
          <a:bodyPr wrap="square" lIns="0" tIns="0" rIns="0" bIns="0" rtlCol="0" anchor="t"/>
          <a:lstStyle/>
          <a:p>
            <a:pPr marL="0" indent="0">
              <a:buNone/>
            </a:pPr>
            <a:r>
              <a:rPr lang="en-US" sz="1050" dirty="0">
                <a:solidFill>
                  <a:srgbClr val="5B6B82"/>
                </a:solidFill>
                <a:latin typeface="Calibri" pitchFamily="34" charset="0"/>
                <a:ea typeface="Calibri" pitchFamily="34" charset="-122"/>
                <a:cs typeface="Calibri" pitchFamily="34" charset="-120"/>
              </a:rPr>
              <a:t>The pumps, bookings or feedbacks ArrayList changes</a:t>
            </a:r>
            <a:endParaRPr lang="en-US" sz="1050" dirty="0"/>
          </a:p>
        </p:txBody>
      </p:sp>
      <p:sp>
        <p:nvSpPr>
          <p:cNvPr id="36" name="Shape 33"/>
          <p:cNvSpPr/>
          <p:nvPr/>
        </p:nvSpPr>
        <p:spPr>
          <a:xfrm>
            <a:off x="2606040" y="3017520"/>
            <a:ext cx="1783080" cy="1280160"/>
          </a:xfrm>
          <a:prstGeom prst="roundRect">
            <a:avLst>
              <a:gd name="adj" fmla="val 7143"/>
            </a:avLst>
          </a:prstGeom>
          <a:solidFill>
            <a:srgbClr val="22D3EE"/>
          </a:solidFill>
          <a:ln/>
          <a:effectLst>
            <a:outerShdw blurRad="76200" dist="25400" dir="5400000" algn="bl" rotWithShape="0">
              <a:srgbClr val="000000">
                <a:alpha val="10000"/>
              </a:srgbClr>
            </a:outerShdw>
          </a:effectLst>
        </p:spPr>
      </p:sp>
      <p:sp>
        <p:nvSpPr>
          <p:cNvPr id="37" name="Shape 34"/>
          <p:cNvSpPr/>
          <p:nvPr/>
        </p:nvSpPr>
        <p:spPr>
          <a:xfrm>
            <a:off x="2715768" y="3127248"/>
            <a:ext cx="274320" cy="274320"/>
          </a:xfrm>
          <a:prstGeom prst="ellipse">
            <a:avLst/>
          </a:prstGeom>
          <a:solidFill>
            <a:srgbClr val="0B1F3A"/>
          </a:solidFill>
          <a:ln/>
        </p:spPr>
      </p:sp>
      <p:sp>
        <p:nvSpPr>
          <p:cNvPr id="38" name="Text 35"/>
          <p:cNvSpPr txBox="1"/>
          <p:nvPr/>
        </p:nvSpPr>
        <p:spPr>
          <a:xfrm>
            <a:off x="2715768" y="312724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9" name="Text 36"/>
          <p:cNvSpPr txBox="1"/>
          <p:nvPr/>
        </p:nvSpPr>
        <p:spPr>
          <a:xfrm>
            <a:off x="3063240" y="3090672"/>
            <a:ext cx="1234440" cy="365760"/>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Result displayed</a:t>
            </a:r>
            <a:endParaRPr lang="en-US" sz="1250" dirty="0"/>
          </a:p>
        </p:txBody>
      </p:sp>
      <p:sp>
        <p:nvSpPr>
          <p:cNvPr id="40" name="Text 37"/>
          <p:cNvSpPr txBox="1"/>
          <p:nvPr/>
        </p:nvSpPr>
        <p:spPr>
          <a:xfrm>
            <a:off x="2743200" y="3584448"/>
            <a:ext cx="1508760" cy="640080"/>
          </a:xfrm>
          <a:prstGeom prst="rect">
            <a:avLst/>
          </a:prstGeom>
          <a:noFill/>
          <a:ln/>
        </p:spPr>
        <p:txBody>
          <a:bodyPr wrap="square" lIns="0" tIns="0" rIns="0" bIns="0" rtlCol="0" anchor="t"/>
          <a:lstStyle/>
          <a:p>
            <a:pPr marL="0" indent="0">
              <a:buNone/>
            </a:pPr>
            <a:r>
              <a:rPr lang="en-US" sz="1050" dirty="0">
                <a:solidFill>
                  <a:srgbClr val="0B1F3A"/>
                </a:solidFill>
                <a:latin typeface="Calibri" pitchFamily="34" charset="0"/>
                <a:ea typeface="Calibri" pitchFamily="34" charset="-122"/>
                <a:cs typeface="Calibri" pitchFamily="34" charset="-120"/>
              </a:rPr>
              <a:t>JOptionPane message or JTable window</a:t>
            </a:r>
            <a:endParaRPr lang="en-US" sz="1050" dirty="0"/>
          </a:p>
        </p:txBody>
      </p:sp>
      <p:sp>
        <p:nvSpPr>
          <p:cNvPr id="41" name="Shape 38"/>
          <p:cNvSpPr/>
          <p:nvPr/>
        </p:nvSpPr>
        <p:spPr>
          <a:xfrm>
            <a:off x="2267712" y="1920240"/>
            <a:ext cx="310896" cy="0"/>
          </a:xfrm>
          <a:prstGeom prst="line">
            <a:avLst/>
          </a:prstGeom>
          <a:noFill/>
          <a:ln w="25400">
            <a:solidFill>
              <a:srgbClr val="0E7490"/>
            </a:solidFill>
            <a:prstDash val="solid"/>
            <a:tailEnd type="triangle"/>
          </a:ln>
        </p:spPr>
      </p:sp>
      <p:sp>
        <p:nvSpPr>
          <p:cNvPr id="42" name="Shape 39"/>
          <p:cNvSpPr/>
          <p:nvPr/>
        </p:nvSpPr>
        <p:spPr>
          <a:xfrm>
            <a:off x="4416552" y="1920240"/>
            <a:ext cx="310896" cy="0"/>
          </a:xfrm>
          <a:prstGeom prst="line">
            <a:avLst/>
          </a:prstGeom>
          <a:noFill/>
          <a:ln w="25400">
            <a:solidFill>
              <a:srgbClr val="0E7490"/>
            </a:solidFill>
            <a:prstDash val="solid"/>
            <a:tailEnd type="triangle"/>
          </a:ln>
        </p:spPr>
      </p:sp>
      <p:sp>
        <p:nvSpPr>
          <p:cNvPr id="43" name="Shape 40"/>
          <p:cNvSpPr/>
          <p:nvPr/>
        </p:nvSpPr>
        <p:spPr>
          <a:xfrm>
            <a:off x="6565392" y="1920240"/>
            <a:ext cx="310896" cy="0"/>
          </a:xfrm>
          <a:prstGeom prst="line">
            <a:avLst/>
          </a:prstGeom>
          <a:noFill/>
          <a:ln w="25400">
            <a:solidFill>
              <a:srgbClr val="0E7490"/>
            </a:solidFill>
            <a:prstDash val="solid"/>
            <a:tailEnd type="triangle"/>
          </a:ln>
        </p:spPr>
      </p:sp>
      <p:sp>
        <p:nvSpPr>
          <p:cNvPr id="44" name="Shape 41"/>
          <p:cNvSpPr/>
          <p:nvPr/>
        </p:nvSpPr>
        <p:spPr>
          <a:xfrm>
            <a:off x="7795260" y="2587752"/>
            <a:ext cx="0" cy="402336"/>
          </a:xfrm>
          <a:prstGeom prst="line">
            <a:avLst/>
          </a:prstGeom>
          <a:noFill/>
          <a:ln w="25400">
            <a:solidFill>
              <a:srgbClr val="0E7490"/>
            </a:solidFill>
            <a:prstDash val="solid"/>
            <a:tailEnd type="triangle"/>
          </a:ln>
        </p:spPr>
      </p:sp>
      <p:sp>
        <p:nvSpPr>
          <p:cNvPr id="45" name="Shape 42"/>
          <p:cNvSpPr/>
          <p:nvPr/>
        </p:nvSpPr>
        <p:spPr>
          <a:xfrm flipH="1">
            <a:off x="6565392" y="3657600"/>
            <a:ext cx="310896" cy="0"/>
          </a:xfrm>
          <a:prstGeom prst="line">
            <a:avLst/>
          </a:prstGeom>
          <a:noFill/>
          <a:ln w="25400">
            <a:solidFill>
              <a:srgbClr val="0E7490"/>
            </a:solidFill>
            <a:prstDash val="solid"/>
            <a:tailEnd type="triangle"/>
          </a:ln>
        </p:spPr>
      </p:sp>
      <p:sp>
        <p:nvSpPr>
          <p:cNvPr id="46" name="Shape 43"/>
          <p:cNvSpPr/>
          <p:nvPr/>
        </p:nvSpPr>
        <p:spPr>
          <a:xfrm flipH="1">
            <a:off x="4416552" y="3657600"/>
            <a:ext cx="310896" cy="0"/>
          </a:xfrm>
          <a:prstGeom prst="line">
            <a:avLst/>
          </a:prstGeom>
          <a:noFill/>
          <a:ln w="25400">
            <a:solidFill>
              <a:srgbClr val="0E7490"/>
            </a:solidFill>
            <a:prstDash val="solid"/>
            <a:tailEnd type="triangle"/>
          </a:ln>
        </p:spPr>
      </p:sp>
      <p:sp>
        <p:nvSpPr>
          <p:cNvPr id="47" name="Shape 44"/>
          <p:cNvSpPr/>
          <p:nvPr/>
        </p:nvSpPr>
        <p:spPr>
          <a:xfrm>
            <a:off x="457200" y="3017520"/>
            <a:ext cx="1783080" cy="1280160"/>
          </a:xfrm>
          <a:prstGeom prst="roundRect">
            <a:avLst>
              <a:gd name="adj" fmla="val 7143"/>
            </a:avLst>
          </a:prstGeom>
          <a:solidFill>
            <a:srgbClr val="E8F7FB"/>
          </a:solidFill>
          <a:ln/>
        </p:spPr>
      </p:sp>
      <p:sp>
        <p:nvSpPr>
          <p:cNvPr id="48" name="Text 45"/>
          <p:cNvSpPr txBox="1"/>
          <p:nvPr/>
        </p:nvSpPr>
        <p:spPr>
          <a:xfrm>
            <a:off x="594360" y="3108960"/>
            <a:ext cx="1508760" cy="1097280"/>
          </a:xfrm>
          <a:prstGeom prst="rect">
            <a:avLst/>
          </a:prstGeom>
          <a:noFill/>
          <a:ln/>
        </p:spPr>
        <p:txBody>
          <a:bodyPr wrap="square" lIns="0" tIns="0" rIns="0" bIns="0" rtlCol="0" anchor="ctr"/>
          <a:lstStyle/>
          <a:p>
            <a:pPr marL="0" indent="0">
              <a:buNone/>
            </a:pPr>
            <a:r>
              <a:rPr lang="en-US" sz="1100" i="1" dirty="0">
                <a:solidFill>
                  <a:srgbClr val="0B1F3A"/>
                </a:solidFill>
                <a:latin typeface="Calibri" pitchFamily="34" charset="0"/>
                <a:ea typeface="Calibri" pitchFamily="34" charset="-122"/>
                <a:cs typeface="Calibri" pitchFamily="34" charset="-120"/>
              </a:rPr>
              <a:t>Data is kept in memory (ArrayList) while the program is running.</a:t>
            </a:r>
            <a:endParaRPr lang="en-US" sz="1100" dirty="0"/>
          </a:p>
        </p:txBody>
      </p:sp>
      <p:sp>
        <p:nvSpPr>
          <p:cNvPr id="49" name="Text 46"/>
          <p:cNvSpPr txBox="1"/>
          <p:nvPr/>
        </p:nvSpPr>
        <p:spPr>
          <a:xfrm>
            <a:off x="457200" y="4773168"/>
            <a:ext cx="4572000" cy="201168"/>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Smart Fuel Pump Management System</a:t>
            </a:r>
            <a:endParaRPr lang="en-US" sz="1000" dirty="0"/>
          </a:p>
        </p:txBody>
      </p:sp>
      <p:sp>
        <p:nvSpPr>
          <p:cNvPr id="50" name="Text 47"/>
          <p:cNvSpPr txBox="1"/>
          <p:nvPr/>
        </p:nvSpPr>
        <p:spPr>
          <a:xfrm>
            <a:off x="7772400" y="4773168"/>
            <a:ext cx="914400" cy="201168"/>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6400800" cy="228600"/>
          </a:xfrm>
          <a:prstGeom prst="rect">
            <a:avLst/>
          </a:prstGeom>
          <a:noFill/>
          <a:ln/>
        </p:spPr>
        <p:txBody>
          <a:bodyPr wrap="square" lIns="0" tIns="0" rIns="0" bIns="0" rtlCol="0" anchor="ctr"/>
          <a:lstStyle/>
          <a:p>
            <a:pPr marL="0" indent="0">
              <a:buNone/>
            </a:pPr>
            <a:r>
              <a:rPr lang="en-US" sz="1100" b="1" kern="0" spc="300" dirty="0">
                <a:solidFill>
                  <a:srgbClr val="0E7490"/>
                </a:solidFill>
                <a:latin typeface="Calibri" pitchFamily="34" charset="0"/>
                <a:ea typeface="Calibri" pitchFamily="34" charset="-122"/>
                <a:cs typeface="Calibri" pitchFamily="34" charset="-120"/>
              </a:rPr>
              <a:t>CODE</a:t>
            </a:r>
            <a:endParaRPr lang="en-US" sz="1100" dirty="0"/>
          </a:p>
        </p:txBody>
      </p:sp>
      <p:sp>
        <p:nvSpPr>
          <p:cNvPr id="3" name="Text 1"/>
          <p:cNvSpPr txBox="1"/>
          <p:nvPr/>
        </p:nvSpPr>
        <p:spPr>
          <a:xfrm>
            <a:off x="457200" y="502920"/>
            <a:ext cx="7498080" cy="548640"/>
          </a:xfrm>
          <a:prstGeom prst="rect">
            <a:avLst/>
          </a:prstGeom>
          <a:noFill/>
          <a:ln/>
        </p:spPr>
        <p:txBody>
          <a:bodyPr wrap="square" lIns="0" tIns="0" rIns="0" bIns="0" rtlCol="0" anchor="ctr"/>
          <a:lstStyle/>
          <a:p>
            <a:pPr marL="0" indent="0">
              <a:buNone/>
            </a:pPr>
            <a:r>
              <a:rPr lang="en-US" sz="3000" b="1" dirty="0">
                <a:solidFill>
                  <a:srgbClr val="0B1F3A"/>
                </a:solidFill>
                <a:latin typeface="Calibri" pitchFamily="34" charset="0"/>
                <a:ea typeface="Calibri" pitchFamily="34" charset="-122"/>
                <a:cs typeface="Calibri" pitchFamily="34" charset="-120"/>
              </a:rPr>
              <a:t>Important Code Examples</a:t>
            </a:r>
            <a:endParaRPr lang="en-US" sz="3000" dirty="0"/>
          </a:p>
        </p:txBody>
      </p:sp>
      <p:sp>
        <p:nvSpPr>
          <p:cNvPr id="4" name="Shape 2"/>
          <p:cNvSpPr/>
          <p:nvPr/>
        </p:nvSpPr>
        <p:spPr>
          <a:xfrm>
            <a:off x="8229600" y="384048"/>
            <a:ext cx="457200" cy="457200"/>
          </a:xfrm>
          <a:prstGeom prst="ellipse">
            <a:avLst/>
          </a:prstGeom>
          <a:solidFill>
            <a:srgbClr val="0B1F3A"/>
          </a:solidFill>
          <a:ln/>
        </p:spPr>
      </p:sp>
      <p:pic>
        <p:nvPicPr>
          <p:cNvPr id="5" name="Image 0" descr="preencoded.png"/>
          <p:cNvPicPr>
            <a:picLocks noChangeAspect="1"/>
          </p:cNvPicPr>
          <p:nvPr/>
        </p:nvPicPr>
        <p:blipFill>
          <a:blip r:embed="rId3"/>
          <a:stretch>
            <a:fillRect/>
          </a:stretch>
        </p:blipFill>
        <p:spPr>
          <a:xfrm>
            <a:off x="8343900" y="498348"/>
            <a:ext cx="228600" cy="228600"/>
          </a:xfrm>
          <a:prstGeom prst="rect">
            <a:avLst/>
          </a:prstGeom>
        </p:spPr>
      </p:pic>
      <p:sp>
        <p:nvSpPr>
          <p:cNvPr id="6" name="Shape 3"/>
          <p:cNvSpPr/>
          <p:nvPr/>
        </p:nvSpPr>
        <p:spPr>
          <a:xfrm>
            <a:off x="457200" y="1188720"/>
            <a:ext cx="4023360" cy="1152144"/>
          </a:xfrm>
          <a:prstGeom prst="roundRect">
            <a:avLst>
              <a:gd name="adj" fmla="val 6349"/>
            </a:avLst>
          </a:prstGeom>
          <a:solidFill>
            <a:srgbClr val="0A1A30"/>
          </a:solidFill>
          <a:ln/>
        </p:spPr>
      </p:sp>
      <p:sp>
        <p:nvSpPr>
          <p:cNvPr id="7" name="Text 4"/>
          <p:cNvSpPr txBox="1"/>
          <p:nvPr/>
        </p:nvSpPr>
        <p:spPr>
          <a:xfrm>
            <a:off x="621792" y="1261872"/>
            <a:ext cx="3694176" cy="201168"/>
          </a:xfrm>
          <a:prstGeom prst="rect">
            <a:avLst/>
          </a:prstGeom>
          <a:noFill/>
          <a:ln/>
        </p:spPr>
        <p:txBody>
          <a:bodyPr wrap="square" lIns="0" tIns="0" rIns="0" bIns="0" rtlCol="0" anchor="ctr"/>
          <a:lstStyle/>
          <a:p>
            <a:pPr marL="0" indent="0">
              <a:buNone/>
            </a:pPr>
            <a:r>
              <a:rPr lang="en-US" sz="950" b="1" kern="0" spc="100" dirty="0">
                <a:solidFill>
                  <a:srgbClr val="67C7E0"/>
                </a:solidFill>
                <a:latin typeface="Calibri" pitchFamily="34" charset="0"/>
                <a:ea typeface="Calibri" pitchFamily="34" charset="-122"/>
                <a:cs typeface="Calibri" pitchFamily="34" charset="-120"/>
              </a:rPr>
              <a:t>1 · Inheritance</a:t>
            </a:r>
            <a:endParaRPr lang="en-US" sz="950" dirty="0"/>
          </a:p>
        </p:txBody>
      </p:sp>
      <p:sp>
        <p:nvSpPr>
          <p:cNvPr id="8" name="Text 5"/>
          <p:cNvSpPr txBox="1"/>
          <p:nvPr/>
        </p:nvSpPr>
        <p:spPr>
          <a:xfrm>
            <a:off x="621792" y="1499616"/>
            <a:ext cx="3694176" cy="182880"/>
          </a:xfrm>
          <a:prstGeom prst="rect">
            <a:avLst/>
          </a:prstGeom>
          <a:noFill/>
          <a:ln/>
        </p:spPr>
        <p:txBody>
          <a:bodyPr wrap="square" lIns="0" tIns="0" rIns="0" bIns="0" rtlCol="0" anchor="ctr"/>
          <a:lstStyle/>
          <a:p>
            <a:pPr marL="0" indent="0">
              <a:buNone/>
            </a:pPr>
            <a:r>
              <a:rPr lang="en-US" sz="1000" dirty="0">
                <a:solidFill>
                  <a:srgbClr val="C9D6E8"/>
                </a:solidFill>
                <a:latin typeface="Courier New" pitchFamily="34" charset="0"/>
                <a:ea typeface="Courier New" pitchFamily="34" charset="-122"/>
                <a:cs typeface="Courier New" pitchFamily="34" charset="-120"/>
              </a:rPr>
              <a:t>abstract class FuelStation {</a:t>
            </a:r>
            <a:endParaRPr lang="en-US" sz="1000" dirty="0"/>
          </a:p>
        </p:txBody>
      </p:sp>
      <p:sp>
        <p:nvSpPr>
          <p:cNvPr id="9" name="Text 6"/>
          <p:cNvSpPr txBox="1"/>
          <p:nvPr/>
        </p:nvSpPr>
        <p:spPr>
          <a:xfrm>
            <a:off x="926592" y="1682496"/>
            <a:ext cx="3389376" cy="182880"/>
          </a:xfrm>
          <a:prstGeom prst="rect">
            <a:avLst/>
          </a:prstGeom>
          <a:noFill/>
          <a:ln/>
        </p:spPr>
        <p:txBody>
          <a:bodyPr wrap="square" lIns="0" tIns="0" rIns="0" bIns="0" rtlCol="0" anchor="ctr"/>
          <a:lstStyle/>
          <a:p>
            <a:pPr marL="0" indent="0">
              <a:buNone/>
            </a:pPr>
            <a:r>
              <a:rPr lang="en-US" sz="1000" dirty="0">
                <a:solidFill>
                  <a:srgbClr val="C9D6E8"/>
                </a:solidFill>
                <a:latin typeface="Courier New" pitchFamily="34" charset="0"/>
                <a:ea typeface="Courier New" pitchFamily="34" charset="-122"/>
                <a:cs typeface="Courier New" pitchFamily="34" charset="-120"/>
              </a:rPr>
              <a:t>abstract void showInfo();</a:t>
            </a:r>
            <a:endParaRPr lang="en-US" sz="1000" dirty="0"/>
          </a:p>
        </p:txBody>
      </p:sp>
      <p:sp>
        <p:nvSpPr>
          <p:cNvPr id="10" name="Text 7"/>
          <p:cNvSpPr txBox="1"/>
          <p:nvPr/>
        </p:nvSpPr>
        <p:spPr>
          <a:xfrm>
            <a:off x="621792" y="1865376"/>
            <a:ext cx="3694176" cy="182880"/>
          </a:xfrm>
          <a:prstGeom prst="rect">
            <a:avLst/>
          </a:prstGeom>
          <a:noFill/>
          <a:ln/>
        </p:spPr>
        <p:txBody>
          <a:bodyPr wrap="square" lIns="0" tIns="0" rIns="0" bIns="0" rtlCol="0" anchor="ctr"/>
          <a:lstStyle/>
          <a:p>
            <a:pPr marL="0" indent="0">
              <a:buNone/>
            </a:pPr>
            <a:r>
              <a:rPr lang="en-US" sz="1000" dirty="0">
                <a:solidFill>
                  <a:srgbClr val="C9D6E8"/>
                </a:solidFill>
                <a:latin typeface="Courier New" pitchFamily="34" charset="0"/>
                <a:ea typeface="Courier New" pitchFamily="34" charset="-122"/>
                <a:cs typeface="Courier New" pitchFamily="34" charset="-120"/>
              </a:rPr>
              <a:t>}</a:t>
            </a:r>
            <a:endParaRPr lang="en-US" sz="1000" dirty="0"/>
          </a:p>
        </p:txBody>
      </p:sp>
      <p:sp>
        <p:nvSpPr>
          <p:cNvPr id="11" name="Shape 8"/>
          <p:cNvSpPr/>
          <p:nvPr/>
        </p:nvSpPr>
        <p:spPr>
          <a:xfrm>
            <a:off x="530352" y="2048256"/>
            <a:ext cx="3877056" cy="182880"/>
          </a:xfrm>
          <a:prstGeom prst="rect">
            <a:avLst/>
          </a:prstGeom>
          <a:solidFill>
            <a:srgbClr val="155E75"/>
          </a:solidFill>
          <a:ln/>
        </p:spPr>
      </p:sp>
      <p:sp>
        <p:nvSpPr>
          <p:cNvPr id="12" name="Text 9"/>
          <p:cNvSpPr txBox="1"/>
          <p:nvPr/>
        </p:nvSpPr>
        <p:spPr>
          <a:xfrm>
            <a:off x="621792" y="2048256"/>
            <a:ext cx="3694176" cy="182880"/>
          </a:xfrm>
          <a:prstGeom prst="rect">
            <a:avLst/>
          </a:prstGeom>
          <a:noFill/>
          <a:ln/>
        </p:spPr>
        <p:txBody>
          <a:bodyPr wrap="square" lIns="0" tIns="0" rIns="0" bIns="0" rtlCol="0" anchor="ctr"/>
          <a:lstStyle/>
          <a:p>
            <a:pPr marL="0" indent="0">
              <a:buNone/>
            </a:pPr>
            <a:r>
              <a:rPr lang="en-US" sz="1000" b="1" dirty="0">
                <a:solidFill>
                  <a:srgbClr val="FFFFFF"/>
                </a:solidFill>
                <a:latin typeface="Courier New" pitchFamily="34" charset="0"/>
                <a:ea typeface="Courier New" pitchFamily="34" charset="-122"/>
                <a:cs typeface="Courier New" pitchFamily="34" charset="-120"/>
              </a:rPr>
              <a:t>class Pump extends FuelStation {</a:t>
            </a:r>
            <a:endParaRPr lang="en-US" sz="1000" dirty="0"/>
          </a:p>
        </p:txBody>
      </p:sp>
      <p:sp>
        <p:nvSpPr>
          <p:cNvPr id="13" name="Text 10"/>
          <p:cNvSpPr txBox="1"/>
          <p:nvPr/>
        </p:nvSpPr>
        <p:spPr>
          <a:xfrm>
            <a:off x="502920" y="2395728"/>
            <a:ext cx="3931920" cy="274320"/>
          </a:xfrm>
          <a:prstGeom prst="rect">
            <a:avLst/>
          </a:prstGeom>
          <a:noFill/>
          <a:ln/>
        </p:spPr>
        <p:txBody>
          <a:bodyPr wrap="square" lIns="0" tIns="0" rIns="0" bIns="0" rtlCol="0" anchor="ctr"/>
          <a:lstStyle/>
          <a:p>
            <a:pPr marL="0" indent="0">
              <a:buNone/>
            </a:pPr>
            <a:r>
              <a:rPr lang="en-US" sz="1150" b="1" dirty="0">
                <a:solidFill>
                  <a:srgbClr val="0E7490"/>
                </a:solidFill>
                <a:latin typeface="Calibri" pitchFamily="34" charset="0"/>
                <a:ea typeface="Calibri" pitchFamily="34" charset="-122"/>
                <a:cs typeface="Calibri" pitchFamily="34" charset="-120"/>
              </a:rPr>
              <a:t>Meaning: </a:t>
            </a:r>
            <a:r>
              <a:rPr lang="en-US" sz="1150" dirty="0">
                <a:solidFill>
                  <a:srgbClr val="0B1F3A"/>
                </a:solidFill>
                <a:latin typeface="Calibri" pitchFamily="34" charset="0"/>
                <a:ea typeface="Calibri" pitchFamily="34" charset="-122"/>
                <a:cs typeface="Calibri" pitchFamily="34" charset="-120"/>
              </a:rPr>
              <a:t>Pump is a child class of FuelStation.</a:t>
            </a:r>
            <a:endParaRPr lang="en-US" sz="1150" dirty="0"/>
          </a:p>
        </p:txBody>
      </p:sp>
      <p:sp>
        <p:nvSpPr>
          <p:cNvPr id="14" name="Shape 11"/>
          <p:cNvSpPr/>
          <p:nvPr/>
        </p:nvSpPr>
        <p:spPr>
          <a:xfrm>
            <a:off x="4663440" y="1188720"/>
            <a:ext cx="4023360" cy="1152144"/>
          </a:xfrm>
          <a:prstGeom prst="roundRect">
            <a:avLst>
              <a:gd name="adj" fmla="val 6349"/>
            </a:avLst>
          </a:prstGeom>
          <a:solidFill>
            <a:srgbClr val="0A1A30"/>
          </a:solidFill>
          <a:ln/>
        </p:spPr>
      </p:sp>
      <p:sp>
        <p:nvSpPr>
          <p:cNvPr id="15" name="Text 12"/>
          <p:cNvSpPr txBox="1"/>
          <p:nvPr/>
        </p:nvSpPr>
        <p:spPr>
          <a:xfrm>
            <a:off x="4828032" y="1261872"/>
            <a:ext cx="3694176" cy="201168"/>
          </a:xfrm>
          <a:prstGeom prst="rect">
            <a:avLst/>
          </a:prstGeom>
          <a:noFill/>
          <a:ln/>
        </p:spPr>
        <p:txBody>
          <a:bodyPr wrap="square" lIns="0" tIns="0" rIns="0" bIns="0" rtlCol="0" anchor="ctr"/>
          <a:lstStyle/>
          <a:p>
            <a:pPr marL="0" indent="0">
              <a:buNone/>
            </a:pPr>
            <a:r>
              <a:rPr lang="en-US" sz="950" b="1" kern="0" spc="100" dirty="0">
                <a:solidFill>
                  <a:srgbClr val="67C7E0"/>
                </a:solidFill>
                <a:latin typeface="Calibri" pitchFamily="34" charset="0"/>
                <a:ea typeface="Calibri" pitchFamily="34" charset="-122"/>
                <a:cs typeface="Calibri" pitchFamily="34" charset="-120"/>
              </a:rPr>
              <a:t>2 · Method overriding</a:t>
            </a:r>
            <a:endParaRPr lang="en-US" sz="950" dirty="0"/>
          </a:p>
        </p:txBody>
      </p:sp>
      <p:sp>
        <p:nvSpPr>
          <p:cNvPr id="16" name="Shape 13"/>
          <p:cNvSpPr/>
          <p:nvPr/>
        </p:nvSpPr>
        <p:spPr>
          <a:xfrm>
            <a:off x="4736592" y="1499616"/>
            <a:ext cx="3877056" cy="182880"/>
          </a:xfrm>
          <a:prstGeom prst="rect">
            <a:avLst/>
          </a:prstGeom>
          <a:solidFill>
            <a:srgbClr val="155E75"/>
          </a:solidFill>
          <a:ln/>
        </p:spPr>
      </p:sp>
      <p:sp>
        <p:nvSpPr>
          <p:cNvPr id="17" name="Text 14"/>
          <p:cNvSpPr txBox="1"/>
          <p:nvPr/>
        </p:nvSpPr>
        <p:spPr>
          <a:xfrm>
            <a:off x="4828032" y="1499616"/>
            <a:ext cx="3694176" cy="182880"/>
          </a:xfrm>
          <a:prstGeom prst="rect">
            <a:avLst/>
          </a:prstGeom>
          <a:noFill/>
          <a:ln/>
        </p:spPr>
        <p:txBody>
          <a:bodyPr wrap="square" lIns="0" tIns="0" rIns="0" bIns="0" rtlCol="0" anchor="ctr"/>
          <a:lstStyle/>
          <a:p>
            <a:pPr marL="0" indent="0">
              <a:buNone/>
            </a:pPr>
            <a:r>
              <a:rPr lang="en-US" sz="1000" b="1" dirty="0">
                <a:solidFill>
                  <a:srgbClr val="FFFFFF"/>
                </a:solidFill>
                <a:latin typeface="Courier New" pitchFamily="34" charset="0"/>
                <a:ea typeface="Courier New" pitchFamily="34" charset="-122"/>
                <a:cs typeface="Courier New" pitchFamily="34" charset="-120"/>
              </a:rPr>
              <a:t>@Override</a:t>
            </a:r>
            <a:endParaRPr lang="en-US" sz="1000" dirty="0"/>
          </a:p>
        </p:txBody>
      </p:sp>
      <p:sp>
        <p:nvSpPr>
          <p:cNvPr id="18" name="Text 15"/>
          <p:cNvSpPr txBox="1"/>
          <p:nvPr/>
        </p:nvSpPr>
        <p:spPr>
          <a:xfrm>
            <a:off x="4828032" y="1682496"/>
            <a:ext cx="3694176" cy="182880"/>
          </a:xfrm>
          <a:prstGeom prst="rect">
            <a:avLst/>
          </a:prstGeom>
          <a:noFill/>
          <a:ln/>
        </p:spPr>
        <p:txBody>
          <a:bodyPr wrap="square" lIns="0" tIns="0" rIns="0" bIns="0" rtlCol="0" anchor="ctr"/>
          <a:lstStyle/>
          <a:p>
            <a:pPr marL="0" indent="0">
              <a:buNone/>
            </a:pPr>
            <a:r>
              <a:rPr lang="en-US" sz="1000" dirty="0">
                <a:solidFill>
                  <a:srgbClr val="C9D6E8"/>
                </a:solidFill>
                <a:latin typeface="Courier New" pitchFamily="34" charset="0"/>
                <a:ea typeface="Courier New" pitchFamily="34" charset="-122"/>
                <a:cs typeface="Courier New" pitchFamily="34" charset="-120"/>
              </a:rPr>
              <a:t>void showInfo() {</a:t>
            </a:r>
            <a:endParaRPr lang="en-US" sz="1000" dirty="0"/>
          </a:p>
        </p:txBody>
      </p:sp>
      <p:sp>
        <p:nvSpPr>
          <p:cNvPr id="19" name="Text 16"/>
          <p:cNvSpPr txBox="1"/>
          <p:nvPr/>
        </p:nvSpPr>
        <p:spPr>
          <a:xfrm>
            <a:off x="5132832" y="1865376"/>
            <a:ext cx="3389376" cy="182880"/>
          </a:xfrm>
          <a:prstGeom prst="rect">
            <a:avLst/>
          </a:prstGeom>
          <a:noFill/>
          <a:ln/>
        </p:spPr>
        <p:txBody>
          <a:bodyPr wrap="square" lIns="0" tIns="0" rIns="0" bIns="0" rtlCol="0" anchor="ctr"/>
          <a:lstStyle/>
          <a:p>
            <a:pPr marL="0" indent="0">
              <a:buNone/>
            </a:pPr>
            <a:r>
              <a:rPr lang="en-US" sz="1000" dirty="0">
                <a:solidFill>
                  <a:srgbClr val="C9D6E8"/>
                </a:solidFill>
                <a:latin typeface="Courier New" pitchFamily="34" charset="0"/>
                <a:ea typeface="Courier New" pitchFamily="34" charset="-122"/>
                <a:cs typeface="Courier New" pitchFamily="34" charset="-120"/>
              </a:rPr>
              <a:t>System.out.println(name);</a:t>
            </a:r>
            <a:endParaRPr lang="en-US" sz="1000" dirty="0"/>
          </a:p>
        </p:txBody>
      </p:sp>
      <p:sp>
        <p:nvSpPr>
          <p:cNvPr id="20" name="Text 17"/>
          <p:cNvSpPr txBox="1"/>
          <p:nvPr/>
        </p:nvSpPr>
        <p:spPr>
          <a:xfrm>
            <a:off x="4828032" y="2048256"/>
            <a:ext cx="3694176" cy="182880"/>
          </a:xfrm>
          <a:prstGeom prst="rect">
            <a:avLst/>
          </a:prstGeom>
          <a:noFill/>
          <a:ln/>
        </p:spPr>
        <p:txBody>
          <a:bodyPr wrap="square" lIns="0" tIns="0" rIns="0" bIns="0" rtlCol="0" anchor="ctr"/>
          <a:lstStyle/>
          <a:p>
            <a:pPr marL="0" indent="0">
              <a:buNone/>
            </a:pPr>
            <a:r>
              <a:rPr lang="en-US" sz="1000" dirty="0">
                <a:solidFill>
                  <a:srgbClr val="C9D6E8"/>
                </a:solidFill>
                <a:latin typeface="Courier New" pitchFamily="34" charset="0"/>
                <a:ea typeface="Courier New" pitchFamily="34" charset="-122"/>
                <a:cs typeface="Courier New" pitchFamily="34" charset="-120"/>
              </a:rPr>
              <a:t>}</a:t>
            </a:r>
            <a:endParaRPr lang="en-US" sz="1000" dirty="0"/>
          </a:p>
        </p:txBody>
      </p:sp>
      <p:sp>
        <p:nvSpPr>
          <p:cNvPr id="21" name="Text 18"/>
          <p:cNvSpPr txBox="1"/>
          <p:nvPr/>
        </p:nvSpPr>
        <p:spPr>
          <a:xfrm>
            <a:off x="4709160" y="2395728"/>
            <a:ext cx="3931920" cy="274320"/>
          </a:xfrm>
          <a:prstGeom prst="rect">
            <a:avLst/>
          </a:prstGeom>
          <a:noFill/>
          <a:ln/>
        </p:spPr>
        <p:txBody>
          <a:bodyPr wrap="square" lIns="0" tIns="0" rIns="0" bIns="0" rtlCol="0" anchor="ctr"/>
          <a:lstStyle/>
          <a:p>
            <a:pPr marL="0" indent="0">
              <a:buNone/>
            </a:pPr>
            <a:r>
              <a:rPr lang="en-US" sz="1150" b="1" dirty="0">
                <a:solidFill>
                  <a:srgbClr val="0E7490"/>
                </a:solidFill>
                <a:latin typeface="Calibri" pitchFamily="34" charset="0"/>
                <a:ea typeface="Calibri" pitchFamily="34" charset="-122"/>
                <a:cs typeface="Calibri" pitchFamily="34" charset="-120"/>
              </a:rPr>
              <a:t>Meaning: </a:t>
            </a:r>
            <a:r>
              <a:rPr lang="en-US" sz="1150" dirty="0">
                <a:solidFill>
                  <a:srgbClr val="0B1F3A"/>
                </a:solidFill>
                <a:latin typeface="Calibri" pitchFamily="34" charset="0"/>
                <a:ea typeface="Calibri" pitchFamily="34" charset="-122"/>
                <a:cs typeface="Calibri" pitchFamily="34" charset="-120"/>
              </a:rPr>
              <a:t>Pump gives its own body to showInfo().</a:t>
            </a:r>
            <a:endParaRPr lang="en-US" sz="1150" dirty="0"/>
          </a:p>
        </p:txBody>
      </p:sp>
      <p:sp>
        <p:nvSpPr>
          <p:cNvPr id="22" name="Shape 19"/>
          <p:cNvSpPr/>
          <p:nvPr/>
        </p:nvSpPr>
        <p:spPr>
          <a:xfrm>
            <a:off x="457200" y="2926080"/>
            <a:ext cx="4023360" cy="969264"/>
          </a:xfrm>
          <a:prstGeom prst="roundRect">
            <a:avLst>
              <a:gd name="adj" fmla="val 7547"/>
            </a:avLst>
          </a:prstGeom>
          <a:solidFill>
            <a:srgbClr val="0A1A30"/>
          </a:solidFill>
          <a:ln/>
        </p:spPr>
      </p:sp>
      <p:sp>
        <p:nvSpPr>
          <p:cNvPr id="23" name="Text 20"/>
          <p:cNvSpPr txBox="1"/>
          <p:nvPr/>
        </p:nvSpPr>
        <p:spPr>
          <a:xfrm>
            <a:off x="621792" y="2999232"/>
            <a:ext cx="3694176" cy="201168"/>
          </a:xfrm>
          <a:prstGeom prst="rect">
            <a:avLst/>
          </a:prstGeom>
          <a:noFill/>
          <a:ln/>
        </p:spPr>
        <p:txBody>
          <a:bodyPr wrap="square" lIns="0" tIns="0" rIns="0" bIns="0" rtlCol="0" anchor="ctr"/>
          <a:lstStyle/>
          <a:p>
            <a:pPr marL="0" indent="0">
              <a:buNone/>
            </a:pPr>
            <a:r>
              <a:rPr lang="en-US" sz="950" b="1" kern="0" spc="100" dirty="0">
                <a:solidFill>
                  <a:srgbClr val="67C7E0"/>
                </a:solidFill>
                <a:latin typeface="Calibri" pitchFamily="34" charset="0"/>
                <a:ea typeface="Calibri" pitchFamily="34" charset="-122"/>
                <a:cs typeface="Calibri" pitchFamily="34" charset="-120"/>
              </a:rPr>
              <a:t>3 · Button click event</a:t>
            </a:r>
            <a:endParaRPr lang="en-US" sz="950" dirty="0"/>
          </a:p>
        </p:txBody>
      </p:sp>
      <p:sp>
        <p:nvSpPr>
          <p:cNvPr id="24" name="Text 21"/>
          <p:cNvSpPr txBox="1"/>
          <p:nvPr/>
        </p:nvSpPr>
        <p:spPr>
          <a:xfrm>
            <a:off x="621792" y="3236976"/>
            <a:ext cx="3694176" cy="182880"/>
          </a:xfrm>
          <a:prstGeom prst="rect">
            <a:avLst/>
          </a:prstGeom>
          <a:noFill/>
          <a:ln/>
        </p:spPr>
        <p:txBody>
          <a:bodyPr wrap="square" lIns="0" tIns="0" rIns="0" bIns="0" rtlCol="0" anchor="ctr"/>
          <a:lstStyle/>
          <a:p>
            <a:pPr marL="0" indent="0">
              <a:buNone/>
            </a:pPr>
            <a:r>
              <a:rPr lang="en-US" sz="1000" dirty="0">
                <a:solidFill>
                  <a:srgbClr val="C9D6E8"/>
                </a:solidFill>
                <a:latin typeface="Courier New" pitchFamily="34" charset="0"/>
                <a:ea typeface="Courier New" pitchFamily="34" charset="-122"/>
                <a:cs typeface="Courier New" pitchFamily="34" charset="-120"/>
              </a:rPr>
              <a:t>JButton b = sideButton(name);</a:t>
            </a:r>
            <a:endParaRPr lang="en-US" sz="1000" dirty="0"/>
          </a:p>
        </p:txBody>
      </p:sp>
      <p:sp>
        <p:nvSpPr>
          <p:cNvPr id="25" name="Text 22"/>
          <p:cNvSpPr txBox="1"/>
          <p:nvPr/>
        </p:nvSpPr>
        <p:spPr>
          <a:xfrm>
            <a:off x="621792" y="3419856"/>
            <a:ext cx="3694176" cy="182880"/>
          </a:xfrm>
          <a:prstGeom prst="rect">
            <a:avLst/>
          </a:prstGeom>
          <a:noFill/>
          <a:ln/>
        </p:spPr>
        <p:txBody>
          <a:bodyPr wrap="square" lIns="0" tIns="0" rIns="0" bIns="0" rtlCol="0" anchor="ctr"/>
          <a:lstStyle/>
          <a:p>
            <a:pPr marL="0" indent="0">
              <a:buNone/>
            </a:pPr>
            <a:r>
              <a:rPr lang="en-US" sz="1000" dirty="0">
                <a:solidFill>
                  <a:srgbClr val="C9D6E8"/>
                </a:solidFill>
                <a:latin typeface="Courier New" pitchFamily="34" charset="0"/>
                <a:ea typeface="Courier New" pitchFamily="34" charset="-122"/>
                <a:cs typeface="Courier New" pitchFamily="34" charset="-120"/>
              </a:rPr>
              <a:t>side.add(b);</a:t>
            </a:r>
            <a:endParaRPr lang="en-US" sz="1000" dirty="0"/>
          </a:p>
        </p:txBody>
      </p:sp>
      <p:sp>
        <p:nvSpPr>
          <p:cNvPr id="26" name="Shape 23"/>
          <p:cNvSpPr/>
          <p:nvPr/>
        </p:nvSpPr>
        <p:spPr>
          <a:xfrm>
            <a:off x="530352" y="3602736"/>
            <a:ext cx="3877056" cy="182880"/>
          </a:xfrm>
          <a:prstGeom prst="rect">
            <a:avLst/>
          </a:prstGeom>
          <a:solidFill>
            <a:srgbClr val="155E75"/>
          </a:solidFill>
          <a:ln/>
        </p:spPr>
      </p:sp>
      <p:sp>
        <p:nvSpPr>
          <p:cNvPr id="27" name="Text 24"/>
          <p:cNvSpPr txBox="1"/>
          <p:nvPr/>
        </p:nvSpPr>
        <p:spPr>
          <a:xfrm>
            <a:off x="621792" y="3602736"/>
            <a:ext cx="3694176" cy="182880"/>
          </a:xfrm>
          <a:prstGeom prst="rect">
            <a:avLst/>
          </a:prstGeom>
          <a:noFill/>
          <a:ln/>
        </p:spPr>
        <p:txBody>
          <a:bodyPr wrap="square" lIns="0" tIns="0" rIns="0" bIns="0" rtlCol="0" anchor="ctr"/>
          <a:lstStyle/>
          <a:p>
            <a:pPr marL="0" indent="0">
              <a:buNone/>
            </a:pPr>
            <a:r>
              <a:rPr lang="en-US" sz="1000" b="1" dirty="0">
                <a:solidFill>
                  <a:srgbClr val="FFFFFF"/>
                </a:solidFill>
                <a:latin typeface="Courier New" pitchFamily="34" charset="0"/>
                <a:ea typeface="Courier New" pitchFamily="34" charset="-122"/>
                <a:cs typeface="Courier New" pitchFamily="34" charset="-120"/>
              </a:rPr>
              <a:t>b.addActionListener(e -&gt; bookFuel());</a:t>
            </a:r>
            <a:endParaRPr lang="en-US" sz="1000" dirty="0"/>
          </a:p>
        </p:txBody>
      </p:sp>
      <p:sp>
        <p:nvSpPr>
          <p:cNvPr id="28" name="Text 25"/>
          <p:cNvSpPr txBox="1"/>
          <p:nvPr/>
        </p:nvSpPr>
        <p:spPr>
          <a:xfrm>
            <a:off x="502920" y="3950208"/>
            <a:ext cx="3931920" cy="274320"/>
          </a:xfrm>
          <a:prstGeom prst="rect">
            <a:avLst/>
          </a:prstGeom>
          <a:noFill/>
          <a:ln/>
        </p:spPr>
        <p:txBody>
          <a:bodyPr wrap="square" lIns="0" tIns="0" rIns="0" bIns="0" rtlCol="0" anchor="ctr"/>
          <a:lstStyle/>
          <a:p>
            <a:pPr marL="0" indent="0">
              <a:buNone/>
            </a:pPr>
            <a:r>
              <a:rPr lang="en-US" sz="1150" b="1" dirty="0">
                <a:solidFill>
                  <a:srgbClr val="0E7490"/>
                </a:solidFill>
                <a:latin typeface="Calibri" pitchFamily="34" charset="0"/>
                <a:ea typeface="Calibri" pitchFamily="34" charset="-122"/>
                <a:cs typeface="Calibri" pitchFamily="34" charset="-120"/>
              </a:rPr>
              <a:t>Meaning: </a:t>
            </a:r>
            <a:r>
              <a:rPr lang="en-US" sz="1150" dirty="0">
                <a:solidFill>
                  <a:srgbClr val="0B1F3A"/>
                </a:solidFill>
                <a:latin typeface="Calibri" pitchFamily="34" charset="0"/>
                <a:ea typeface="Calibri" pitchFamily="34" charset="-122"/>
                <a:cs typeface="Calibri" pitchFamily="34" charset="-120"/>
              </a:rPr>
              <a:t>A click on the button runs bookFuel().</a:t>
            </a:r>
            <a:endParaRPr lang="en-US" sz="1150" dirty="0"/>
          </a:p>
        </p:txBody>
      </p:sp>
      <p:sp>
        <p:nvSpPr>
          <p:cNvPr id="29" name="Shape 26"/>
          <p:cNvSpPr/>
          <p:nvPr/>
        </p:nvSpPr>
        <p:spPr>
          <a:xfrm>
            <a:off x="4663440" y="2926080"/>
            <a:ext cx="4023360" cy="969264"/>
          </a:xfrm>
          <a:prstGeom prst="roundRect">
            <a:avLst>
              <a:gd name="adj" fmla="val 7547"/>
            </a:avLst>
          </a:prstGeom>
          <a:solidFill>
            <a:srgbClr val="0A1A30"/>
          </a:solidFill>
          <a:ln/>
        </p:spPr>
      </p:sp>
      <p:sp>
        <p:nvSpPr>
          <p:cNvPr id="30" name="Text 27"/>
          <p:cNvSpPr txBox="1"/>
          <p:nvPr/>
        </p:nvSpPr>
        <p:spPr>
          <a:xfrm>
            <a:off x="4828032" y="2999232"/>
            <a:ext cx="3694176" cy="201168"/>
          </a:xfrm>
          <a:prstGeom prst="rect">
            <a:avLst/>
          </a:prstGeom>
          <a:noFill/>
          <a:ln/>
        </p:spPr>
        <p:txBody>
          <a:bodyPr wrap="square" lIns="0" tIns="0" rIns="0" bIns="0" rtlCol="0" anchor="ctr"/>
          <a:lstStyle/>
          <a:p>
            <a:pPr marL="0" indent="0">
              <a:buNone/>
            </a:pPr>
            <a:r>
              <a:rPr lang="en-US" sz="950" b="1" kern="0" spc="100" dirty="0">
                <a:solidFill>
                  <a:srgbClr val="67C7E0"/>
                </a:solidFill>
                <a:latin typeface="Calibri" pitchFamily="34" charset="0"/>
                <a:ea typeface="Calibri" pitchFamily="34" charset="-122"/>
                <a:cs typeface="Calibri" pitchFamily="34" charset="-120"/>
              </a:rPr>
              <a:t>4 · ArrayList data</a:t>
            </a:r>
            <a:endParaRPr lang="en-US" sz="950" dirty="0"/>
          </a:p>
        </p:txBody>
      </p:sp>
      <p:sp>
        <p:nvSpPr>
          <p:cNvPr id="31" name="Shape 28"/>
          <p:cNvSpPr/>
          <p:nvPr/>
        </p:nvSpPr>
        <p:spPr>
          <a:xfrm>
            <a:off x="4736592" y="3236976"/>
            <a:ext cx="3877056" cy="182880"/>
          </a:xfrm>
          <a:prstGeom prst="rect">
            <a:avLst/>
          </a:prstGeom>
          <a:solidFill>
            <a:srgbClr val="155E75"/>
          </a:solidFill>
          <a:ln/>
        </p:spPr>
      </p:sp>
      <p:sp>
        <p:nvSpPr>
          <p:cNvPr id="32" name="Text 29"/>
          <p:cNvSpPr txBox="1"/>
          <p:nvPr/>
        </p:nvSpPr>
        <p:spPr>
          <a:xfrm>
            <a:off x="4828032" y="3236976"/>
            <a:ext cx="3694176" cy="182880"/>
          </a:xfrm>
          <a:prstGeom prst="rect">
            <a:avLst/>
          </a:prstGeom>
          <a:noFill/>
          <a:ln/>
        </p:spPr>
        <p:txBody>
          <a:bodyPr wrap="square" lIns="0" tIns="0" rIns="0" bIns="0" rtlCol="0" anchor="ctr"/>
          <a:lstStyle/>
          <a:p>
            <a:pPr marL="0" indent="0">
              <a:buNone/>
            </a:pPr>
            <a:r>
              <a:rPr lang="en-US" sz="1000" b="1" dirty="0">
                <a:solidFill>
                  <a:srgbClr val="FFFFFF"/>
                </a:solidFill>
                <a:latin typeface="Courier New" pitchFamily="34" charset="0"/>
                <a:ea typeface="Courier New" pitchFamily="34" charset="-122"/>
                <a:cs typeface="Courier New" pitchFamily="34" charset="-120"/>
              </a:rPr>
              <a:t>ArrayList&lt;Pump&gt; pumps = new ArrayList&lt;&gt;();</a:t>
            </a:r>
            <a:endParaRPr lang="en-US" sz="1000" dirty="0"/>
          </a:p>
        </p:txBody>
      </p:sp>
      <p:sp>
        <p:nvSpPr>
          <p:cNvPr id="33" name="Text 30"/>
          <p:cNvSpPr txBox="1"/>
          <p:nvPr/>
        </p:nvSpPr>
        <p:spPr>
          <a:xfrm>
            <a:off x="4828032" y="3419856"/>
            <a:ext cx="3694176" cy="182880"/>
          </a:xfrm>
          <a:prstGeom prst="rect">
            <a:avLst/>
          </a:prstGeom>
          <a:noFill/>
          <a:ln/>
        </p:spPr>
        <p:txBody>
          <a:bodyPr wrap="square" lIns="0" tIns="0" rIns="0" bIns="0" rtlCol="0" anchor="ctr"/>
          <a:lstStyle/>
          <a:p>
            <a:pPr marL="0" indent="0">
              <a:buNone/>
            </a:pPr>
            <a:r>
              <a:rPr lang="en-US" sz="1000" dirty="0">
                <a:solidFill>
                  <a:srgbClr val="C9D6E8"/>
                </a:solidFill>
                <a:latin typeface="Courier New" pitchFamily="34" charset="0"/>
                <a:ea typeface="Courier New" pitchFamily="34" charset="-122"/>
                <a:cs typeface="Courier New" pitchFamily="34" charset="-120"/>
              </a:rPr>
              <a:t>pumps.add(new Pump("Mirpur Padma Pump", ...));</a:t>
            </a:r>
            <a:endParaRPr lang="en-US" sz="1000" dirty="0"/>
          </a:p>
        </p:txBody>
      </p:sp>
      <p:sp>
        <p:nvSpPr>
          <p:cNvPr id="34" name="Text 31"/>
          <p:cNvSpPr txBox="1"/>
          <p:nvPr/>
        </p:nvSpPr>
        <p:spPr>
          <a:xfrm>
            <a:off x="4828032" y="3602736"/>
            <a:ext cx="3694176" cy="182880"/>
          </a:xfrm>
          <a:prstGeom prst="rect">
            <a:avLst/>
          </a:prstGeom>
          <a:noFill/>
          <a:ln/>
        </p:spPr>
        <p:txBody>
          <a:bodyPr wrap="square" lIns="0" tIns="0" rIns="0" bIns="0" rtlCol="0" anchor="ctr"/>
          <a:lstStyle/>
          <a:p>
            <a:pPr marL="0" indent="0">
              <a:buNone/>
            </a:pPr>
            <a:r>
              <a:rPr lang="en-US" sz="1000" dirty="0">
                <a:solidFill>
                  <a:srgbClr val="C9D6E8"/>
                </a:solidFill>
                <a:latin typeface="Courier New" pitchFamily="34" charset="0"/>
                <a:ea typeface="Courier New" pitchFamily="34" charset="-122"/>
                <a:cs typeface="Courier New" pitchFamily="34" charset="-120"/>
              </a:rPr>
              <a:t>for (Pump p : pumps) { ... }</a:t>
            </a:r>
            <a:endParaRPr lang="en-US" sz="1000" dirty="0"/>
          </a:p>
        </p:txBody>
      </p:sp>
      <p:sp>
        <p:nvSpPr>
          <p:cNvPr id="35" name="Text 32"/>
          <p:cNvSpPr txBox="1"/>
          <p:nvPr/>
        </p:nvSpPr>
        <p:spPr>
          <a:xfrm>
            <a:off x="4709160" y="3950208"/>
            <a:ext cx="3931920" cy="274320"/>
          </a:xfrm>
          <a:prstGeom prst="rect">
            <a:avLst/>
          </a:prstGeom>
          <a:noFill/>
          <a:ln/>
        </p:spPr>
        <p:txBody>
          <a:bodyPr wrap="square" lIns="0" tIns="0" rIns="0" bIns="0" rtlCol="0" anchor="ctr"/>
          <a:lstStyle/>
          <a:p>
            <a:pPr marL="0" indent="0">
              <a:buNone/>
            </a:pPr>
            <a:r>
              <a:rPr lang="en-US" sz="1150" b="1" dirty="0">
                <a:solidFill>
                  <a:srgbClr val="0E7490"/>
                </a:solidFill>
                <a:latin typeface="Calibri" pitchFamily="34" charset="0"/>
                <a:ea typeface="Calibri" pitchFamily="34" charset="-122"/>
                <a:cs typeface="Calibri" pitchFamily="34" charset="-120"/>
              </a:rPr>
              <a:t>Meaning: </a:t>
            </a:r>
            <a:r>
              <a:rPr lang="en-US" sz="1150" dirty="0">
                <a:solidFill>
                  <a:srgbClr val="0B1F3A"/>
                </a:solidFill>
                <a:latin typeface="Calibri" pitchFamily="34" charset="0"/>
                <a:ea typeface="Calibri" pitchFamily="34" charset="-122"/>
                <a:cs typeface="Calibri" pitchFamily="34" charset="-120"/>
              </a:rPr>
              <a:t>Pump objects are stored and looped through.</a:t>
            </a:r>
            <a:endParaRPr lang="en-US" sz="1150" dirty="0"/>
          </a:p>
        </p:txBody>
      </p:sp>
      <p:sp>
        <p:nvSpPr>
          <p:cNvPr id="36" name="Text 33"/>
          <p:cNvSpPr txBox="1"/>
          <p:nvPr/>
        </p:nvSpPr>
        <p:spPr>
          <a:xfrm>
            <a:off x="457200" y="4773168"/>
            <a:ext cx="4572000" cy="201168"/>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Smart Fuel Pump Management System</a:t>
            </a:r>
            <a:endParaRPr lang="en-US" sz="1000" dirty="0"/>
          </a:p>
        </p:txBody>
      </p:sp>
      <p:sp>
        <p:nvSpPr>
          <p:cNvPr id="37" name="Text 34"/>
          <p:cNvSpPr txBox="1"/>
          <p:nvPr/>
        </p:nvSpPr>
        <p:spPr>
          <a:xfrm>
            <a:off x="7772400" y="4773168"/>
            <a:ext cx="914400" cy="201168"/>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6400800" cy="228600"/>
          </a:xfrm>
          <a:prstGeom prst="rect">
            <a:avLst/>
          </a:prstGeom>
          <a:noFill/>
          <a:ln/>
        </p:spPr>
        <p:txBody>
          <a:bodyPr wrap="square" lIns="0" tIns="0" rIns="0" bIns="0" rtlCol="0" anchor="ctr"/>
          <a:lstStyle/>
          <a:p>
            <a:pPr marL="0" indent="0">
              <a:buNone/>
            </a:pPr>
            <a:r>
              <a:rPr lang="en-US" sz="1100" b="1" kern="0" spc="300" dirty="0">
                <a:solidFill>
                  <a:srgbClr val="0E7490"/>
                </a:solidFill>
                <a:latin typeface="Calibri" pitchFamily="34" charset="0"/>
                <a:ea typeface="Calibri" pitchFamily="34" charset="-122"/>
                <a:cs typeface="Calibri" pitchFamily="34" charset="-120"/>
              </a:rPr>
              <a:t>BENEFITS</a:t>
            </a:r>
            <a:endParaRPr lang="en-US" sz="1100" dirty="0"/>
          </a:p>
        </p:txBody>
      </p:sp>
      <p:sp>
        <p:nvSpPr>
          <p:cNvPr id="3" name="Text 1"/>
          <p:cNvSpPr txBox="1"/>
          <p:nvPr/>
        </p:nvSpPr>
        <p:spPr>
          <a:xfrm>
            <a:off x="457200" y="502920"/>
            <a:ext cx="7498080" cy="548640"/>
          </a:xfrm>
          <a:prstGeom prst="rect">
            <a:avLst/>
          </a:prstGeom>
          <a:noFill/>
          <a:ln/>
        </p:spPr>
        <p:txBody>
          <a:bodyPr wrap="square" lIns="0" tIns="0" rIns="0" bIns="0" rtlCol="0" anchor="ctr"/>
          <a:lstStyle/>
          <a:p>
            <a:pPr marL="0" indent="0">
              <a:buNone/>
            </a:pPr>
            <a:r>
              <a:rPr lang="en-US" sz="3000" b="1" dirty="0">
                <a:solidFill>
                  <a:srgbClr val="0B1F3A"/>
                </a:solidFill>
                <a:latin typeface="Calibri" pitchFamily="34" charset="0"/>
                <a:ea typeface="Calibri" pitchFamily="34" charset="-122"/>
                <a:cs typeface="Calibri" pitchFamily="34" charset="-120"/>
              </a:rPr>
              <a:t>Project Benefits</a:t>
            </a:r>
            <a:endParaRPr lang="en-US" sz="3000" dirty="0"/>
          </a:p>
        </p:txBody>
      </p:sp>
      <p:sp>
        <p:nvSpPr>
          <p:cNvPr id="4" name="Shape 2"/>
          <p:cNvSpPr/>
          <p:nvPr/>
        </p:nvSpPr>
        <p:spPr>
          <a:xfrm>
            <a:off x="8229600" y="384048"/>
            <a:ext cx="457200" cy="457200"/>
          </a:xfrm>
          <a:prstGeom prst="ellipse">
            <a:avLst/>
          </a:prstGeom>
          <a:solidFill>
            <a:srgbClr val="0B1F3A"/>
          </a:solidFill>
          <a:ln/>
        </p:spPr>
      </p:sp>
      <p:pic>
        <p:nvPicPr>
          <p:cNvPr id="5" name="Image 0" descr="preencoded.png"/>
          <p:cNvPicPr>
            <a:picLocks noChangeAspect="1"/>
          </p:cNvPicPr>
          <p:nvPr/>
        </p:nvPicPr>
        <p:blipFill>
          <a:blip r:embed="rId3"/>
          <a:stretch>
            <a:fillRect/>
          </a:stretch>
        </p:blipFill>
        <p:spPr>
          <a:xfrm>
            <a:off x="8343900" y="498348"/>
            <a:ext cx="228600" cy="228600"/>
          </a:xfrm>
          <a:prstGeom prst="rect">
            <a:avLst/>
          </a:prstGeom>
        </p:spPr>
      </p:pic>
      <p:sp>
        <p:nvSpPr>
          <p:cNvPr id="6" name="Shape 3"/>
          <p:cNvSpPr/>
          <p:nvPr/>
        </p:nvSpPr>
        <p:spPr>
          <a:xfrm>
            <a:off x="457200" y="1234440"/>
            <a:ext cx="2590495" cy="1508760"/>
          </a:xfrm>
          <a:prstGeom prst="roundRect">
            <a:avLst>
              <a:gd name="adj" fmla="val 6061"/>
            </a:avLst>
          </a:prstGeom>
          <a:solidFill>
            <a:srgbClr val="F3F7FB"/>
          </a:solidFill>
          <a:ln/>
          <a:effectLst>
            <a:outerShdw blurRad="76200" dist="25400" dir="5400000" algn="bl" rotWithShape="0">
              <a:srgbClr val="000000">
                <a:alpha val="10000"/>
              </a:srgbClr>
            </a:outerShdw>
          </a:effectLst>
        </p:spPr>
      </p:sp>
      <p:sp>
        <p:nvSpPr>
          <p:cNvPr id="7" name="Shape 4"/>
          <p:cNvSpPr/>
          <p:nvPr/>
        </p:nvSpPr>
        <p:spPr>
          <a:xfrm>
            <a:off x="640080" y="1417320"/>
            <a:ext cx="502920" cy="502920"/>
          </a:xfrm>
          <a:prstGeom prst="ellipse">
            <a:avLst/>
          </a:prstGeom>
          <a:solidFill>
            <a:srgbClr val="0B1F3A"/>
          </a:solidFill>
          <a:ln/>
        </p:spPr>
      </p:sp>
      <p:pic>
        <p:nvPicPr>
          <p:cNvPr id="8" name="Image 1" descr="preencoded.png"/>
          <p:cNvPicPr>
            <a:picLocks noChangeAspect="1"/>
          </p:cNvPicPr>
          <p:nvPr/>
        </p:nvPicPr>
        <p:blipFill>
          <a:blip r:embed="rId4"/>
          <a:stretch>
            <a:fillRect/>
          </a:stretch>
        </p:blipFill>
        <p:spPr>
          <a:xfrm>
            <a:off x="765810" y="1543050"/>
            <a:ext cx="251460" cy="251460"/>
          </a:xfrm>
          <a:prstGeom prst="rect">
            <a:avLst/>
          </a:prstGeom>
        </p:spPr>
      </p:pic>
      <p:sp>
        <p:nvSpPr>
          <p:cNvPr id="9" name="Text 5"/>
          <p:cNvSpPr txBox="1"/>
          <p:nvPr/>
        </p:nvSpPr>
        <p:spPr>
          <a:xfrm>
            <a:off x="1280160" y="1417320"/>
            <a:ext cx="1630375" cy="502920"/>
          </a:xfrm>
          <a:prstGeom prst="rect">
            <a:avLst/>
          </a:prstGeom>
          <a:noFill/>
          <a:ln/>
        </p:spPr>
        <p:txBody>
          <a:bodyPr wrap="square" lIns="0" tIns="0" rIns="0" bIns="0"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Easy Pump Management</a:t>
            </a:r>
            <a:endParaRPr lang="en-US" sz="1400" dirty="0"/>
          </a:p>
        </p:txBody>
      </p:sp>
      <p:sp>
        <p:nvSpPr>
          <p:cNvPr id="10" name="Text 6"/>
          <p:cNvSpPr txBox="1"/>
          <p:nvPr/>
        </p:nvSpPr>
        <p:spPr>
          <a:xfrm>
            <a:off x="640080" y="2057400"/>
            <a:ext cx="2224735" cy="594360"/>
          </a:xfrm>
          <a:prstGeom prst="rect">
            <a:avLst/>
          </a:prstGeom>
          <a:noFill/>
          <a:ln/>
        </p:spPr>
        <p:txBody>
          <a:bodyPr wrap="square" lIns="0" tIns="0" rIns="0" bIns="0" rtlCol="0" anchor="t"/>
          <a:lstStyle/>
          <a:p>
            <a:pPr marL="0" indent="0">
              <a:buNone/>
            </a:pPr>
            <a:r>
              <a:rPr lang="en-US" sz="1200" dirty="0">
                <a:solidFill>
                  <a:srgbClr val="0B1F3A"/>
                </a:solidFill>
                <a:latin typeface="Calibri" pitchFamily="34" charset="0"/>
                <a:ea typeface="Calibri" pitchFamily="34" charset="-122"/>
                <a:cs typeface="Calibri" pitchFamily="34" charset="-120"/>
              </a:rPr>
              <a:t>Register, remove and view pumps from the Admin Panel.</a:t>
            </a:r>
            <a:endParaRPr lang="en-US" sz="1200" dirty="0"/>
          </a:p>
        </p:txBody>
      </p:sp>
      <p:sp>
        <p:nvSpPr>
          <p:cNvPr id="11" name="Shape 7"/>
          <p:cNvSpPr/>
          <p:nvPr/>
        </p:nvSpPr>
        <p:spPr>
          <a:xfrm>
            <a:off x="3276295" y="1234440"/>
            <a:ext cx="2590495" cy="1508760"/>
          </a:xfrm>
          <a:prstGeom prst="roundRect">
            <a:avLst>
              <a:gd name="adj" fmla="val 6061"/>
            </a:avLst>
          </a:prstGeom>
          <a:solidFill>
            <a:srgbClr val="F3F7FB"/>
          </a:solidFill>
          <a:ln/>
          <a:effectLst>
            <a:outerShdw blurRad="76200" dist="25400" dir="5400000" algn="bl" rotWithShape="0">
              <a:srgbClr val="000000">
                <a:alpha val="10000"/>
              </a:srgbClr>
            </a:outerShdw>
          </a:effectLst>
        </p:spPr>
      </p:sp>
      <p:sp>
        <p:nvSpPr>
          <p:cNvPr id="12" name="Shape 8"/>
          <p:cNvSpPr/>
          <p:nvPr/>
        </p:nvSpPr>
        <p:spPr>
          <a:xfrm>
            <a:off x="3459175" y="1417320"/>
            <a:ext cx="502920" cy="502920"/>
          </a:xfrm>
          <a:prstGeom prst="ellipse">
            <a:avLst/>
          </a:prstGeom>
          <a:solidFill>
            <a:srgbClr val="0B1F3A"/>
          </a:solidFill>
          <a:ln/>
        </p:spPr>
      </p:sp>
      <p:pic>
        <p:nvPicPr>
          <p:cNvPr id="13" name="Image 2" descr="preencoded.png"/>
          <p:cNvPicPr>
            <a:picLocks noChangeAspect="1"/>
          </p:cNvPicPr>
          <p:nvPr/>
        </p:nvPicPr>
        <p:blipFill>
          <a:blip r:embed="rId5"/>
          <a:stretch>
            <a:fillRect/>
          </a:stretch>
        </p:blipFill>
        <p:spPr>
          <a:xfrm>
            <a:off x="3584905" y="1543050"/>
            <a:ext cx="251460" cy="251460"/>
          </a:xfrm>
          <a:prstGeom prst="rect">
            <a:avLst/>
          </a:prstGeom>
        </p:spPr>
      </p:pic>
      <p:sp>
        <p:nvSpPr>
          <p:cNvPr id="14" name="Text 9"/>
          <p:cNvSpPr txBox="1"/>
          <p:nvPr/>
        </p:nvSpPr>
        <p:spPr>
          <a:xfrm>
            <a:off x="4099255" y="1417320"/>
            <a:ext cx="1630375" cy="502920"/>
          </a:xfrm>
          <a:prstGeom prst="rect">
            <a:avLst/>
          </a:prstGeom>
          <a:noFill/>
          <a:ln/>
        </p:spPr>
        <p:txBody>
          <a:bodyPr wrap="square" lIns="0" tIns="0" rIns="0" bIns="0"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Faster Booking</a:t>
            </a:r>
            <a:endParaRPr lang="en-US" sz="1400" dirty="0"/>
          </a:p>
        </p:txBody>
      </p:sp>
      <p:sp>
        <p:nvSpPr>
          <p:cNvPr id="15" name="Text 10"/>
          <p:cNvSpPr txBox="1"/>
          <p:nvPr/>
        </p:nvSpPr>
        <p:spPr>
          <a:xfrm>
            <a:off x="3459175" y="2057400"/>
            <a:ext cx="2224735" cy="594360"/>
          </a:xfrm>
          <a:prstGeom prst="rect">
            <a:avLst/>
          </a:prstGeom>
          <a:noFill/>
          <a:ln/>
        </p:spPr>
        <p:txBody>
          <a:bodyPr wrap="square" lIns="0" tIns="0" rIns="0" bIns="0" rtlCol="0" anchor="t"/>
          <a:lstStyle/>
          <a:p>
            <a:pPr marL="0" indent="0">
              <a:buNone/>
            </a:pPr>
            <a:r>
              <a:rPr lang="en-US" sz="1200" dirty="0">
                <a:solidFill>
                  <a:srgbClr val="0B1F3A"/>
                </a:solidFill>
                <a:latin typeface="Calibri" pitchFamily="34" charset="0"/>
                <a:ea typeface="Calibri" pitchFamily="34" charset="-122"/>
                <a:cs typeface="Calibri" pitchFamily="34" charset="-120"/>
              </a:rPr>
              <a:t>One dialog: vehicle number, fuel type and pump name.</a:t>
            </a:r>
            <a:endParaRPr lang="en-US" sz="1200" dirty="0"/>
          </a:p>
        </p:txBody>
      </p:sp>
      <p:sp>
        <p:nvSpPr>
          <p:cNvPr id="16" name="Shape 11"/>
          <p:cNvSpPr/>
          <p:nvPr/>
        </p:nvSpPr>
        <p:spPr>
          <a:xfrm>
            <a:off x="6095390" y="1234440"/>
            <a:ext cx="2590495" cy="1508760"/>
          </a:xfrm>
          <a:prstGeom prst="roundRect">
            <a:avLst>
              <a:gd name="adj" fmla="val 6061"/>
            </a:avLst>
          </a:prstGeom>
          <a:solidFill>
            <a:srgbClr val="F3F7FB"/>
          </a:solidFill>
          <a:ln/>
          <a:effectLst>
            <a:outerShdw blurRad="76200" dist="25400" dir="5400000" algn="bl" rotWithShape="0">
              <a:srgbClr val="000000">
                <a:alpha val="10000"/>
              </a:srgbClr>
            </a:outerShdw>
          </a:effectLst>
        </p:spPr>
      </p:sp>
      <p:sp>
        <p:nvSpPr>
          <p:cNvPr id="17" name="Shape 12"/>
          <p:cNvSpPr/>
          <p:nvPr/>
        </p:nvSpPr>
        <p:spPr>
          <a:xfrm>
            <a:off x="6278270" y="1417320"/>
            <a:ext cx="502920" cy="502920"/>
          </a:xfrm>
          <a:prstGeom prst="ellipse">
            <a:avLst/>
          </a:prstGeom>
          <a:solidFill>
            <a:srgbClr val="0B1F3A"/>
          </a:solidFill>
          <a:ln/>
        </p:spPr>
      </p:sp>
      <p:pic>
        <p:nvPicPr>
          <p:cNvPr id="18" name="Image 3" descr="preencoded.png"/>
          <p:cNvPicPr>
            <a:picLocks noChangeAspect="1"/>
          </p:cNvPicPr>
          <p:nvPr/>
        </p:nvPicPr>
        <p:blipFill>
          <a:blip r:embed="rId6"/>
          <a:stretch>
            <a:fillRect/>
          </a:stretch>
        </p:blipFill>
        <p:spPr>
          <a:xfrm>
            <a:off x="6404000" y="1543050"/>
            <a:ext cx="251460" cy="251460"/>
          </a:xfrm>
          <a:prstGeom prst="rect">
            <a:avLst/>
          </a:prstGeom>
        </p:spPr>
      </p:pic>
      <p:sp>
        <p:nvSpPr>
          <p:cNvPr id="19" name="Text 13"/>
          <p:cNvSpPr txBox="1"/>
          <p:nvPr/>
        </p:nvSpPr>
        <p:spPr>
          <a:xfrm>
            <a:off x="6918350" y="1417320"/>
            <a:ext cx="1630375" cy="502920"/>
          </a:xfrm>
          <a:prstGeom prst="rect">
            <a:avLst/>
          </a:prstGeom>
          <a:noFill/>
          <a:ln/>
        </p:spPr>
        <p:txBody>
          <a:bodyPr wrap="square" lIns="0" tIns="0" rIns="0" bIns="0"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Queue Visibility</a:t>
            </a:r>
            <a:endParaRPr lang="en-US" sz="1400" dirty="0"/>
          </a:p>
        </p:txBody>
      </p:sp>
      <p:sp>
        <p:nvSpPr>
          <p:cNvPr id="20" name="Text 14"/>
          <p:cNvSpPr txBox="1"/>
          <p:nvPr/>
        </p:nvSpPr>
        <p:spPr>
          <a:xfrm>
            <a:off x="6278270" y="2057400"/>
            <a:ext cx="2224735" cy="594360"/>
          </a:xfrm>
          <a:prstGeom prst="rect">
            <a:avLst/>
          </a:prstGeom>
          <a:noFill/>
          <a:ln/>
        </p:spPr>
        <p:txBody>
          <a:bodyPr wrap="square" lIns="0" tIns="0" rIns="0" bIns="0" rtlCol="0" anchor="t"/>
          <a:lstStyle/>
          <a:p>
            <a:pPr marL="0" indent="0">
              <a:buNone/>
            </a:pPr>
            <a:r>
              <a:rPr lang="en-US" sz="1200" dirty="0">
                <a:solidFill>
                  <a:srgbClr val="0B1F3A"/>
                </a:solidFill>
                <a:latin typeface="Calibri" pitchFamily="34" charset="0"/>
                <a:ea typeface="Calibri" pitchFamily="34" charset="-122"/>
                <a:cs typeface="Calibri" pitchFamily="34" charset="-120"/>
              </a:rPr>
              <a:t>See the queue number, vehicles waiting and estimated time.</a:t>
            </a:r>
            <a:endParaRPr lang="en-US" sz="1200" dirty="0"/>
          </a:p>
        </p:txBody>
      </p:sp>
      <p:sp>
        <p:nvSpPr>
          <p:cNvPr id="21" name="Shape 15"/>
          <p:cNvSpPr/>
          <p:nvPr/>
        </p:nvSpPr>
        <p:spPr>
          <a:xfrm>
            <a:off x="457200" y="2926080"/>
            <a:ext cx="2590495" cy="1508760"/>
          </a:xfrm>
          <a:prstGeom prst="roundRect">
            <a:avLst>
              <a:gd name="adj" fmla="val 6061"/>
            </a:avLst>
          </a:prstGeom>
          <a:solidFill>
            <a:srgbClr val="F3F7FB"/>
          </a:solidFill>
          <a:ln/>
          <a:effectLst>
            <a:outerShdw blurRad="76200" dist="25400" dir="5400000" algn="bl" rotWithShape="0">
              <a:srgbClr val="000000">
                <a:alpha val="10000"/>
              </a:srgbClr>
            </a:outerShdw>
          </a:effectLst>
        </p:spPr>
      </p:sp>
      <p:sp>
        <p:nvSpPr>
          <p:cNvPr id="22" name="Shape 16"/>
          <p:cNvSpPr/>
          <p:nvPr/>
        </p:nvSpPr>
        <p:spPr>
          <a:xfrm>
            <a:off x="640080" y="3108960"/>
            <a:ext cx="502920" cy="502920"/>
          </a:xfrm>
          <a:prstGeom prst="ellipse">
            <a:avLst/>
          </a:prstGeom>
          <a:solidFill>
            <a:srgbClr val="0B1F3A"/>
          </a:solidFill>
          <a:ln/>
        </p:spPr>
      </p:sp>
      <p:pic>
        <p:nvPicPr>
          <p:cNvPr id="23" name="Image 4" descr="preencoded.png"/>
          <p:cNvPicPr>
            <a:picLocks noChangeAspect="1"/>
          </p:cNvPicPr>
          <p:nvPr/>
        </p:nvPicPr>
        <p:blipFill>
          <a:blip r:embed="rId7"/>
          <a:stretch>
            <a:fillRect/>
          </a:stretch>
        </p:blipFill>
        <p:spPr>
          <a:xfrm>
            <a:off x="765810" y="3234690"/>
            <a:ext cx="251460" cy="251460"/>
          </a:xfrm>
          <a:prstGeom prst="rect">
            <a:avLst/>
          </a:prstGeom>
        </p:spPr>
      </p:pic>
      <p:sp>
        <p:nvSpPr>
          <p:cNvPr id="24" name="Text 17"/>
          <p:cNvSpPr txBox="1"/>
          <p:nvPr/>
        </p:nvSpPr>
        <p:spPr>
          <a:xfrm>
            <a:off x="1280160" y="3108960"/>
            <a:ext cx="1630375" cy="502920"/>
          </a:xfrm>
          <a:prstGeom prst="rect">
            <a:avLst/>
          </a:prstGeom>
          <a:noFill/>
          <a:ln/>
        </p:spPr>
        <p:txBody>
          <a:bodyPr wrap="square" lIns="0" tIns="0" rIns="0" bIns="0"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User-Friendly GUI</a:t>
            </a:r>
            <a:endParaRPr lang="en-US" sz="1400" dirty="0"/>
          </a:p>
        </p:txBody>
      </p:sp>
      <p:sp>
        <p:nvSpPr>
          <p:cNvPr id="25" name="Text 18"/>
          <p:cNvSpPr txBox="1"/>
          <p:nvPr/>
        </p:nvSpPr>
        <p:spPr>
          <a:xfrm>
            <a:off x="640080" y="3749040"/>
            <a:ext cx="2224735" cy="594360"/>
          </a:xfrm>
          <a:prstGeom prst="rect">
            <a:avLst/>
          </a:prstGeom>
          <a:noFill/>
          <a:ln/>
        </p:spPr>
        <p:txBody>
          <a:bodyPr wrap="square" lIns="0" tIns="0" rIns="0" bIns="0" rtlCol="0" anchor="t"/>
          <a:lstStyle/>
          <a:p>
            <a:pPr marL="0" indent="0">
              <a:buNone/>
            </a:pPr>
            <a:r>
              <a:rPr lang="en-US" sz="1200" dirty="0">
                <a:solidFill>
                  <a:srgbClr val="0B1F3A"/>
                </a:solidFill>
                <a:latin typeface="Calibri" pitchFamily="34" charset="0"/>
                <a:ea typeface="Calibri" pitchFamily="34" charset="-122"/>
                <a:cs typeface="Calibri" pitchFamily="34" charset="-120"/>
              </a:rPr>
              <a:t>Simple buttons, tables and pop-up messages.</a:t>
            </a:r>
            <a:endParaRPr lang="en-US" sz="1200" dirty="0"/>
          </a:p>
        </p:txBody>
      </p:sp>
      <p:sp>
        <p:nvSpPr>
          <p:cNvPr id="26" name="Shape 19"/>
          <p:cNvSpPr/>
          <p:nvPr/>
        </p:nvSpPr>
        <p:spPr>
          <a:xfrm>
            <a:off x="3276295" y="2926080"/>
            <a:ext cx="2590495" cy="1508760"/>
          </a:xfrm>
          <a:prstGeom prst="roundRect">
            <a:avLst>
              <a:gd name="adj" fmla="val 6061"/>
            </a:avLst>
          </a:prstGeom>
          <a:solidFill>
            <a:srgbClr val="F3F7FB"/>
          </a:solidFill>
          <a:ln/>
          <a:effectLst>
            <a:outerShdw blurRad="76200" dist="25400" dir="5400000" algn="bl" rotWithShape="0">
              <a:srgbClr val="000000">
                <a:alpha val="10000"/>
              </a:srgbClr>
            </a:outerShdw>
          </a:effectLst>
        </p:spPr>
      </p:sp>
      <p:sp>
        <p:nvSpPr>
          <p:cNvPr id="27" name="Shape 20"/>
          <p:cNvSpPr/>
          <p:nvPr/>
        </p:nvSpPr>
        <p:spPr>
          <a:xfrm>
            <a:off x="3459175" y="3108960"/>
            <a:ext cx="502920" cy="502920"/>
          </a:xfrm>
          <a:prstGeom prst="ellipse">
            <a:avLst/>
          </a:prstGeom>
          <a:solidFill>
            <a:srgbClr val="0B1F3A"/>
          </a:solidFill>
          <a:ln/>
        </p:spPr>
      </p:sp>
      <p:pic>
        <p:nvPicPr>
          <p:cNvPr id="28" name="Image 5" descr="preencoded.png"/>
          <p:cNvPicPr>
            <a:picLocks noChangeAspect="1"/>
          </p:cNvPicPr>
          <p:nvPr/>
        </p:nvPicPr>
        <p:blipFill>
          <a:blip r:embed="rId8"/>
          <a:stretch>
            <a:fillRect/>
          </a:stretch>
        </p:blipFill>
        <p:spPr>
          <a:xfrm>
            <a:off x="3584905" y="3234690"/>
            <a:ext cx="251460" cy="251460"/>
          </a:xfrm>
          <a:prstGeom prst="rect">
            <a:avLst/>
          </a:prstGeom>
        </p:spPr>
      </p:pic>
      <p:sp>
        <p:nvSpPr>
          <p:cNvPr id="29" name="Text 21"/>
          <p:cNvSpPr txBox="1"/>
          <p:nvPr/>
        </p:nvSpPr>
        <p:spPr>
          <a:xfrm>
            <a:off x="4099255" y="3108960"/>
            <a:ext cx="1630375" cy="502920"/>
          </a:xfrm>
          <a:prstGeom prst="rect">
            <a:avLst/>
          </a:prstGeom>
          <a:noFill/>
          <a:ln/>
        </p:spPr>
        <p:txBody>
          <a:bodyPr wrap="square" lIns="0" tIns="0" rIns="0" bIns="0"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Admin Control</a:t>
            </a:r>
            <a:endParaRPr lang="en-US" sz="1400" dirty="0"/>
          </a:p>
        </p:txBody>
      </p:sp>
      <p:sp>
        <p:nvSpPr>
          <p:cNvPr id="30" name="Text 22"/>
          <p:cNvSpPr txBox="1"/>
          <p:nvPr/>
        </p:nvSpPr>
        <p:spPr>
          <a:xfrm>
            <a:off x="3459175" y="3749040"/>
            <a:ext cx="2224735" cy="594360"/>
          </a:xfrm>
          <a:prstGeom prst="rect">
            <a:avLst/>
          </a:prstGeom>
          <a:noFill/>
          <a:ln/>
        </p:spPr>
        <p:txBody>
          <a:bodyPr wrap="square" lIns="0" tIns="0" rIns="0" bIns="0" rtlCol="0" anchor="t"/>
          <a:lstStyle/>
          <a:p>
            <a:pPr marL="0" indent="0">
              <a:buNone/>
            </a:pPr>
            <a:r>
              <a:rPr lang="en-US" sz="1200" dirty="0">
                <a:solidFill>
                  <a:srgbClr val="0B1F3A"/>
                </a:solidFill>
                <a:latin typeface="Calibri" pitchFamily="34" charset="0"/>
                <a:ea typeface="Calibri" pitchFamily="34" charset="-122"/>
                <a:cs typeface="Calibri" pitchFamily="34" charset="-120"/>
              </a:rPr>
              <a:t>Admin sees all pumps, bookings, ratings and feedback.</a:t>
            </a:r>
            <a:endParaRPr lang="en-US" sz="1200" dirty="0"/>
          </a:p>
        </p:txBody>
      </p:sp>
      <p:sp>
        <p:nvSpPr>
          <p:cNvPr id="31" name="Shape 23"/>
          <p:cNvSpPr/>
          <p:nvPr/>
        </p:nvSpPr>
        <p:spPr>
          <a:xfrm>
            <a:off x="6095390" y="2926080"/>
            <a:ext cx="2590495" cy="1508760"/>
          </a:xfrm>
          <a:prstGeom prst="roundRect">
            <a:avLst>
              <a:gd name="adj" fmla="val 6061"/>
            </a:avLst>
          </a:prstGeom>
          <a:solidFill>
            <a:srgbClr val="F3F7FB"/>
          </a:solidFill>
          <a:ln/>
          <a:effectLst>
            <a:outerShdw blurRad="76200" dist="25400" dir="5400000" algn="bl" rotWithShape="0">
              <a:srgbClr val="000000">
                <a:alpha val="10000"/>
              </a:srgbClr>
            </a:outerShdw>
          </a:effectLst>
        </p:spPr>
      </p:sp>
      <p:sp>
        <p:nvSpPr>
          <p:cNvPr id="32" name="Shape 24"/>
          <p:cNvSpPr/>
          <p:nvPr/>
        </p:nvSpPr>
        <p:spPr>
          <a:xfrm>
            <a:off x="6278270" y="3108960"/>
            <a:ext cx="502920" cy="502920"/>
          </a:xfrm>
          <a:prstGeom prst="ellipse">
            <a:avLst/>
          </a:prstGeom>
          <a:solidFill>
            <a:srgbClr val="0B1F3A"/>
          </a:solidFill>
          <a:ln/>
        </p:spPr>
      </p:sp>
      <p:pic>
        <p:nvPicPr>
          <p:cNvPr id="33" name="Image 6" descr="preencoded.png"/>
          <p:cNvPicPr>
            <a:picLocks noChangeAspect="1"/>
          </p:cNvPicPr>
          <p:nvPr/>
        </p:nvPicPr>
        <p:blipFill>
          <a:blip r:embed="rId9"/>
          <a:stretch>
            <a:fillRect/>
          </a:stretch>
        </p:blipFill>
        <p:spPr>
          <a:xfrm>
            <a:off x="6404000" y="3234690"/>
            <a:ext cx="251460" cy="251460"/>
          </a:xfrm>
          <a:prstGeom prst="rect">
            <a:avLst/>
          </a:prstGeom>
        </p:spPr>
      </p:pic>
      <p:sp>
        <p:nvSpPr>
          <p:cNvPr id="34" name="Text 25"/>
          <p:cNvSpPr txBox="1"/>
          <p:nvPr/>
        </p:nvSpPr>
        <p:spPr>
          <a:xfrm>
            <a:off x="6918350" y="3108960"/>
            <a:ext cx="1630375" cy="502920"/>
          </a:xfrm>
          <a:prstGeom prst="rect">
            <a:avLst/>
          </a:prstGeom>
          <a:noFill/>
          <a:ln/>
        </p:spPr>
        <p:txBody>
          <a:bodyPr wrap="square" lIns="0" tIns="0" rIns="0" bIns="0"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Organized Data &amp; OOP</a:t>
            </a:r>
            <a:endParaRPr lang="en-US" sz="1400" dirty="0"/>
          </a:p>
        </p:txBody>
      </p:sp>
      <p:sp>
        <p:nvSpPr>
          <p:cNvPr id="35" name="Text 26"/>
          <p:cNvSpPr txBox="1"/>
          <p:nvPr/>
        </p:nvSpPr>
        <p:spPr>
          <a:xfrm>
            <a:off x="6278270" y="3749040"/>
            <a:ext cx="2224735" cy="594360"/>
          </a:xfrm>
          <a:prstGeom prst="rect">
            <a:avLst/>
          </a:prstGeom>
          <a:noFill/>
          <a:ln/>
        </p:spPr>
        <p:txBody>
          <a:bodyPr wrap="square" lIns="0" tIns="0" rIns="0" bIns="0" rtlCol="0" anchor="t"/>
          <a:lstStyle/>
          <a:p>
            <a:pPr marL="0" indent="0">
              <a:buNone/>
            </a:pPr>
            <a:r>
              <a:rPr lang="en-US" sz="1200" dirty="0">
                <a:solidFill>
                  <a:srgbClr val="0B1F3A"/>
                </a:solidFill>
                <a:latin typeface="Calibri" pitchFamily="34" charset="0"/>
                <a:ea typeface="Calibri" pitchFamily="34" charset="-122"/>
                <a:cs typeface="Calibri" pitchFamily="34" charset="-120"/>
              </a:rPr>
              <a:t>Pump, Vehicle and Feedback classes stored in ArrayLists.</a:t>
            </a:r>
            <a:endParaRPr lang="en-US" sz="1200" dirty="0"/>
          </a:p>
        </p:txBody>
      </p:sp>
      <p:sp>
        <p:nvSpPr>
          <p:cNvPr id="36" name="Text 27"/>
          <p:cNvSpPr txBox="1"/>
          <p:nvPr/>
        </p:nvSpPr>
        <p:spPr>
          <a:xfrm>
            <a:off x="457200" y="4773168"/>
            <a:ext cx="4572000" cy="201168"/>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Smart Fuel Pump Management System</a:t>
            </a:r>
            <a:endParaRPr lang="en-US" sz="1000" dirty="0"/>
          </a:p>
        </p:txBody>
      </p:sp>
      <p:sp>
        <p:nvSpPr>
          <p:cNvPr id="37" name="Text 28"/>
          <p:cNvSpPr txBox="1"/>
          <p:nvPr/>
        </p:nvSpPr>
        <p:spPr>
          <a:xfrm>
            <a:off x="7772400" y="4773168"/>
            <a:ext cx="914400" cy="201168"/>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6400800" cy="228600"/>
          </a:xfrm>
          <a:prstGeom prst="rect">
            <a:avLst/>
          </a:prstGeom>
          <a:noFill/>
          <a:ln/>
        </p:spPr>
        <p:txBody>
          <a:bodyPr wrap="square" lIns="0" tIns="0" rIns="0" bIns="0" rtlCol="0" anchor="ctr"/>
          <a:lstStyle/>
          <a:p>
            <a:pPr marL="0" indent="0">
              <a:buNone/>
            </a:pPr>
            <a:r>
              <a:rPr lang="en-US" sz="1100" b="1" kern="0" spc="300" dirty="0">
                <a:solidFill>
                  <a:srgbClr val="0E7490"/>
                </a:solidFill>
                <a:latin typeface="Calibri" pitchFamily="34" charset="0"/>
                <a:ea typeface="Calibri" pitchFamily="34" charset="-122"/>
                <a:cs typeface="Calibri" pitchFamily="34" charset="-120"/>
              </a:rPr>
              <a:t>REFLECTION</a:t>
            </a:r>
            <a:endParaRPr lang="en-US" sz="1100" dirty="0"/>
          </a:p>
        </p:txBody>
      </p:sp>
      <p:sp>
        <p:nvSpPr>
          <p:cNvPr id="3" name="Text 1"/>
          <p:cNvSpPr txBox="1"/>
          <p:nvPr/>
        </p:nvSpPr>
        <p:spPr>
          <a:xfrm>
            <a:off x="457200" y="502920"/>
            <a:ext cx="7498080" cy="548640"/>
          </a:xfrm>
          <a:prstGeom prst="rect">
            <a:avLst/>
          </a:prstGeom>
          <a:noFill/>
          <a:ln/>
        </p:spPr>
        <p:txBody>
          <a:bodyPr wrap="square" lIns="0" tIns="0" rIns="0" bIns="0" rtlCol="0" anchor="ctr"/>
          <a:lstStyle/>
          <a:p>
            <a:pPr marL="0" indent="0">
              <a:buNone/>
            </a:pPr>
            <a:r>
              <a:rPr lang="en-US" sz="3000" b="1" dirty="0">
                <a:solidFill>
                  <a:srgbClr val="0B1F3A"/>
                </a:solidFill>
                <a:latin typeface="Calibri" pitchFamily="34" charset="0"/>
                <a:ea typeface="Calibri" pitchFamily="34" charset="-122"/>
                <a:cs typeface="Calibri" pitchFamily="34" charset="-120"/>
              </a:rPr>
              <a:t>Challenges &amp; Learning</a:t>
            </a:r>
            <a:endParaRPr lang="en-US" sz="3000" dirty="0"/>
          </a:p>
        </p:txBody>
      </p:sp>
      <p:sp>
        <p:nvSpPr>
          <p:cNvPr id="4" name="Shape 2"/>
          <p:cNvSpPr/>
          <p:nvPr/>
        </p:nvSpPr>
        <p:spPr>
          <a:xfrm>
            <a:off x="8229600" y="384048"/>
            <a:ext cx="457200" cy="457200"/>
          </a:xfrm>
          <a:prstGeom prst="ellipse">
            <a:avLst/>
          </a:prstGeom>
          <a:solidFill>
            <a:srgbClr val="0B1F3A"/>
          </a:solidFill>
          <a:ln/>
        </p:spPr>
      </p:sp>
      <p:pic>
        <p:nvPicPr>
          <p:cNvPr id="5" name="Image 0" descr="preencoded.png"/>
          <p:cNvPicPr>
            <a:picLocks noChangeAspect="1"/>
          </p:cNvPicPr>
          <p:nvPr/>
        </p:nvPicPr>
        <p:blipFill>
          <a:blip r:embed="rId3"/>
          <a:stretch>
            <a:fillRect/>
          </a:stretch>
        </p:blipFill>
        <p:spPr>
          <a:xfrm>
            <a:off x="8343900" y="498348"/>
            <a:ext cx="228600" cy="228600"/>
          </a:xfrm>
          <a:prstGeom prst="rect">
            <a:avLst/>
          </a:prstGeom>
        </p:spPr>
      </p:pic>
      <p:sp>
        <p:nvSpPr>
          <p:cNvPr id="6" name="Text 3"/>
          <p:cNvSpPr txBox="1"/>
          <p:nvPr/>
        </p:nvSpPr>
        <p:spPr>
          <a:xfrm>
            <a:off x="457200" y="1188720"/>
            <a:ext cx="2926080" cy="182880"/>
          </a:xfrm>
          <a:prstGeom prst="rect">
            <a:avLst/>
          </a:prstGeom>
          <a:noFill/>
          <a:ln/>
        </p:spPr>
        <p:txBody>
          <a:bodyPr wrap="square" lIns="0" tIns="0" rIns="0" bIns="0" rtlCol="0" anchor="ctr"/>
          <a:lstStyle/>
          <a:p>
            <a:pPr marL="0" indent="0">
              <a:buNone/>
            </a:pPr>
            <a:r>
              <a:rPr lang="en-US" sz="1000" b="1" kern="0" spc="200" dirty="0">
                <a:solidFill>
                  <a:srgbClr val="5B6B82"/>
                </a:solidFill>
                <a:latin typeface="Calibri" pitchFamily="34" charset="0"/>
                <a:ea typeface="Calibri" pitchFamily="34" charset="-122"/>
                <a:cs typeface="Calibri" pitchFamily="34" charset="-120"/>
              </a:rPr>
              <a:t>CHALLENGE</a:t>
            </a:r>
            <a:endParaRPr lang="en-US" sz="1000" dirty="0"/>
          </a:p>
        </p:txBody>
      </p:sp>
      <p:sp>
        <p:nvSpPr>
          <p:cNvPr id="7" name="Text 4"/>
          <p:cNvSpPr txBox="1"/>
          <p:nvPr/>
        </p:nvSpPr>
        <p:spPr>
          <a:xfrm>
            <a:off x="3794760" y="1188720"/>
            <a:ext cx="2743200" cy="182880"/>
          </a:xfrm>
          <a:prstGeom prst="rect">
            <a:avLst/>
          </a:prstGeom>
          <a:noFill/>
          <a:ln/>
        </p:spPr>
        <p:txBody>
          <a:bodyPr wrap="square" lIns="0" tIns="0" rIns="0" bIns="0" rtlCol="0" anchor="ctr"/>
          <a:lstStyle/>
          <a:p>
            <a:pPr marL="0" indent="0">
              <a:buNone/>
            </a:pPr>
            <a:r>
              <a:rPr lang="en-US" sz="1000" b="1" kern="0" spc="200" dirty="0">
                <a:solidFill>
                  <a:srgbClr val="5B6B82"/>
                </a:solidFill>
                <a:latin typeface="Calibri" pitchFamily="34" charset="0"/>
                <a:ea typeface="Calibri" pitchFamily="34" charset="-122"/>
                <a:cs typeface="Calibri" pitchFamily="34" charset="-120"/>
              </a:rPr>
              <a:t>WHAT WE LEARNED</a:t>
            </a:r>
            <a:endParaRPr lang="en-US" sz="1000" dirty="0"/>
          </a:p>
        </p:txBody>
      </p:sp>
      <p:sp>
        <p:nvSpPr>
          <p:cNvPr id="8" name="Shape 5"/>
          <p:cNvSpPr/>
          <p:nvPr/>
        </p:nvSpPr>
        <p:spPr>
          <a:xfrm>
            <a:off x="457200" y="1444752"/>
            <a:ext cx="3017520" cy="457200"/>
          </a:xfrm>
          <a:prstGeom prst="roundRect">
            <a:avLst>
              <a:gd name="adj" fmla="val 16000"/>
            </a:avLst>
          </a:prstGeom>
          <a:solidFill>
            <a:srgbClr val="0B1F3A"/>
          </a:solidFill>
          <a:ln/>
        </p:spPr>
      </p:sp>
      <p:sp>
        <p:nvSpPr>
          <p:cNvPr id="9" name="Text 6"/>
          <p:cNvSpPr txBox="1"/>
          <p:nvPr/>
        </p:nvSpPr>
        <p:spPr>
          <a:xfrm>
            <a:off x="621792" y="1444752"/>
            <a:ext cx="2788920" cy="45720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Designing the GUI</a:t>
            </a:r>
            <a:endParaRPr lang="en-US" sz="1200" dirty="0"/>
          </a:p>
        </p:txBody>
      </p:sp>
      <p:pic>
        <p:nvPicPr>
          <p:cNvPr id="10" name="Image 1" descr="preencoded.png"/>
          <p:cNvPicPr>
            <a:picLocks noChangeAspect="1"/>
          </p:cNvPicPr>
          <p:nvPr/>
        </p:nvPicPr>
        <p:blipFill>
          <a:blip r:embed="rId4"/>
          <a:stretch>
            <a:fillRect/>
          </a:stretch>
        </p:blipFill>
        <p:spPr>
          <a:xfrm>
            <a:off x="3566160" y="1572768"/>
            <a:ext cx="201168" cy="201168"/>
          </a:xfrm>
          <a:prstGeom prst="rect">
            <a:avLst/>
          </a:prstGeom>
        </p:spPr>
      </p:pic>
      <p:sp>
        <p:nvSpPr>
          <p:cNvPr id="11" name="Shape 7"/>
          <p:cNvSpPr/>
          <p:nvPr/>
        </p:nvSpPr>
        <p:spPr>
          <a:xfrm>
            <a:off x="3886200" y="1444752"/>
            <a:ext cx="4800600" cy="457200"/>
          </a:xfrm>
          <a:prstGeom prst="roundRect">
            <a:avLst>
              <a:gd name="adj" fmla="val 16000"/>
            </a:avLst>
          </a:prstGeom>
          <a:solidFill>
            <a:srgbClr val="F3F7FB"/>
          </a:solidFill>
          <a:ln/>
        </p:spPr>
      </p:sp>
      <p:sp>
        <p:nvSpPr>
          <p:cNvPr id="12" name="Text 8"/>
          <p:cNvSpPr txBox="1"/>
          <p:nvPr/>
        </p:nvSpPr>
        <p:spPr>
          <a:xfrm>
            <a:off x="4023360" y="1444752"/>
            <a:ext cx="4572000" cy="457200"/>
          </a:xfrm>
          <a:prstGeom prst="rect">
            <a:avLst/>
          </a:prstGeom>
          <a:noFill/>
          <a:ln/>
        </p:spPr>
        <p:txBody>
          <a:bodyPr wrap="square" lIns="0" tIns="0" rIns="0" bIns="0" rtlCol="0" anchor="ctr"/>
          <a:lstStyle/>
          <a:p>
            <a:pPr marL="0" indent="0">
              <a:buNone/>
            </a:pPr>
            <a:r>
              <a:rPr lang="en-US" sz="1150" dirty="0">
                <a:solidFill>
                  <a:srgbClr val="0B1F3A"/>
                </a:solidFill>
                <a:latin typeface="Calibri" pitchFamily="34" charset="0"/>
                <a:ea typeface="Calibri" pitchFamily="34" charset="-122"/>
                <a:cs typeface="Calibri" pitchFamily="34" charset="-120"/>
              </a:rPr>
              <a:t>We learned to combine JPanel, BorderLayout, GridLayout and CardLayout.</a:t>
            </a:r>
            <a:endParaRPr lang="en-US" sz="1150" dirty="0"/>
          </a:p>
        </p:txBody>
      </p:sp>
      <p:sp>
        <p:nvSpPr>
          <p:cNvPr id="13" name="Shape 9"/>
          <p:cNvSpPr/>
          <p:nvPr/>
        </p:nvSpPr>
        <p:spPr>
          <a:xfrm>
            <a:off x="457200" y="1975104"/>
            <a:ext cx="3017520" cy="457200"/>
          </a:xfrm>
          <a:prstGeom prst="roundRect">
            <a:avLst>
              <a:gd name="adj" fmla="val 16000"/>
            </a:avLst>
          </a:prstGeom>
          <a:solidFill>
            <a:srgbClr val="0B1F3A"/>
          </a:solidFill>
          <a:ln/>
        </p:spPr>
      </p:sp>
      <p:sp>
        <p:nvSpPr>
          <p:cNvPr id="14" name="Text 10"/>
          <p:cNvSpPr txBox="1"/>
          <p:nvPr/>
        </p:nvSpPr>
        <p:spPr>
          <a:xfrm>
            <a:off x="621792" y="1975104"/>
            <a:ext cx="2788920" cy="45720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Managing multiple classes</a:t>
            </a:r>
            <a:endParaRPr lang="en-US" sz="1200" dirty="0"/>
          </a:p>
        </p:txBody>
      </p:sp>
      <p:pic>
        <p:nvPicPr>
          <p:cNvPr id="15" name="Image 2" descr="preencoded.png"/>
          <p:cNvPicPr>
            <a:picLocks noChangeAspect="1"/>
          </p:cNvPicPr>
          <p:nvPr/>
        </p:nvPicPr>
        <p:blipFill>
          <a:blip r:embed="rId4"/>
          <a:stretch>
            <a:fillRect/>
          </a:stretch>
        </p:blipFill>
        <p:spPr>
          <a:xfrm>
            <a:off x="3566160" y="2103120"/>
            <a:ext cx="201168" cy="201168"/>
          </a:xfrm>
          <a:prstGeom prst="rect">
            <a:avLst/>
          </a:prstGeom>
        </p:spPr>
      </p:pic>
      <p:sp>
        <p:nvSpPr>
          <p:cNvPr id="16" name="Shape 11"/>
          <p:cNvSpPr/>
          <p:nvPr/>
        </p:nvSpPr>
        <p:spPr>
          <a:xfrm>
            <a:off x="3886200" y="1975104"/>
            <a:ext cx="4800600" cy="457200"/>
          </a:xfrm>
          <a:prstGeom prst="roundRect">
            <a:avLst>
              <a:gd name="adj" fmla="val 16000"/>
            </a:avLst>
          </a:prstGeom>
          <a:solidFill>
            <a:srgbClr val="F3F7FB"/>
          </a:solidFill>
          <a:ln/>
        </p:spPr>
      </p:sp>
      <p:sp>
        <p:nvSpPr>
          <p:cNvPr id="17" name="Text 12"/>
          <p:cNvSpPr txBox="1"/>
          <p:nvPr/>
        </p:nvSpPr>
        <p:spPr>
          <a:xfrm>
            <a:off x="4023360" y="1975104"/>
            <a:ext cx="4572000" cy="457200"/>
          </a:xfrm>
          <a:prstGeom prst="rect">
            <a:avLst/>
          </a:prstGeom>
          <a:noFill/>
          <a:ln/>
        </p:spPr>
        <p:txBody>
          <a:bodyPr wrap="square" lIns="0" tIns="0" rIns="0" bIns="0" rtlCol="0" anchor="ctr"/>
          <a:lstStyle/>
          <a:p>
            <a:pPr marL="0" indent="0">
              <a:buNone/>
            </a:pPr>
            <a:r>
              <a:rPr lang="en-US" sz="1150" dirty="0">
                <a:solidFill>
                  <a:srgbClr val="0B1F3A"/>
                </a:solidFill>
                <a:latin typeface="Calibri" pitchFamily="34" charset="0"/>
                <a:ea typeface="Calibri" pitchFamily="34" charset="-122"/>
                <a:cs typeface="Calibri" pitchFamily="34" charset="-120"/>
              </a:rPr>
              <a:t>We split data into Pump, Vehicle and Feedback classes.</a:t>
            </a:r>
            <a:endParaRPr lang="en-US" sz="1150" dirty="0"/>
          </a:p>
        </p:txBody>
      </p:sp>
      <p:sp>
        <p:nvSpPr>
          <p:cNvPr id="18" name="Shape 13"/>
          <p:cNvSpPr/>
          <p:nvPr/>
        </p:nvSpPr>
        <p:spPr>
          <a:xfrm>
            <a:off x="457200" y="2505456"/>
            <a:ext cx="3017520" cy="457200"/>
          </a:xfrm>
          <a:prstGeom prst="roundRect">
            <a:avLst>
              <a:gd name="adj" fmla="val 16000"/>
            </a:avLst>
          </a:prstGeom>
          <a:solidFill>
            <a:srgbClr val="0B1F3A"/>
          </a:solidFill>
          <a:ln/>
        </p:spPr>
      </p:sp>
      <p:sp>
        <p:nvSpPr>
          <p:cNvPr id="19" name="Text 14"/>
          <p:cNvSpPr txBox="1"/>
          <p:nvPr/>
        </p:nvSpPr>
        <p:spPr>
          <a:xfrm>
            <a:off x="621792" y="2505456"/>
            <a:ext cx="2788920" cy="45720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Connecting GUI with Java logic</a:t>
            </a:r>
            <a:endParaRPr lang="en-US" sz="1200" dirty="0"/>
          </a:p>
        </p:txBody>
      </p:sp>
      <p:pic>
        <p:nvPicPr>
          <p:cNvPr id="20" name="Image 3" descr="preencoded.png"/>
          <p:cNvPicPr>
            <a:picLocks noChangeAspect="1"/>
          </p:cNvPicPr>
          <p:nvPr/>
        </p:nvPicPr>
        <p:blipFill>
          <a:blip r:embed="rId4"/>
          <a:stretch>
            <a:fillRect/>
          </a:stretch>
        </p:blipFill>
        <p:spPr>
          <a:xfrm>
            <a:off x="3566160" y="2633472"/>
            <a:ext cx="201168" cy="201168"/>
          </a:xfrm>
          <a:prstGeom prst="rect">
            <a:avLst/>
          </a:prstGeom>
        </p:spPr>
      </p:pic>
      <p:sp>
        <p:nvSpPr>
          <p:cNvPr id="21" name="Shape 15"/>
          <p:cNvSpPr/>
          <p:nvPr/>
        </p:nvSpPr>
        <p:spPr>
          <a:xfrm>
            <a:off x="3886200" y="2505456"/>
            <a:ext cx="4800600" cy="457200"/>
          </a:xfrm>
          <a:prstGeom prst="roundRect">
            <a:avLst>
              <a:gd name="adj" fmla="val 16000"/>
            </a:avLst>
          </a:prstGeom>
          <a:solidFill>
            <a:srgbClr val="F3F7FB"/>
          </a:solidFill>
          <a:ln/>
        </p:spPr>
      </p:sp>
      <p:sp>
        <p:nvSpPr>
          <p:cNvPr id="22" name="Text 16"/>
          <p:cNvSpPr txBox="1"/>
          <p:nvPr/>
        </p:nvSpPr>
        <p:spPr>
          <a:xfrm>
            <a:off x="4023360" y="2505456"/>
            <a:ext cx="4572000" cy="457200"/>
          </a:xfrm>
          <a:prstGeom prst="rect">
            <a:avLst/>
          </a:prstGeom>
          <a:noFill/>
          <a:ln/>
        </p:spPr>
        <p:txBody>
          <a:bodyPr wrap="square" lIns="0" tIns="0" rIns="0" bIns="0" rtlCol="0" anchor="ctr"/>
          <a:lstStyle/>
          <a:p>
            <a:pPr marL="0" indent="0">
              <a:buNone/>
            </a:pPr>
            <a:r>
              <a:rPr lang="en-US" sz="1150" dirty="0">
                <a:solidFill>
                  <a:srgbClr val="0B1F3A"/>
                </a:solidFill>
                <a:latin typeface="Calibri" pitchFamily="34" charset="0"/>
                <a:ea typeface="Calibri" pitchFamily="34" charset="-122"/>
                <a:cs typeface="Calibri" pitchFamily="34" charset="-120"/>
              </a:rPr>
              <a:t>ActionListener lambdas call methods like bookFuel().</a:t>
            </a:r>
            <a:endParaRPr lang="en-US" sz="1150" dirty="0"/>
          </a:p>
        </p:txBody>
      </p:sp>
      <p:sp>
        <p:nvSpPr>
          <p:cNvPr id="23" name="Shape 17"/>
          <p:cNvSpPr/>
          <p:nvPr/>
        </p:nvSpPr>
        <p:spPr>
          <a:xfrm>
            <a:off x="457200" y="3035808"/>
            <a:ext cx="3017520" cy="457200"/>
          </a:xfrm>
          <a:prstGeom prst="roundRect">
            <a:avLst>
              <a:gd name="adj" fmla="val 16000"/>
            </a:avLst>
          </a:prstGeom>
          <a:solidFill>
            <a:srgbClr val="0B1F3A"/>
          </a:solidFill>
          <a:ln/>
        </p:spPr>
      </p:sp>
      <p:sp>
        <p:nvSpPr>
          <p:cNvPr id="24" name="Text 18"/>
          <p:cNvSpPr txBox="1"/>
          <p:nvPr/>
        </p:nvSpPr>
        <p:spPr>
          <a:xfrm>
            <a:off x="621792" y="3035808"/>
            <a:ext cx="2788920" cy="45720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Understanding OOP concepts</a:t>
            </a:r>
            <a:endParaRPr lang="en-US" sz="1200" dirty="0"/>
          </a:p>
        </p:txBody>
      </p:sp>
      <p:pic>
        <p:nvPicPr>
          <p:cNvPr id="25" name="Image 4" descr="preencoded.png"/>
          <p:cNvPicPr>
            <a:picLocks noChangeAspect="1"/>
          </p:cNvPicPr>
          <p:nvPr/>
        </p:nvPicPr>
        <p:blipFill>
          <a:blip r:embed="rId4"/>
          <a:stretch>
            <a:fillRect/>
          </a:stretch>
        </p:blipFill>
        <p:spPr>
          <a:xfrm>
            <a:off x="3566160" y="3163824"/>
            <a:ext cx="201168" cy="201168"/>
          </a:xfrm>
          <a:prstGeom prst="rect">
            <a:avLst/>
          </a:prstGeom>
        </p:spPr>
      </p:pic>
      <p:sp>
        <p:nvSpPr>
          <p:cNvPr id="26" name="Shape 19"/>
          <p:cNvSpPr/>
          <p:nvPr/>
        </p:nvSpPr>
        <p:spPr>
          <a:xfrm>
            <a:off x="3886200" y="3035808"/>
            <a:ext cx="4800600" cy="457200"/>
          </a:xfrm>
          <a:prstGeom prst="roundRect">
            <a:avLst>
              <a:gd name="adj" fmla="val 16000"/>
            </a:avLst>
          </a:prstGeom>
          <a:solidFill>
            <a:srgbClr val="F3F7FB"/>
          </a:solidFill>
          <a:ln/>
        </p:spPr>
      </p:sp>
      <p:sp>
        <p:nvSpPr>
          <p:cNvPr id="27" name="Text 20"/>
          <p:cNvSpPr txBox="1"/>
          <p:nvPr/>
        </p:nvSpPr>
        <p:spPr>
          <a:xfrm>
            <a:off x="4023360" y="3035808"/>
            <a:ext cx="4572000" cy="457200"/>
          </a:xfrm>
          <a:prstGeom prst="rect">
            <a:avLst/>
          </a:prstGeom>
          <a:noFill/>
          <a:ln/>
        </p:spPr>
        <p:txBody>
          <a:bodyPr wrap="square" lIns="0" tIns="0" rIns="0" bIns="0" rtlCol="0" anchor="ctr"/>
          <a:lstStyle/>
          <a:p>
            <a:pPr marL="0" indent="0">
              <a:buNone/>
            </a:pPr>
            <a:r>
              <a:rPr lang="en-US" sz="1150" dirty="0">
                <a:solidFill>
                  <a:srgbClr val="0B1F3A"/>
                </a:solidFill>
                <a:latin typeface="Calibri" pitchFamily="34" charset="0"/>
                <a:ea typeface="Calibri" pitchFamily="34" charset="-122"/>
                <a:cs typeface="Calibri" pitchFamily="34" charset="-120"/>
              </a:rPr>
              <a:t>We applied private fields, extends, @Override and an abstract class.</a:t>
            </a:r>
            <a:endParaRPr lang="en-US" sz="1150" dirty="0"/>
          </a:p>
        </p:txBody>
      </p:sp>
      <p:sp>
        <p:nvSpPr>
          <p:cNvPr id="28" name="Shape 21"/>
          <p:cNvSpPr/>
          <p:nvPr/>
        </p:nvSpPr>
        <p:spPr>
          <a:xfrm>
            <a:off x="457200" y="3566160"/>
            <a:ext cx="3017520" cy="457200"/>
          </a:xfrm>
          <a:prstGeom prst="roundRect">
            <a:avLst>
              <a:gd name="adj" fmla="val 16000"/>
            </a:avLst>
          </a:prstGeom>
          <a:solidFill>
            <a:srgbClr val="0B1F3A"/>
          </a:solidFill>
          <a:ln/>
        </p:spPr>
      </p:sp>
      <p:sp>
        <p:nvSpPr>
          <p:cNvPr id="29" name="Text 22"/>
          <p:cNvSpPr txBox="1"/>
          <p:nvPr/>
        </p:nvSpPr>
        <p:spPr>
          <a:xfrm>
            <a:off x="621792" y="3566160"/>
            <a:ext cx="2788920" cy="45720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Handling input, bookings &amp; queues</a:t>
            </a:r>
            <a:endParaRPr lang="en-US" sz="1200" dirty="0"/>
          </a:p>
        </p:txBody>
      </p:sp>
      <p:pic>
        <p:nvPicPr>
          <p:cNvPr id="30" name="Image 5" descr="preencoded.png"/>
          <p:cNvPicPr>
            <a:picLocks noChangeAspect="1"/>
          </p:cNvPicPr>
          <p:nvPr/>
        </p:nvPicPr>
        <p:blipFill>
          <a:blip r:embed="rId4"/>
          <a:stretch>
            <a:fillRect/>
          </a:stretch>
        </p:blipFill>
        <p:spPr>
          <a:xfrm>
            <a:off x="3566160" y="3694176"/>
            <a:ext cx="201168" cy="201168"/>
          </a:xfrm>
          <a:prstGeom prst="rect">
            <a:avLst/>
          </a:prstGeom>
        </p:spPr>
      </p:pic>
      <p:sp>
        <p:nvSpPr>
          <p:cNvPr id="31" name="Shape 23"/>
          <p:cNvSpPr/>
          <p:nvPr/>
        </p:nvSpPr>
        <p:spPr>
          <a:xfrm>
            <a:off x="3886200" y="3566160"/>
            <a:ext cx="4800600" cy="457200"/>
          </a:xfrm>
          <a:prstGeom prst="roundRect">
            <a:avLst>
              <a:gd name="adj" fmla="val 16000"/>
            </a:avLst>
          </a:prstGeom>
          <a:solidFill>
            <a:srgbClr val="F3F7FB"/>
          </a:solidFill>
          <a:ln/>
        </p:spPr>
      </p:sp>
      <p:sp>
        <p:nvSpPr>
          <p:cNvPr id="32" name="Text 24"/>
          <p:cNvSpPr txBox="1"/>
          <p:nvPr/>
        </p:nvSpPr>
        <p:spPr>
          <a:xfrm>
            <a:off x="4023360" y="3566160"/>
            <a:ext cx="4572000" cy="457200"/>
          </a:xfrm>
          <a:prstGeom prst="rect">
            <a:avLst/>
          </a:prstGeom>
          <a:noFill/>
          <a:ln/>
        </p:spPr>
        <p:txBody>
          <a:bodyPr wrap="square" lIns="0" tIns="0" rIns="0" bIns="0" rtlCol="0" anchor="ctr"/>
          <a:lstStyle/>
          <a:p>
            <a:pPr marL="0" indent="0">
              <a:buNone/>
            </a:pPr>
            <a:r>
              <a:rPr lang="en-US" sz="1150" dirty="0">
                <a:solidFill>
                  <a:srgbClr val="0B1F3A"/>
                </a:solidFill>
                <a:latin typeface="Calibri" pitchFamily="34" charset="0"/>
                <a:ea typeface="Calibri" pitchFamily="34" charset="-122"/>
                <a:cs typeface="Calibri" pitchFamily="34" charset="-120"/>
              </a:rPr>
              <a:t>We checked empty fields, closed pumps and the 15-vehicle limit.</a:t>
            </a:r>
            <a:endParaRPr lang="en-US" sz="1150" dirty="0"/>
          </a:p>
        </p:txBody>
      </p:sp>
      <p:sp>
        <p:nvSpPr>
          <p:cNvPr id="33" name="Shape 25"/>
          <p:cNvSpPr/>
          <p:nvPr/>
        </p:nvSpPr>
        <p:spPr>
          <a:xfrm>
            <a:off x="457200" y="4096512"/>
            <a:ext cx="3017520" cy="457200"/>
          </a:xfrm>
          <a:prstGeom prst="roundRect">
            <a:avLst>
              <a:gd name="adj" fmla="val 16000"/>
            </a:avLst>
          </a:prstGeom>
          <a:solidFill>
            <a:srgbClr val="0B1F3A"/>
          </a:solidFill>
          <a:ln/>
        </p:spPr>
      </p:sp>
      <p:sp>
        <p:nvSpPr>
          <p:cNvPr id="34" name="Text 26"/>
          <p:cNvSpPr txBox="1"/>
          <p:nvPr/>
        </p:nvSpPr>
        <p:spPr>
          <a:xfrm>
            <a:off x="621792" y="4096512"/>
            <a:ext cx="2788920" cy="45720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Debugging Java code</a:t>
            </a:r>
            <a:endParaRPr lang="en-US" sz="1200" dirty="0"/>
          </a:p>
        </p:txBody>
      </p:sp>
      <p:pic>
        <p:nvPicPr>
          <p:cNvPr id="35" name="Image 6" descr="preencoded.png"/>
          <p:cNvPicPr>
            <a:picLocks noChangeAspect="1"/>
          </p:cNvPicPr>
          <p:nvPr/>
        </p:nvPicPr>
        <p:blipFill>
          <a:blip r:embed="rId4"/>
          <a:stretch>
            <a:fillRect/>
          </a:stretch>
        </p:blipFill>
        <p:spPr>
          <a:xfrm>
            <a:off x="3566160" y="4224528"/>
            <a:ext cx="201168" cy="201168"/>
          </a:xfrm>
          <a:prstGeom prst="rect">
            <a:avLst/>
          </a:prstGeom>
        </p:spPr>
      </p:pic>
      <p:sp>
        <p:nvSpPr>
          <p:cNvPr id="36" name="Shape 27"/>
          <p:cNvSpPr/>
          <p:nvPr/>
        </p:nvSpPr>
        <p:spPr>
          <a:xfrm>
            <a:off x="3886200" y="4096512"/>
            <a:ext cx="4800600" cy="457200"/>
          </a:xfrm>
          <a:prstGeom prst="roundRect">
            <a:avLst>
              <a:gd name="adj" fmla="val 16000"/>
            </a:avLst>
          </a:prstGeom>
          <a:solidFill>
            <a:srgbClr val="F3F7FB"/>
          </a:solidFill>
          <a:ln/>
        </p:spPr>
      </p:sp>
      <p:sp>
        <p:nvSpPr>
          <p:cNvPr id="37" name="Text 28"/>
          <p:cNvSpPr txBox="1"/>
          <p:nvPr/>
        </p:nvSpPr>
        <p:spPr>
          <a:xfrm>
            <a:off x="4023360" y="4096512"/>
            <a:ext cx="4572000" cy="457200"/>
          </a:xfrm>
          <a:prstGeom prst="rect">
            <a:avLst/>
          </a:prstGeom>
          <a:noFill/>
          <a:ln/>
        </p:spPr>
        <p:txBody>
          <a:bodyPr wrap="square" lIns="0" tIns="0" rIns="0" bIns="0" rtlCol="0" anchor="ctr"/>
          <a:lstStyle/>
          <a:p>
            <a:pPr marL="0" indent="0">
              <a:buNone/>
            </a:pPr>
            <a:r>
              <a:rPr lang="en-US" sz="1150" dirty="0">
                <a:solidFill>
                  <a:srgbClr val="0B1F3A"/>
                </a:solidFill>
                <a:latin typeface="Calibri" pitchFamily="34" charset="0"/>
                <a:ea typeface="Calibri" pitchFamily="34" charset="-122"/>
                <a:cs typeface="Calibri" pitchFamily="34" charset="-120"/>
              </a:rPr>
              <a:t>We learned to read error messages and test one button at a time.</a:t>
            </a:r>
            <a:endParaRPr lang="en-US" sz="1150" dirty="0"/>
          </a:p>
        </p:txBody>
      </p:sp>
      <p:sp>
        <p:nvSpPr>
          <p:cNvPr id="38" name="Text 29"/>
          <p:cNvSpPr txBox="1"/>
          <p:nvPr/>
        </p:nvSpPr>
        <p:spPr>
          <a:xfrm>
            <a:off x="457200" y="4773168"/>
            <a:ext cx="4572000" cy="201168"/>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Smart Fuel Pump Management System</a:t>
            </a:r>
            <a:endParaRPr lang="en-US" sz="1000" dirty="0"/>
          </a:p>
        </p:txBody>
      </p:sp>
      <p:sp>
        <p:nvSpPr>
          <p:cNvPr id="39" name="Text 30"/>
          <p:cNvSpPr txBox="1"/>
          <p:nvPr/>
        </p:nvSpPr>
        <p:spPr>
          <a:xfrm>
            <a:off x="7772400" y="4773168"/>
            <a:ext cx="914400" cy="201168"/>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F3A"/>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4572000" cy="228600"/>
          </a:xfrm>
          <a:prstGeom prst="rect">
            <a:avLst/>
          </a:prstGeom>
          <a:noFill/>
          <a:ln/>
        </p:spPr>
        <p:txBody>
          <a:bodyPr wrap="square" lIns="0" tIns="0" rIns="0" bIns="0" rtlCol="0" anchor="ctr"/>
          <a:lstStyle/>
          <a:p>
            <a:pPr marL="0" indent="0">
              <a:buNone/>
            </a:pPr>
            <a:r>
              <a:rPr lang="en-US" sz="1100" b="1" kern="0" spc="300" dirty="0">
                <a:solidFill>
                  <a:srgbClr val="22D3EE"/>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548640" y="594360"/>
            <a:ext cx="5486400" cy="59436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Conclusion</a:t>
            </a:r>
            <a:endParaRPr lang="en-US" sz="3400" dirty="0"/>
          </a:p>
        </p:txBody>
      </p:sp>
      <p:sp>
        <p:nvSpPr>
          <p:cNvPr id="4" name="Shape 2"/>
          <p:cNvSpPr/>
          <p:nvPr/>
        </p:nvSpPr>
        <p:spPr>
          <a:xfrm>
            <a:off x="548640" y="1463040"/>
            <a:ext cx="457200" cy="457200"/>
          </a:xfrm>
          <a:prstGeom prst="ellipse">
            <a:avLst/>
          </a:prstGeom>
          <a:solidFill>
            <a:srgbClr val="22D3EE"/>
          </a:solidFill>
          <a:ln/>
        </p:spPr>
      </p:sp>
      <p:pic>
        <p:nvPicPr>
          <p:cNvPr id="5" name="Image 0" descr="preencoded.png"/>
          <p:cNvPicPr>
            <a:picLocks noChangeAspect="1"/>
          </p:cNvPicPr>
          <p:nvPr/>
        </p:nvPicPr>
        <p:blipFill>
          <a:blip r:embed="rId3"/>
          <a:stretch>
            <a:fillRect/>
          </a:stretch>
        </p:blipFill>
        <p:spPr>
          <a:xfrm>
            <a:off x="662940" y="1577340"/>
            <a:ext cx="228600" cy="228600"/>
          </a:xfrm>
          <a:prstGeom prst="rect">
            <a:avLst/>
          </a:prstGeom>
        </p:spPr>
      </p:pic>
      <p:sp>
        <p:nvSpPr>
          <p:cNvPr id="6" name="Text 3"/>
          <p:cNvSpPr txBox="1"/>
          <p:nvPr/>
        </p:nvSpPr>
        <p:spPr>
          <a:xfrm>
            <a:off x="1188720" y="1417320"/>
            <a:ext cx="4297680" cy="54864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We built a Smart Fuel Pump Management System using Java.</a:t>
            </a:r>
            <a:endParaRPr lang="en-US" sz="1500" dirty="0"/>
          </a:p>
        </p:txBody>
      </p:sp>
      <p:sp>
        <p:nvSpPr>
          <p:cNvPr id="7" name="Shape 4"/>
          <p:cNvSpPr/>
          <p:nvPr/>
        </p:nvSpPr>
        <p:spPr>
          <a:xfrm>
            <a:off x="548640" y="2240280"/>
            <a:ext cx="457200" cy="457200"/>
          </a:xfrm>
          <a:prstGeom prst="ellipse">
            <a:avLst/>
          </a:prstGeom>
          <a:solidFill>
            <a:srgbClr val="22D3EE"/>
          </a:solidFill>
          <a:ln/>
        </p:spPr>
      </p:sp>
      <p:pic>
        <p:nvPicPr>
          <p:cNvPr id="8" name="Image 1" descr="preencoded.png"/>
          <p:cNvPicPr>
            <a:picLocks noChangeAspect="1"/>
          </p:cNvPicPr>
          <p:nvPr/>
        </p:nvPicPr>
        <p:blipFill>
          <a:blip r:embed="rId3"/>
          <a:stretch>
            <a:fillRect/>
          </a:stretch>
        </p:blipFill>
        <p:spPr>
          <a:xfrm>
            <a:off x="662940" y="2354580"/>
            <a:ext cx="228600" cy="228600"/>
          </a:xfrm>
          <a:prstGeom prst="rect">
            <a:avLst/>
          </a:prstGeom>
        </p:spPr>
      </p:pic>
      <p:sp>
        <p:nvSpPr>
          <p:cNvPr id="9" name="Text 5"/>
          <p:cNvSpPr txBox="1"/>
          <p:nvPr/>
        </p:nvSpPr>
        <p:spPr>
          <a:xfrm>
            <a:off x="1188720" y="2194560"/>
            <a:ext cx="4297680" cy="54864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The project demonstrates the four pillars of OOP.</a:t>
            </a:r>
            <a:endParaRPr lang="en-US" sz="1500" dirty="0"/>
          </a:p>
        </p:txBody>
      </p:sp>
      <p:sp>
        <p:nvSpPr>
          <p:cNvPr id="10" name="Shape 6"/>
          <p:cNvSpPr/>
          <p:nvPr/>
        </p:nvSpPr>
        <p:spPr>
          <a:xfrm>
            <a:off x="548640" y="3017520"/>
            <a:ext cx="457200" cy="457200"/>
          </a:xfrm>
          <a:prstGeom prst="ellipse">
            <a:avLst/>
          </a:prstGeom>
          <a:solidFill>
            <a:srgbClr val="22D3EE"/>
          </a:solidFill>
          <a:ln/>
        </p:spPr>
      </p:sp>
      <p:pic>
        <p:nvPicPr>
          <p:cNvPr id="11" name="Image 2" descr="preencoded.png"/>
          <p:cNvPicPr>
            <a:picLocks noChangeAspect="1"/>
          </p:cNvPicPr>
          <p:nvPr/>
        </p:nvPicPr>
        <p:blipFill>
          <a:blip r:embed="rId3"/>
          <a:stretch>
            <a:fillRect/>
          </a:stretch>
        </p:blipFill>
        <p:spPr>
          <a:xfrm>
            <a:off x="662940" y="3131820"/>
            <a:ext cx="228600" cy="228600"/>
          </a:xfrm>
          <a:prstGeom prst="rect">
            <a:avLst/>
          </a:prstGeom>
        </p:spPr>
      </p:pic>
      <p:sp>
        <p:nvSpPr>
          <p:cNvPr id="12" name="Text 7"/>
          <p:cNvSpPr txBox="1"/>
          <p:nvPr/>
        </p:nvSpPr>
        <p:spPr>
          <a:xfrm>
            <a:off x="1188720" y="2971800"/>
            <a:ext cx="4297680" cy="54864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Java Swing was used to build the GUI.</a:t>
            </a:r>
            <a:endParaRPr lang="en-US" sz="1500" dirty="0"/>
          </a:p>
        </p:txBody>
      </p:sp>
      <p:sp>
        <p:nvSpPr>
          <p:cNvPr id="13" name="Shape 8"/>
          <p:cNvSpPr/>
          <p:nvPr/>
        </p:nvSpPr>
        <p:spPr>
          <a:xfrm>
            <a:off x="548640" y="3794760"/>
            <a:ext cx="457200" cy="457200"/>
          </a:xfrm>
          <a:prstGeom prst="ellipse">
            <a:avLst/>
          </a:prstGeom>
          <a:solidFill>
            <a:srgbClr val="22D3EE"/>
          </a:solidFill>
          <a:ln/>
        </p:spPr>
      </p:sp>
      <p:pic>
        <p:nvPicPr>
          <p:cNvPr id="14" name="Image 3" descr="preencoded.png"/>
          <p:cNvPicPr>
            <a:picLocks noChangeAspect="1"/>
          </p:cNvPicPr>
          <p:nvPr/>
        </p:nvPicPr>
        <p:blipFill>
          <a:blip r:embed="rId3"/>
          <a:stretch>
            <a:fillRect/>
          </a:stretch>
        </p:blipFill>
        <p:spPr>
          <a:xfrm>
            <a:off x="662940" y="3909060"/>
            <a:ext cx="228600" cy="228600"/>
          </a:xfrm>
          <a:prstGeom prst="rect">
            <a:avLst/>
          </a:prstGeom>
        </p:spPr>
      </p:pic>
      <p:sp>
        <p:nvSpPr>
          <p:cNvPr id="15" name="Text 9"/>
          <p:cNvSpPr txBox="1"/>
          <p:nvPr/>
        </p:nvSpPr>
        <p:spPr>
          <a:xfrm>
            <a:off x="1188720" y="3749040"/>
            <a:ext cx="4297680" cy="54864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It showed us how OOP concepts apply to a real-world software system.</a:t>
            </a:r>
            <a:endParaRPr lang="en-US" sz="1500" dirty="0"/>
          </a:p>
        </p:txBody>
      </p:sp>
      <p:sp>
        <p:nvSpPr>
          <p:cNvPr id="16" name="Shape 10"/>
          <p:cNvSpPr/>
          <p:nvPr/>
        </p:nvSpPr>
        <p:spPr>
          <a:xfrm>
            <a:off x="5852160" y="1463040"/>
            <a:ext cx="1325880" cy="1371600"/>
          </a:xfrm>
          <a:prstGeom prst="roundRect">
            <a:avLst>
              <a:gd name="adj" fmla="val 6897"/>
            </a:avLst>
          </a:prstGeom>
          <a:solidFill>
            <a:srgbClr val="123058"/>
          </a:solidFill>
          <a:ln/>
        </p:spPr>
      </p:sp>
      <p:sp>
        <p:nvSpPr>
          <p:cNvPr id="17" name="Text 11"/>
          <p:cNvSpPr txBox="1"/>
          <p:nvPr/>
        </p:nvSpPr>
        <p:spPr>
          <a:xfrm>
            <a:off x="5852160" y="1645920"/>
            <a:ext cx="1325880" cy="640080"/>
          </a:xfrm>
          <a:prstGeom prst="rect">
            <a:avLst/>
          </a:prstGeom>
          <a:noFill/>
          <a:ln/>
        </p:spPr>
        <p:txBody>
          <a:bodyPr wrap="square" lIns="0" tIns="0" rIns="0" bIns="0" rtlCol="0" anchor="ctr"/>
          <a:lstStyle/>
          <a:p>
            <a:pPr marL="0" indent="0" algn="ctr">
              <a:buNone/>
            </a:pPr>
            <a:r>
              <a:rPr lang="en-US" sz="4000" b="1" dirty="0">
                <a:solidFill>
                  <a:srgbClr val="22D3EE"/>
                </a:solidFill>
                <a:latin typeface="Calibri" pitchFamily="34" charset="0"/>
                <a:ea typeface="Calibri" pitchFamily="34" charset="-122"/>
                <a:cs typeface="Calibri" pitchFamily="34" charset="-120"/>
              </a:rPr>
              <a:t>5</a:t>
            </a:r>
            <a:endParaRPr lang="en-US" sz="4000" dirty="0"/>
          </a:p>
        </p:txBody>
      </p:sp>
      <p:sp>
        <p:nvSpPr>
          <p:cNvPr id="18" name="Text 12"/>
          <p:cNvSpPr txBox="1"/>
          <p:nvPr/>
        </p:nvSpPr>
        <p:spPr>
          <a:xfrm>
            <a:off x="5852160" y="2331720"/>
            <a:ext cx="1325880" cy="3200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classes</a:t>
            </a:r>
            <a:endParaRPr lang="en-US" sz="1200" dirty="0"/>
          </a:p>
        </p:txBody>
      </p:sp>
      <p:sp>
        <p:nvSpPr>
          <p:cNvPr id="19" name="Shape 13"/>
          <p:cNvSpPr/>
          <p:nvPr/>
        </p:nvSpPr>
        <p:spPr>
          <a:xfrm>
            <a:off x="7315200" y="1463040"/>
            <a:ext cx="1325880" cy="1371600"/>
          </a:xfrm>
          <a:prstGeom prst="roundRect">
            <a:avLst>
              <a:gd name="adj" fmla="val 6897"/>
            </a:avLst>
          </a:prstGeom>
          <a:solidFill>
            <a:srgbClr val="123058"/>
          </a:solidFill>
          <a:ln/>
        </p:spPr>
      </p:sp>
      <p:sp>
        <p:nvSpPr>
          <p:cNvPr id="20" name="Text 14"/>
          <p:cNvSpPr txBox="1"/>
          <p:nvPr/>
        </p:nvSpPr>
        <p:spPr>
          <a:xfrm>
            <a:off x="7315200" y="1645920"/>
            <a:ext cx="1325880" cy="640080"/>
          </a:xfrm>
          <a:prstGeom prst="rect">
            <a:avLst/>
          </a:prstGeom>
          <a:noFill/>
          <a:ln/>
        </p:spPr>
        <p:txBody>
          <a:bodyPr wrap="square" lIns="0" tIns="0" rIns="0" bIns="0" rtlCol="0" anchor="ctr"/>
          <a:lstStyle/>
          <a:p>
            <a:pPr marL="0" indent="0" algn="ctr">
              <a:buNone/>
            </a:pPr>
            <a:r>
              <a:rPr lang="en-US" sz="4000" b="1" dirty="0">
                <a:solidFill>
                  <a:srgbClr val="22D3EE"/>
                </a:solidFill>
                <a:latin typeface="Calibri" pitchFamily="34" charset="0"/>
                <a:ea typeface="Calibri" pitchFamily="34" charset="-122"/>
                <a:cs typeface="Calibri" pitchFamily="34" charset="-120"/>
              </a:rPr>
              <a:t>4</a:t>
            </a:r>
            <a:endParaRPr lang="en-US" sz="4000" dirty="0"/>
          </a:p>
        </p:txBody>
      </p:sp>
      <p:sp>
        <p:nvSpPr>
          <p:cNvPr id="21" name="Text 15"/>
          <p:cNvSpPr txBox="1"/>
          <p:nvPr/>
        </p:nvSpPr>
        <p:spPr>
          <a:xfrm>
            <a:off x="7315200" y="2331720"/>
            <a:ext cx="1325880" cy="3200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OOP pillars</a:t>
            </a:r>
            <a:endParaRPr lang="en-US" sz="1200" dirty="0"/>
          </a:p>
        </p:txBody>
      </p:sp>
      <p:sp>
        <p:nvSpPr>
          <p:cNvPr id="22" name="Shape 16"/>
          <p:cNvSpPr/>
          <p:nvPr/>
        </p:nvSpPr>
        <p:spPr>
          <a:xfrm>
            <a:off x="5852160" y="3017520"/>
            <a:ext cx="1325880" cy="1371600"/>
          </a:xfrm>
          <a:prstGeom prst="roundRect">
            <a:avLst>
              <a:gd name="adj" fmla="val 6897"/>
            </a:avLst>
          </a:prstGeom>
          <a:solidFill>
            <a:srgbClr val="123058"/>
          </a:solidFill>
          <a:ln/>
        </p:spPr>
      </p:sp>
      <p:sp>
        <p:nvSpPr>
          <p:cNvPr id="23" name="Text 17"/>
          <p:cNvSpPr txBox="1"/>
          <p:nvPr/>
        </p:nvSpPr>
        <p:spPr>
          <a:xfrm>
            <a:off x="5852160" y="3200400"/>
            <a:ext cx="1325880" cy="640080"/>
          </a:xfrm>
          <a:prstGeom prst="rect">
            <a:avLst/>
          </a:prstGeom>
          <a:noFill/>
          <a:ln/>
        </p:spPr>
        <p:txBody>
          <a:bodyPr wrap="square" lIns="0" tIns="0" rIns="0" bIns="0" rtlCol="0" anchor="ctr"/>
          <a:lstStyle/>
          <a:p>
            <a:pPr marL="0" indent="0" algn="ctr">
              <a:buNone/>
            </a:pPr>
            <a:r>
              <a:rPr lang="en-US" sz="4000" b="1" dirty="0">
                <a:solidFill>
                  <a:srgbClr val="22D3EE"/>
                </a:solidFill>
                <a:latin typeface="Calibri" pitchFamily="34" charset="0"/>
                <a:ea typeface="Calibri" pitchFamily="34" charset="-122"/>
                <a:cs typeface="Calibri" pitchFamily="34" charset="-120"/>
              </a:rPr>
              <a:t>18</a:t>
            </a:r>
            <a:endParaRPr lang="en-US" sz="4000" dirty="0"/>
          </a:p>
        </p:txBody>
      </p:sp>
      <p:sp>
        <p:nvSpPr>
          <p:cNvPr id="24" name="Text 18"/>
          <p:cNvSpPr txBox="1"/>
          <p:nvPr/>
        </p:nvSpPr>
        <p:spPr>
          <a:xfrm>
            <a:off x="5852160" y="3886200"/>
            <a:ext cx="1325880" cy="3200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panel options</a:t>
            </a:r>
            <a:endParaRPr lang="en-US" sz="1200" dirty="0"/>
          </a:p>
        </p:txBody>
      </p:sp>
      <p:sp>
        <p:nvSpPr>
          <p:cNvPr id="25" name="Shape 19"/>
          <p:cNvSpPr/>
          <p:nvPr/>
        </p:nvSpPr>
        <p:spPr>
          <a:xfrm>
            <a:off x="7315200" y="3017520"/>
            <a:ext cx="1325880" cy="1371600"/>
          </a:xfrm>
          <a:prstGeom prst="roundRect">
            <a:avLst>
              <a:gd name="adj" fmla="val 6897"/>
            </a:avLst>
          </a:prstGeom>
          <a:solidFill>
            <a:srgbClr val="123058"/>
          </a:solidFill>
          <a:ln/>
        </p:spPr>
      </p:sp>
      <p:sp>
        <p:nvSpPr>
          <p:cNvPr id="26" name="Text 20"/>
          <p:cNvSpPr txBox="1"/>
          <p:nvPr/>
        </p:nvSpPr>
        <p:spPr>
          <a:xfrm>
            <a:off x="7315200" y="3200400"/>
            <a:ext cx="1325880" cy="640080"/>
          </a:xfrm>
          <a:prstGeom prst="rect">
            <a:avLst/>
          </a:prstGeom>
          <a:noFill/>
          <a:ln/>
        </p:spPr>
        <p:txBody>
          <a:bodyPr wrap="square" lIns="0" tIns="0" rIns="0" bIns="0" rtlCol="0" anchor="ctr"/>
          <a:lstStyle/>
          <a:p>
            <a:pPr marL="0" indent="0" algn="ctr">
              <a:buNone/>
            </a:pPr>
            <a:r>
              <a:rPr lang="en-US" sz="4000" b="1" dirty="0">
                <a:solidFill>
                  <a:srgbClr val="22D3EE"/>
                </a:solidFill>
                <a:latin typeface="Calibri" pitchFamily="34" charset="0"/>
                <a:ea typeface="Calibri" pitchFamily="34" charset="-122"/>
                <a:cs typeface="Calibri" pitchFamily="34" charset="-120"/>
              </a:rPr>
              <a:t>3</a:t>
            </a:r>
            <a:endParaRPr lang="en-US" sz="4000" dirty="0"/>
          </a:p>
        </p:txBody>
      </p:sp>
      <p:sp>
        <p:nvSpPr>
          <p:cNvPr id="27" name="Text 21"/>
          <p:cNvSpPr txBox="1"/>
          <p:nvPr/>
        </p:nvSpPr>
        <p:spPr>
          <a:xfrm>
            <a:off x="7315200" y="3886200"/>
            <a:ext cx="1325880" cy="3200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screens</a:t>
            </a:r>
            <a:endParaRPr lang="en-US" sz="1200" dirty="0"/>
          </a:p>
        </p:txBody>
      </p:sp>
      <p:sp>
        <p:nvSpPr>
          <p:cNvPr id="28" name="Text 22"/>
          <p:cNvSpPr txBox="1"/>
          <p:nvPr/>
        </p:nvSpPr>
        <p:spPr>
          <a:xfrm>
            <a:off x="548640" y="4617720"/>
            <a:ext cx="8138160" cy="228600"/>
          </a:xfrm>
          <a:prstGeom prst="rect">
            <a:avLst/>
          </a:prstGeom>
          <a:noFill/>
          <a:ln/>
        </p:spPr>
        <p:txBody>
          <a:bodyPr wrap="square" lIns="0" tIns="0" rIns="0" bIns="0" rtlCol="0" anchor="ctr"/>
          <a:lstStyle/>
          <a:p>
            <a:pPr marL="0" indent="0">
              <a:buNone/>
            </a:pPr>
            <a:r>
              <a:rPr lang="en-US" sz="1000" dirty="0">
                <a:solidFill>
                  <a:srgbClr val="9FB8D6"/>
                </a:solidFill>
                <a:latin typeface="Calibri" pitchFamily="34" charset="0"/>
                <a:ea typeface="Calibri" pitchFamily="34" charset="-122"/>
                <a:cs typeface="Calibri" pitchFamily="34" charset="-120"/>
              </a:rPr>
              <a:t>Classes: FuelStation, Pump, Vehicle, Feedback, main   |   Screens: Home, User, Admin   |   Panel options: 11 user + 7 admin</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5212080" y="822960"/>
            <a:ext cx="3474720" cy="3474720"/>
          </a:xfrm>
          <a:prstGeom prst="ellipse">
            <a:avLst/>
          </a:prstGeom>
          <a:solidFill>
            <a:srgbClr val="0B1F3A">
              <a:alpha val="0"/>
            </a:srgbClr>
          </a:solidFill>
          <a:ln w="12700">
            <a:solidFill>
              <a:srgbClr val="22D3EE">
                <a:alpha val="30000"/>
              </a:srgbClr>
            </a:solidFill>
            <a:prstDash val="solid"/>
          </a:ln>
        </p:spPr>
      </p:sp>
      <p:sp>
        <p:nvSpPr>
          <p:cNvPr id="3" name="Shape 1"/>
          <p:cNvSpPr/>
          <p:nvPr/>
        </p:nvSpPr>
        <p:spPr>
          <a:xfrm>
            <a:off x="5623560" y="1234440"/>
            <a:ext cx="2651760" cy="2651760"/>
          </a:xfrm>
          <a:prstGeom prst="ellipse">
            <a:avLst/>
          </a:prstGeom>
          <a:solidFill>
            <a:srgbClr val="12335C"/>
          </a:solidFill>
          <a:ln/>
        </p:spPr>
      </p:sp>
      <p:sp>
        <p:nvSpPr>
          <p:cNvPr id="4" name="Shape 2"/>
          <p:cNvSpPr/>
          <p:nvPr/>
        </p:nvSpPr>
        <p:spPr>
          <a:xfrm>
            <a:off x="6035040" y="1645920"/>
            <a:ext cx="1828800" cy="1828800"/>
          </a:xfrm>
          <a:prstGeom prst="ellipse">
            <a:avLst/>
          </a:prstGeom>
          <a:solidFill>
            <a:srgbClr val="071528"/>
          </a:solidFill>
          <a:ln/>
        </p:spPr>
      </p:sp>
      <p:pic>
        <p:nvPicPr>
          <p:cNvPr id="5" name="Image 0" descr="preencoded.png"/>
          <p:cNvPicPr>
            <a:picLocks noChangeAspect="1"/>
          </p:cNvPicPr>
          <p:nvPr/>
        </p:nvPicPr>
        <p:blipFill>
          <a:blip r:embed="rId3"/>
          <a:stretch>
            <a:fillRect/>
          </a:stretch>
        </p:blipFill>
        <p:spPr>
          <a:xfrm>
            <a:off x="6446520" y="2057400"/>
            <a:ext cx="1005840" cy="1005840"/>
          </a:xfrm>
          <a:prstGeom prst="rect">
            <a:avLst/>
          </a:prstGeom>
        </p:spPr>
      </p:pic>
      <p:sp>
        <p:nvSpPr>
          <p:cNvPr id="6" name="Text 3"/>
          <p:cNvSpPr txBox="1"/>
          <p:nvPr/>
        </p:nvSpPr>
        <p:spPr>
          <a:xfrm>
            <a:off x="548640" y="1371600"/>
            <a:ext cx="4572000" cy="914400"/>
          </a:xfrm>
          <a:prstGeom prst="rect">
            <a:avLst/>
          </a:prstGeom>
          <a:noFill/>
          <a:ln/>
        </p:spPr>
        <p:txBody>
          <a:bodyPr wrap="square" lIns="0" tIns="0" rIns="0" bIns="0" rtlCol="0" anchor="ctr"/>
          <a:lstStyle/>
          <a:p>
            <a:pPr marL="0" indent="0">
              <a:buNone/>
            </a:pPr>
            <a:r>
              <a:rPr lang="en-US" sz="5400" b="1" dirty="0">
                <a:solidFill>
                  <a:srgbClr val="FFFFFF"/>
                </a:solidFill>
                <a:latin typeface="Calibri" pitchFamily="34" charset="0"/>
                <a:ea typeface="Calibri" pitchFamily="34" charset="-122"/>
                <a:cs typeface="Calibri" pitchFamily="34" charset="-120"/>
              </a:rPr>
              <a:t>Thank You</a:t>
            </a:r>
            <a:endParaRPr lang="en-US" sz="5400" dirty="0"/>
          </a:p>
        </p:txBody>
      </p:sp>
      <p:sp>
        <p:nvSpPr>
          <p:cNvPr id="7" name="Text 4"/>
          <p:cNvSpPr txBox="1"/>
          <p:nvPr/>
        </p:nvSpPr>
        <p:spPr>
          <a:xfrm>
            <a:off x="548640" y="2377440"/>
            <a:ext cx="4572000" cy="548640"/>
          </a:xfrm>
          <a:prstGeom prst="rect">
            <a:avLst/>
          </a:prstGeom>
          <a:noFill/>
          <a:ln/>
        </p:spPr>
        <p:txBody>
          <a:bodyPr wrap="square" lIns="0" tIns="0" rIns="0" bIns="0" rtlCol="0" anchor="ctr"/>
          <a:lstStyle/>
          <a:p>
            <a:pPr marL="0" indent="0">
              <a:buNone/>
            </a:pPr>
            <a:r>
              <a:rPr lang="en-US" sz="2600" dirty="0">
                <a:solidFill>
                  <a:srgbClr val="22D3EE"/>
                </a:solidFill>
                <a:latin typeface="Calibri" pitchFamily="34" charset="0"/>
                <a:ea typeface="Calibri" pitchFamily="34" charset="-122"/>
                <a:cs typeface="Calibri" pitchFamily="34" charset="-120"/>
              </a:rPr>
              <a:t>Any Questions?</a:t>
            </a:r>
            <a:endParaRPr lang="en-US" sz="2600" dirty="0"/>
          </a:p>
        </p:txBody>
      </p:sp>
      <p:sp>
        <p:nvSpPr>
          <p:cNvPr id="8" name="Text 5"/>
          <p:cNvSpPr txBox="1"/>
          <p:nvPr/>
        </p:nvSpPr>
        <p:spPr>
          <a:xfrm>
            <a:off x="548640" y="3291840"/>
            <a:ext cx="4572000" cy="457200"/>
          </a:xfrm>
          <a:prstGeom prst="rect">
            <a:avLst/>
          </a:prstGeom>
          <a:noFill/>
          <a:ln/>
        </p:spPr>
        <p:txBody>
          <a:bodyPr wrap="square" lIns="0" tIns="0" rIns="0" bIns="0" rtlCol="0" anchor="t"/>
          <a:lstStyle/>
          <a:p>
            <a:pPr marL="0" indent="0">
              <a:buNone/>
            </a:pPr>
            <a:r>
              <a:rPr lang="en-US" sz="1200" dirty="0">
                <a:solidFill>
                  <a:srgbClr val="9FB8D6"/>
                </a:solidFill>
                <a:latin typeface="Calibri" pitchFamily="34" charset="0"/>
                <a:ea typeface="Calibri" pitchFamily="34" charset="-122"/>
                <a:cs typeface="Calibri" pitchFamily="34" charset="-120"/>
              </a:rPr>
              <a:t>Smart Fuel Pump Management System  |  Java OOP &amp; Swing GUI Project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3026</Words>
  <Application>Microsoft Office PowerPoint</Application>
  <PresentationFormat>On-screen Show (16:9)</PresentationFormat>
  <Paragraphs>451</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Fuel Pump Management System</dc:title>
  <dc:subject>PptxGenJS Presentation</dc:subject>
  <dc:creator>CSE Project Team</dc:creator>
  <cp:lastModifiedBy>User</cp:lastModifiedBy>
  <cp:revision>2</cp:revision>
  <dcterms:created xsi:type="dcterms:W3CDTF">2026-09-19T15:58:30Z</dcterms:created>
  <dcterms:modified xsi:type="dcterms:W3CDTF">2026-10-16T18:03:27Z</dcterms:modified>
</cp:coreProperties>
</file>